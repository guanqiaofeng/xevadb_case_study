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6559213" cy="7019925"/>
  <p:notesSz cx="6858000" cy="9144000"/>
  <p:embeddedFontLst>
    <p:embeddedFont>
      <p:font typeface="Play" pitchFamily="2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" roundtripDataSignature="AMtx7mi553m8NdOJu3RJVRvvSDH2Dnf3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168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209550" y="1143000"/>
            <a:ext cx="72771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09550" y="1143000"/>
            <a:ext cx="72771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2. Systematic evaluation of NeST-VNN model generalizability and performance.</a:t>
            </a:r>
            <a:r>
              <a:rPr lang="en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CA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r>
              <a:rPr lang="en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Case study workflow. </a:t>
            </a:r>
            <a:r>
              <a:rPr lang="en-CA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r>
              <a:rPr lang="en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Oncoplot illustrating the mutational landscape of the University Health Network (UHN) carboplatin and McGill cisplatin datasets. </a:t>
            </a:r>
            <a:r>
              <a:rPr lang="en-CA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r>
              <a:rPr lang="en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Distribution of drug responses across both cohorts based on modified Response Evaluation Criteria in Solid Tumors (mRECIST). CR, complete response; PR, partial response; SD, stable disease; PD, progressive disease. </a:t>
            </a:r>
            <a:r>
              <a:rPr lang="en-CA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r>
              <a:rPr lang="en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Density comparison of 718 NeST-VNN features between datasets. Statistical significance was determined using a two-sided Mann–Whitney U test. **** p &lt; 0.0001; *** p &lt; 0.001; ** p &lt; 0.01; * p &lt; 0.05; ns, not significant. </a:t>
            </a:r>
            <a:r>
              <a:rPr lang="en-CA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Model transferability. Bar plot summarizing the mean Area Under the Receiver Operating Characteristic Curve (AUC) across fivefold cross-validation, demonstrating model robustness across institutional cohorts. </a:t>
            </a:r>
            <a:r>
              <a:rPr lang="en-CA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f. </a:t>
            </a:r>
            <a:r>
              <a:rPr lang="en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NeST-VNN model performance. Receiver Operating Characteristic (ROC) curves and corresponding ensemble AUC values for the UHN carboplatin and McGill cisplatin validation sets. </a:t>
            </a: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2069902" y="1148863"/>
            <a:ext cx="12419410" cy="2443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42"/>
              <a:buFont typeface="Play"/>
              <a:buNone/>
              <a:defRPr sz="614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069902" y="3687086"/>
            <a:ext cx="12419410" cy="1694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2457"/>
              <a:buNone/>
              <a:defRPr sz="2457"/>
            </a:lvl1pPr>
            <a:lvl2pPr lvl="1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None/>
              <a:defRPr sz="2047"/>
            </a:lvl2pPr>
            <a:lvl3pPr lvl="2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None/>
              <a:defRPr sz="1842"/>
            </a:lvl3pPr>
            <a:lvl4pPr lvl="3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4pPr>
            <a:lvl5pPr lvl="4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5pPr>
            <a:lvl6pPr lvl="5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6pPr>
            <a:lvl7pPr lvl="6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7pPr>
            <a:lvl8pPr lvl="7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8pPr>
            <a:lvl9pPr lvl="8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138446" y="373747"/>
            <a:ext cx="14282321" cy="1356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138446" y="1868730"/>
            <a:ext cx="14282321" cy="4454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129821" y="1750107"/>
            <a:ext cx="14282321" cy="292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42"/>
              <a:buFont typeface="Play"/>
              <a:buNone/>
              <a:defRPr sz="614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1129821" y="4697826"/>
            <a:ext cx="14282321" cy="153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rgbClr val="757575"/>
              </a:buClr>
              <a:buSzPts val="2457"/>
              <a:buNone/>
              <a:defRPr sz="2457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2047"/>
              <a:buNone/>
              <a:defRPr sz="2047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842"/>
              <a:buNone/>
              <a:defRPr sz="1842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138446" y="373747"/>
            <a:ext cx="14282321" cy="1356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138446" y="1868730"/>
            <a:ext cx="7037666" cy="4454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8383101" y="1868730"/>
            <a:ext cx="7037666" cy="4454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140603" y="373747"/>
            <a:ext cx="14282321" cy="1356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140603" y="1720857"/>
            <a:ext cx="7005323" cy="84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2457"/>
              <a:buNone/>
              <a:defRPr sz="2457" b="1"/>
            </a:lvl1pPr>
            <a:lvl2pPr marL="914400" lvl="1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None/>
              <a:defRPr sz="2047" b="1"/>
            </a:lvl2pPr>
            <a:lvl3pPr marL="1371600" lvl="2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None/>
              <a:defRPr sz="1842" b="1"/>
            </a:lvl3pPr>
            <a:lvl4pPr marL="1828800" lvl="3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4pPr>
            <a:lvl5pPr marL="2286000" lvl="4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5pPr>
            <a:lvl6pPr marL="2743200" lvl="5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6pPr>
            <a:lvl7pPr marL="3200400" lvl="6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7pPr>
            <a:lvl8pPr marL="3657600" lvl="7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8pPr>
            <a:lvl9pPr marL="4114800" lvl="8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140603" y="2564223"/>
            <a:ext cx="7005323" cy="3771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8383102" y="1720857"/>
            <a:ext cx="7039822" cy="84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2457"/>
              <a:buNone/>
              <a:defRPr sz="2457" b="1"/>
            </a:lvl1pPr>
            <a:lvl2pPr marL="914400" lvl="1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None/>
              <a:defRPr sz="2047" b="1"/>
            </a:lvl2pPr>
            <a:lvl3pPr marL="1371600" lvl="2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None/>
              <a:defRPr sz="1842" b="1"/>
            </a:lvl3pPr>
            <a:lvl4pPr marL="1828800" lvl="3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4pPr>
            <a:lvl5pPr marL="2286000" lvl="4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5pPr>
            <a:lvl6pPr marL="2743200" lvl="5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6pPr>
            <a:lvl7pPr marL="3200400" lvl="6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7pPr>
            <a:lvl8pPr marL="3657600" lvl="7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8pPr>
            <a:lvl9pPr marL="4114800" lvl="8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8383102" y="2564223"/>
            <a:ext cx="7039822" cy="3771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138446" y="373747"/>
            <a:ext cx="14282321" cy="1356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140603" y="467995"/>
            <a:ext cx="5340777" cy="163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Play"/>
              <a:buNone/>
              <a:defRPr sz="327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7039822" y="1010740"/>
            <a:ext cx="8383102" cy="4988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6626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3276"/>
              <a:buChar char="•"/>
              <a:defRPr sz="3276"/>
            </a:lvl1pPr>
            <a:lvl2pPr marL="914400" lvl="1" indent="-410591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866"/>
              <a:buChar char="•"/>
              <a:defRPr sz="2866"/>
            </a:lvl2pPr>
            <a:lvl3pPr marL="1371600" lvl="2" indent="-38462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457"/>
              <a:buChar char="•"/>
              <a:defRPr sz="2457"/>
            </a:lvl3pPr>
            <a:lvl4pPr marL="1828800" lvl="3" indent="-358585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4pPr>
            <a:lvl5pPr marL="2286000" lvl="4" indent="-358585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5pPr>
            <a:lvl6pPr marL="2743200" lvl="5" indent="-358585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6pPr>
            <a:lvl7pPr marL="3200400" lvl="6" indent="-358585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7pPr>
            <a:lvl8pPr marL="3657600" lvl="7" indent="-358584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8pPr>
            <a:lvl9pPr marL="4114800" lvl="8" indent="-358584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140603" y="2105977"/>
            <a:ext cx="5340777" cy="3901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1pPr>
            <a:lvl2pPr marL="914400" lvl="1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433"/>
              <a:buNone/>
              <a:defRPr sz="1433"/>
            </a:lvl2pPr>
            <a:lvl3pPr marL="1371600" lvl="2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228"/>
              <a:buNone/>
              <a:defRPr sz="1228"/>
            </a:lvl3pPr>
            <a:lvl4pPr marL="1828800" lvl="3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4pPr>
            <a:lvl5pPr marL="2286000" lvl="4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5pPr>
            <a:lvl6pPr marL="2743200" lvl="5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6pPr>
            <a:lvl7pPr marL="3200400" lvl="6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7pPr>
            <a:lvl8pPr marL="3657600" lvl="7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8pPr>
            <a:lvl9pPr marL="4114800" lvl="8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1140603" y="467995"/>
            <a:ext cx="5340777" cy="163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Play"/>
              <a:buNone/>
              <a:defRPr sz="327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7039822" y="1010740"/>
            <a:ext cx="8383102" cy="498869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1140603" y="2105977"/>
            <a:ext cx="5340777" cy="3901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1pPr>
            <a:lvl2pPr marL="914400" lvl="1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433"/>
              <a:buNone/>
              <a:defRPr sz="1433"/>
            </a:lvl2pPr>
            <a:lvl3pPr marL="1371600" lvl="2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228"/>
              <a:buNone/>
              <a:defRPr sz="1228"/>
            </a:lvl3pPr>
            <a:lvl4pPr marL="1828800" lvl="3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4pPr>
            <a:lvl5pPr marL="2286000" lvl="4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5pPr>
            <a:lvl6pPr marL="2743200" lvl="5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6pPr>
            <a:lvl7pPr marL="3200400" lvl="6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7pPr>
            <a:lvl8pPr marL="3657600" lvl="7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8pPr>
            <a:lvl9pPr marL="4114800" lvl="8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138446" y="373747"/>
            <a:ext cx="14282321" cy="1356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6052567" y="-3045391"/>
            <a:ext cx="4454078" cy="14282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10660946" y="1562987"/>
            <a:ext cx="5949062" cy="357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3416291" y="-1904098"/>
            <a:ext cx="5949062" cy="10504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138446" y="373747"/>
            <a:ext cx="14282321" cy="1356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4"/>
              <a:buFont typeface="Play"/>
              <a:buNone/>
              <a:defRPr sz="4504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138446" y="1868730"/>
            <a:ext cx="14282321" cy="4454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10591" algn="l" rtl="0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2866"/>
              <a:buFont typeface="Arial"/>
              <a:buChar char="•"/>
              <a:defRPr sz="28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4620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457"/>
              <a:buFont typeface="Arial"/>
              <a:buChar char="•"/>
              <a:defRPr sz="24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8585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Font typeface="Arial"/>
              <a:buChar char="•"/>
              <a:defRPr sz="204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138446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5485240" y="6506431"/>
            <a:ext cx="5588734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1694944" y="6506431"/>
            <a:ext cx="3725823" cy="373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A70DF43B-8485-9BC8-4EEE-AF6D5E7BC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2363" y="3505200"/>
            <a:ext cx="3806850" cy="296088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DDD6D5E-32E9-FEF6-50F3-3E84AD0C2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167" y="3631667"/>
            <a:ext cx="3963117" cy="30824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8A954B-5EF9-3F63-9A81-9D62FCF20A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35500" y="108012"/>
            <a:ext cx="3557363" cy="30491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1AFA61-7F07-6EB6-B118-17D3B1E1D3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849" y="105780"/>
            <a:ext cx="3822420" cy="6363205"/>
          </a:xfrm>
          <a:prstGeom prst="rect">
            <a:avLst/>
          </a:prstGeom>
        </p:spPr>
      </p:pic>
      <p:sp>
        <p:nvSpPr>
          <p:cNvPr id="90" name="Google Shape;90;p1"/>
          <p:cNvSpPr txBox="1"/>
          <p:nvPr/>
        </p:nvSpPr>
        <p:spPr>
          <a:xfrm>
            <a:off x="3881125" y="-23199"/>
            <a:ext cx="8155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dirty="0"/>
          </a:p>
        </p:txBody>
      </p:sp>
      <p:sp>
        <p:nvSpPr>
          <p:cNvPr id="91" name="Google Shape;91;p1"/>
          <p:cNvSpPr txBox="1"/>
          <p:nvPr/>
        </p:nvSpPr>
        <p:spPr>
          <a:xfrm>
            <a:off x="8118394" y="-25400"/>
            <a:ext cx="8155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dirty="0"/>
          </a:p>
        </p:txBody>
      </p:sp>
      <p:sp>
        <p:nvSpPr>
          <p:cNvPr id="92" name="Google Shape;92;p1"/>
          <p:cNvSpPr txBox="1"/>
          <p:nvPr/>
        </p:nvSpPr>
        <p:spPr>
          <a:xfrm>
            <a:off x="30996" y="2201"/>
            <a:ext cx="8155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dirty="0"/>
          </a:p>
        </p:txBody>
      </p:sp>
      <p:sp>
        <p:nvSpPr>
          <p:cNvPr id="103" name="Google Shape;103;p1"/>
          <p:cNvSpPr txBox="1"/>
          <p:nvPr/>
        </p:nvSpPr>
        <p:spPr>
          <a:xfrm>
            <a:off x="3881125" y="3306762"/>
            <a:ext cx="81554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</a:rPr>
              <a:t>e</a:t>
            </a:r>
            <a:endParaRPr dirty="0"/>
          </a:p>
        </p:txBody>
      </p:sp>
      <p:sp>
        <p:nvSpPr>
          <p:cNvPr id="18" name="Google Shape;103;p1">
            <a:extLst>
              <a:ext uri="{FF2B5EF4-FFF2-40B4-BE49-F238E27FC236}">
                <a16:creationId xmlns:a16="http://schemas.microsoft.com/office/drawing/2014/main" id="{FB105252-947D-8561-6BE8-C96BDE2C57C4}"/>
              </a:ext>
            </a:extLst>
          </p:cNvPr>
          <p:cNvSpPr txBox="1"/>
          <p:nvPr/>
        </p:nvSpPr>
        <p:spPr>
          <a:xfrm>
            <a:off x="12642246" y="-25400"/>
            <a:ext cx="8155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dirty="0"/>
          </a:p>
        </p:txBody>
      </p:sp>
      <p:sp>
        <p:nvSpPr>
          <p:cNvPr id="29" name="Google Shape;103;p1">
            <a:extLst>
              <a:ext uri="{FF2B5EF4-FFF2-40B4-BE49-F238E27FC236}">
                <a16:creationId xmlns:a16="http://schemas.microsoft.com/office/drawing/2014/main" id="{3D7BE95F-26AD-45B7-BD14-4380DC64BAE6}"/>
              </a:ext>
            </a:extLst>
          </p:cNvPr>
          <p:cNvSpPr txBox="1"/>
          <p:nvPr/>
        </p:nvSpPr>
        <p:spPr>
          <a:xfrm>
            <a:off x="8334294" y="3325316"/>
            <a:ext cx="81554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</a:rPr>
              <a:t>f</a:t>
            </a:r>
            <a:endParaRPr dirty="0"/>
          </a:p>
        </p:txBody>
      </p:sp>
      <p:sp>
        <p:nvSpPr>
          <p:cNvPr id="30" name="Google Shape;103;p1">
            <a:extLst>
              <a:ext uri="{FF2B5EF4-FFF2-40B4-BE49-F238E27FC236}">
                <a16:creationId xmlns:a16="http://schemas.microsoft.com/office/drawing/2014/main" id="{B92F98CF-3790-39D2-D70C-11CB21C5FDE8}"/>
              </a:ext>
            </a:extLst>
          </p:cNvPr>
          <p:cNvSpPr txBox="1"/>
          <p:nvPr/>
        </p:nvSpPr>
        <p:spPr>
          <a:xfrm>
            <a:off x="12558167" y="3325316"/>
            <a:ext cx="81554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</a:rPr>
              <a:t>g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531359-6F0C-F387-C9DB-C9B5860BE8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4154" y="139700"/>
            <a:ext cx="3467100" cy="2743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61F756-AA85-3BD8-9789-F60BB8A6D7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1519" y="105781"/>
            <a:ext cx="3657600" cy="2743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4DA522B-8BF0-8473-9980-968ECA6323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56204" y="3545083"/>
            <a:ext cx="3657600" cy="292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1072</TotalTime>
  <Words>196</Words>
  <Application>Microsoft Macintosh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Play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Feng, Guanqiao</dc:creator>
  <cp:lastModifiedBy>Feng, Guanqiao</cp:lastModifiedBy>
  <cp:revision>16</cp:revision>
  <dcterms:created xsi:type="dcterms:W3CDTF">2026-03-16T14:13:34Z</dcterms:created>
  <dcterms:modified xsi:type="dcterms:W3CDTF">2026-07-23T14:03:15Z</dcterms:modified>
</cp:coreProperties>
</file>