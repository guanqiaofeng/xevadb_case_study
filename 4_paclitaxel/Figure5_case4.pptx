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679488" cy="6480175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i553m8NdOJu3RJVRvvSDH2Dnf3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6" d="100"/>
          <a:sy n="96" d="100"/>
        </p:scale>
        <p:origin x="125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71450" y="1143000"/>
            <a:ext cx="6515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" y="1143000"/>
            <a:ext cx="6515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Systematic evaluation of </a:t>
            </a:r>
            <a:r>
              <a:rPr lang="en-CA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generalizability and performance.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Oncoplot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illustrating the mutational landscape of the University Health Network (UHN) carboplatin and McGill cisplatin datasets.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mRECIST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CR, complete response; PR, partial response; SD, stable disease; PD, progressive disease.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performance. Receiver Operating Characteristic (ROC) curves and corresponding ensemble AUC values for the UHN carboplatin and McGill cisplatin validation sets.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709937" y="1060530"/>
            <a:ext cx="10259616" cy="2256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737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709937" y="3403595"/>
            <a:ext cx="10259616" cy="156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948"/>
            </a:lvl1pPr>
            <a:lvl2pPr lvl="1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456"/>
            </a:lvl2pPr>
            <a:lvl3pPr lvl="2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2210"/>
            </a:lvl3pPr>
            <a:lvl4pPr lvl="3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4pPr>
            <a:lvl5pPr lvl="4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5pPr>
            <a:lvl6pPr lvl="5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6pPr>
            <a:lvl7pPr lvl="6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7pPr>
            <a:lvl8pPr lvl="7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8pPr>
            <a:lvl9pPr lvl="8" algn="ctr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40467" y="345014"/>
            <a:ext cx="11798558" cy="125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40467" y="1725048"/>
            <a:ext cx="11798558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411446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189" lvl="1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783" lvl="2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377" lvl="3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2971" lvl="4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566" lvl="5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160" lvl="6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8754" lvl="7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349" lvl="8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933343" y="1615546"/>
            <a:ext cx="11798558" cy="269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737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933343" y="4336619"/>
            <a:ext cx="11798558" cy="141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274297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rgbClr val="757575"/>
              </a:buClr>
              <a:buSzPts val="2457"/>
              <a:buNone/>
              <a:defRPr sz="2948">
                <a:solidFill>
                  <a:srgbClr val="757575"/>
                </a:solidFill>
              </a:defRPr>
            </a:lvl1pPr>
            <a:lvl2pPr marL="1097189" lvl="1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2047"/>
              <a:buNone/>
              <a:defRPr sz="2456">
                <a:solidFill>
                  <a:srgbClr val="757575"/>
                </a:solidFill>
              </a:defRPr>
            </a:lvl2pPr>
            <a:lvl3pPr marL="1645783" lvl="2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1842"/>
              <a:buNone/>
              <a:defRPr sz="2210">
                <a:solidFill>
                  <a:srgbClr val="757575"/>
                </a:solidFill>
              </a:defRPr>
            </a:lvl3pPr>
            <a:lvl4pPr marL="2194377" lvl="3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965">
                <a:solidFill>
                  <a:srgbClr val="757575"/>
                </a:solidFill>
              </a:defRPr>
            </a:lvl4pPr>
            <a:lvl5pPr marL="2742971" lvl="4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965">
                <a:solidFill>
                  <a:srgbClr val="757575"/>
                </a:solidFill>
              </a:defRPr>
            </a:lvl5pPr>
            <a:lvl6pPr marL="3291566" lvl="5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965">
                <a:solidFill>
                  <a:srgbClr val="757575"/>
                </a:solidFill>
              </a:defRPr>
            </a:lvl6pPr>
            <a:lvl7pPr marL="3840160" lvl="6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965">
                <a:solidFill>
                  <a:srgbClr val="757575"/>
                </a:solidFill>
              </a:defRPr>
            </a:lvl7pPr>
            <a:lvl8pPr marL="4388754" lvl="7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965">
                <a:solidFill>
                  <a:srgbClr val="757575"/>
                </a:solidFill>
              </a:defRPr>
            </a:lvl8pPr>
            <a:lvl9pPr marL="4937349" lvl="8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965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40467" y="345014"/>
            <a:ext cx="11798558" cy="125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940466" y="1725048"/>
            <a:ext cx="5813783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411446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189" lvl="1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783" lvl="2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377" lvl="3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2971" lvl="4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566" lvl="5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160" lvl="6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8754" lvl="7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349" lvl="8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925240" y="1725048"/>
            <a:ext cx="5813783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411446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189" lvl="1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783" lvl="2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377" lvl="3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2971" lvl="4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566" lvl="5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160" lvl="6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8754" lvl="7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349" lvl="8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942249" y="345014"/>
            <a:ext cx="11798558" cy="125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942248" y="1588546"/>
            <a:ext cx="5787064" cy="77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548594" lvl="0" indent="-274297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948" b="1"/>
            </a:lvl1pPr>
            <a:lvl2pPr marL="1097189" lvl="1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456" b="1"/>
            </a:lvl2pPr>
            <a:lvl3pPr marL="1645783" lvl="2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2210" b="1"/>
            </a:lvl3pPr>
            <a:lvl4pPr marL="2194377" lvl="3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4pPr>
            <a:lvl5pPr marL="2742971" lvl="4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5pPr>
            <a:lvl6pPr marL="3291566" lvl="5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6pPr>
            <a:lvl7pPr marL="3840160" lvl="6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7pPr>
            <a:lvl8pPr marL="4388754" lvl="7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8pPr>
            <a:lvl9pPr marL="4937349" lvl="8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942248" y="2367068"/>
            <a:ext cx="5787064" cy="348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411446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189" lvl="1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783" lvl="2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377" lvl="3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2971" lvl="4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566" lvl="5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160" lvl="6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8754" lvl="7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349" lvl="8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925242" y="1588546"/>
            <a:ext cx="5815564" cy="77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548594" lvl="0" indent="-274297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948" b="1"/>
            </a:lvl1pPr>
            <a:lvl2pPr marL="1097189" lvl="1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456" b="1"/>
            </a:lvl2pPr>
            <a:lvl3pPr marL="1645783" lvl="2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2210" b="1"/>
            </a:lvl3pPr>
            <a:lvl4pPr marL="2194377" lvl="3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4pPr>
            <a:lvl5pPr marL="2742971" lvl="4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5pPr>
            <a:lvl6pPr marL="3291566" lvl="5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6pPr>
            <a:lvl7pPr marL="3840160" lvl="6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7pPr>
            <a:lvl8pPr marL="4388754" lvl="7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8pPr>
            <a:lvl9pPr marL="4937349" lvl="8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925242" y="2367068"/>
            <a:ext cx="5815564" cy="348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411446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189" lvl="1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783" lvl="2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377" lvl="3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2971" lvl="4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566" lvl="5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160" lvl="6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8754" lvl="7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349" lvl="8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940467" y="345014"/>
            <a:ext cx="11798558" cy="125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942247" y="432013"/>
            <a:ext cx="4411991" cy="151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93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5815565" y="933028"/>
            <a:ext cx="6925241" cy="4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523908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3276"/>
              <a:buChar char="•"/>
              <a:defRPr sz="3931"/>
            </a:lvl1pPr>
            <a:lvl2pPr marL="1097189" lvl="1" indent="-492668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866"/>
              <a:buChar char="•"/>
              <a:defRPr sz="3439"/>
            </a:lvl2pPr>
            <a:lvl3pPr marL="1645783" lvl="2" indent="-46150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457"/>
              <a:buChar char="•"/>
              <a:defRPr sz="2948"/>
            </a:lvl3pPr>
            <a:lvl4pPr marL="2194377" lvl="3" indent="-43026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456"/>
            </a:lvl4pPr>
            <a:lvl5pPr marL="2742971" lvl="4" indent="-43026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456"/>
            </a:lvl5pPr>
            <a:lvl6pPr marL="3291566" lvl="5" indent="-43026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456"/>
            </a:lvl6pPr>
            <a:lvl7pPr marL="3840160" lvl="6" indent="-43026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456"/>
            </a:lvl7pPr>
            <a:lvl8pPr marL="4388754" lvl="7" indent="-430265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456"/>
            </a:lvl8pPr>
            <a:lvl9pPr marL="4937349" lvl="8" indent="-430265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456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942247" y="1944056"/>
            <a:ext cx="4411991" cy="3601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274297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1pPr>
            <a:lvl2pPr marL="1097189" lvl="1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719"/>
            </a:lvl2pPr>
            <a:lvl3pPr marL="1645783" lvl="2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473"/>
            </a:lvl3pPr>
            <a:lvl4pPr marL="2194377" lvl="3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4pPr>
            <a:lvl5pPr marL="2742971" lvl="4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5pPr>
            <a:lvl6pPr marL="3291566" lvl="5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6pPr>
            <a:lvl7pPr marL="3840160" lvl="6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7pPr>
            <a:lvl8pPr marL="4388754" lvl="7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8pPr>
            <a:lvl9pPr marL="4937349" lvl="8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942247" y="432013"/>
            <a:ext cx="4411991" cy="151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93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815565" y="933028"/>
            <a:ext cx="6925241" cy="46051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942247" y="1944056"/>
            <a:ext cx="4411991" cy="3601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274297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965"/>
            </a:lvl1pPr>
            <a:lvl2pPr marL="1097189" lvl="1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719"/>
            </a:lvl2pPr>
            <a:lvl3pPr marL="1645783" lvl="2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473"/>
            </a:lvl3pPr>
            <a:lvl4pPr marL="2194377" lvl="3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4pPr>
            <a:lvl5pPr marL="2742971" lvl="4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5pPr>
            <a:lvl6pPr marL="3291566" lvl="5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6pPr>
            <a:lvl7pPr marL="3840160" lvl="6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7pPr>
            <a:lvl8pPr marL="4388754" lvl="7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8pPr>
            <a:lvl9pPr marL="4937349" lvl="8" indent="-274297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229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940467" y="345014"/>
            <a:ext cx="11798558" cy="125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4783938" y="-2118424"/>
            <a:ext cx="4111612" cy="117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411446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189" lvl="1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783" lvl="2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377" lvl="3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2971" lvl="4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566" lvl="5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160" lvl="6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8754" lvl="7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349" lvl="8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18381" y="1616014"/>
            <a:ext cx="5491649" cy="29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2533605" y="-1248128"/>
            <a:ext cx="5491649" cy="867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594" lvl="0" indent="-411446" algn="l">
              <a:lnSpc>
                <a:spcPct val="90000"/>
              </a:lnSpc>
              <a:spcBef>
                <a:spcPts val="12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189" lvl="1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783" lvl="2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377" lvl="3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2971" lvl="4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566" lvl="5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160" lvl="6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8754" lvl="7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349" lvl="8" indent="-411446" algn="l">
              <a:lnSpc>
                <a:spcPct val="90000"/>
              </a:lnSpc>
              <a:spcBef>
                <a:spcPts val="6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940467" y="345014"/>
            <a:ext cx="11798558" cy="125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4"/>
              <a:buFont typeface="Play"/>
              <a:buNone/>
              <a:defRPr sz="450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940467" y="1725048"/>
            <a:ext cx="11798558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0591" algn="l" rtl="0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866"/>
              <a:buFont typeface="Arial"/>
              <a:buChar char="•"/>
              <a:defRPr sz="28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4620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Font typeface="Arial"/>
              <a:buChar char="•"/>
              <a:defRPr sz="24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8585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Font typeface="Arial"/>
              <a:buChar char="•"/>
              <a:defRPr sz="204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940466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531331" y="6006165"/>
            <a:ext cx="4616826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9661140" y="6006165"/>
            <a:ext cx="307788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473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408E8791-1D9E-933B-45D4-073439EDF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38" y="71263"/>
            <a:ext cx="3785007" cy="6300923"/>
          </a:xfrm>
          <a:prstGeom prst="rect">
            <a:avLst/>
          </a:prstGeom>
        </p:spPr>
      </p:pic>
      <p:sp>
        <p:nvSpPr>
          <p:cNvPr id="42" name="Google Shape;90;p1">
            <a:extLst>
              <a:ext uri="{FF2B5EF4-FFF2-40B4-BE49-F238E27FC236}">
                <a16:creationId xmlns:a16="http://schemas.microsoft.com/office/drawing/2014/main" id="{106F5841-A894-C1FA-323C-F3DB12FD8C13}"/>
              </a:ext>
            </a:extLst>
          </p:cNvPr>
          <p:cNvSpPr txBox="1"/>
          <p:nvPr/>
        </p:nvSpPr>
        <p:spPr>
          <a:xfrm>
            <a:off x="3905085" y="2201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sp>
        <p:nvSpPr>
          <p:cNvPr id="43" name="Google Shape;92;p1">
            <a:extLst>
              <a:ext uri="{FF2B5EF4-FFF2-40B4-BE49-F238E27FC236}">
                <a16:creationId xmlns:a16="http://schemas.microsoft.com/office/drawing/2014/main" id="{E6974FDC-9A5D-B262-01CC-2AD4FFB561A4}"/>
              </a:ext>
            </a:extLst>
          </p:cNvPr>
          <p:cNvSpPr txBox="1"/>
          <p:nvPr/>
        </p:nvSpPr>
        <p:spPr>
          <a:xfrm>
            <a:off x="-35264" y="2201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40996F5-8592-D589-F474-8ADC137BA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765" y="71264"/>
            <a:ext cx="3411737" cy="250026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3DF5717-E5AA-2FF4-8978-C0F0638B17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257"/>
          <a:stretch>
            <a:fillRect/>
          </a:stretch>
        </p:blipFill>
        <p:spPr>
          <a:xfrm>
            <a:off x="4147186" y="71264"/>
            <a:ext cx="5843568" cy="2130163"/>
          </a:xfrm>
          <a:prstGeom prst="rect">
            <a:avLst/>
          </a:prstGeom>
        </p:spPr>
      </p:pic>
      <p:sp>
        <p:nvSpPr>
          <p:cNvPr id="46" name="Google Shape;91;p1">
            <a:extLst>
              <a:ext uri="{FF2B5EF4-FFF2-40B4-BE49-F238E27FC236}">
                <a16:creationId xmlns:a16="http://schemas.microsoft.com/office/drawing/2014/main" id="{5B4E6A1E-ED9F-1F7B-4D79-8F7B578FC13D}"/>
              </a:ext>
            </a:extLst>
          </p:cNvPr>
          <p:cNvSpPr txBox="1"/>
          <p:nvPr/>
        </p:nvSpPr>
        <p:spPr>
          <a:xfrm>
            <a:off x="10010867" y="2201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d</a:t>
            </a:r>
            <a:endParaRPr dirty="0"/>
          </a:p>
        </p:txBody>
      </p:sp>
      <p:sp>
        <p:nvSpPr>
          <p:cNvPr id="47" name="Google Shape;91;p1">
            <a:extLst>
              <a:ext uri="{FF2B5EF4-FFF2-40B4-BE49-F238E27FC236}">
                <a16:creationId xmlns:a16="http://schemas.microsoft.com/office/drawing/2014/main" id="{6798A099-F8BD-8EAE-ADCE-8B0785DC6D94}"/>
              </a:ext>
            </a:extLst>
          </p:cNvPr>
          <p:cNvSpPr txBox="1"/>
          <p:nvPr/>
        </p:nvSpPr>
        <p:spPr>
          <a:xfrm>
            <a:off x="6947919" y="0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48" name="Google Shape;91;p1">
            <a:extLst>
              <a:ext uri="{FF2B5EF4-FFF2-40B4-BE49-F238E27FC236}">
                <a16:creationId xmlns:a16="http://schemas.microsoft.com/office/drawing/2014/main" id="{FBFD672A-2D8C-9274-60B5-FED9A27ADCEB}"/>
              </a:ext>
            </a:extLst>
          </p:cNvPr>
          <p:cNvSpPr txBox="1"/>
          <p:nvPr/>
        </p:nvSpPr>
        <p:spPr>
          <a:xfrm>
            <a:off x="3825573" y="2558972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e</a:t>
            </a:r>
            <a:endParaRPr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9DDC83E-5074-6153-8B05-B1EEC4050D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852"/>
          <a:stretch>
            <a:fillRect/>
          </a:stretch>
        </p:blipFill>
        <p:spPr>
          <a:xfrm>
            <a:off x="4233346" y="2640596"/>
            <a:ext cx="8889174" cy="3839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4521</TotalTime>
  <Words>194</Words>
  <Application>Microsoft Macintosh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16</cp:revision>
  <dcterms:created xsi:type="dcterms:W3CDTF">2026-03-16T14:13:34Z</dcterms:created>
  <dcterms:modified xsi:type="dcterms:W3CDTF">2026-07-29T18:50:09Z</dcterms:modified>
</cp:coreProperties>
</file>