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letter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553m8NdOJu3RJVRvvSDH2Dnf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7"/>
    <p:restoredTop sz="94601"/>
  </p:normalViewPr>
  <p:slideViewPr>
    <p:cSldViewPr snapToGrid="0">
      <p:cViewPr>
        <p:scale>
          <a:sx n="165" d="100"/>
          <a:sy n="165" d="100"/>
        </p:scale>
        <p:origin x="204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857251" y="1496486"/>
            <a:ext cx="5143500" cy="318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36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857251" y="4802722"/>
            <a:ext cx="5143500" cy="220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478"/>
            </a:lvl1pPr>
            <a:lvl2pPr lvl="1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231"/>
            </a:lvl2pPr>
            <a:lvl3pPr lvl="2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108"/>
            </a:lvl3pPr>
            <a:lvl4pPr lvl="3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4pPr>
            <a:lvl5pPr lvl="4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5pPr>
            <a:lvl6pPr lvl="5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6pPr>
            <a:lvl7pPr lvl="6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7pPr>
            <a:lvl8pPr lvl="7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8pPr>
            <a:lvl9pPr lvl="8" algn="ctr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71489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71489" y="2434169"/>
            <a:ext cx="5915025" cy="58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67917" y="2279654"/>
            <a:ext cx="5915025" cy="38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36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67917" y="6119287"/>
            <a:ext cx="5915025" cy="200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13750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1478">
                <a:solidFill>
                  <a:srgbClr val="757575"/>
                </a:solidFill>
              </a:defRPr>
            </a:lvl1pPr>
            <a:lvl2pPr marL="550021" lvl="1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1231">
                <a:solidFill>
                  <a:srgbClr val="757575"/>
                </a:solidFill>
              </a:defRPr>
            </a:lvl2pPr>
            <a:lvl3pPr marL="825031" lvl="2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108">
                <a:solidFill>
                  <a:srgbClr val="757575"/>
                </a:solidFill>
              </a:defRPr>
            </a:lvl3pPr>
            <a:lvl4pPr marL="1100041" lvl="3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4pPr>
            <a:lvl5pPr marL="1375051" lvl="4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5pPr>
            <a:lvl6pPr marL="1650062" lvl="5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6pPr>
            <a:lvl7pPr marL="1925072" lvl="6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7pPr>
            <a:lvl8pPr marL="2200082" lvl="7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8pPr>
            <a:lvl9pPr marL="2475093" lvl="8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985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71489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71489" y="2434169"/>
            <a:ext cx="2914650" cy="58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471863" y="2434169"/>
            <a:ext cx="2914650" cy="58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72382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72382" y="2241554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75010" lvl="0" indent="-13750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478" b="1"/>
            </a:lvl1pPr>
            <a:lvl2pPr marL="550021" lvl="1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231" b="1"/>
            </a:lvl2pPr>
            <a:lvl3pPr marL="825031" lvl="2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108" b="1"/>
            </a:lvl3pPr>
            <a:lvl4pPr marL="1100041" lvl="3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4pPr>
            <a:lvl5pPr marL="1375051" lvl="4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5pPr>
            <a:lvl6pPr marL="1650062" lvl="5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6pPr>
            <a:lvl7pPr marL="1925072" lvl="6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7pPr>
            <a:lvl8pPr marL="2200082" lvl="7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8pPr>
            <a:lvl9pPr marL="2475093" lvl="8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72382" y="3340106"/>
            <a:ext cx="2901255" cy="491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471863" y="2241554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275010" lvl="0" indent="-13750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478" b="1"/>
            </a:lvl1pPr>
            <a:lvl2pPr marL="550021" lvl="1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231" b="1"/>
            </a:lvl2pPr>
            <a:lvl3pPr marL="825031" lvl="2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108" b="1"/>
            </a:lvl3pPr>
            <a:lvl4pPr marL="1100041" lvl="3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4pPr>
            <a:lvl5pPr marL="1375051" lvl="4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5pPr>
            <a:lvl6pPr marL="1650062" lvl="5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6pPr>
            <a:lvl7pPr marL="1925072" lvl="6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7pPr>
            <a:lvl8pPr marL="2200082" lvl="7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8pPr>
            <a:lvl9pPr marL="2475093" lvl="8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471863" y="3340106"/>
            <a:ext cx="2915543" cy="491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71489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72381" y="609603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197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915544" y="1316571"/>
            <a:ext cx="3471863" cy="649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6263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1971"/>
            </a:lvl1pPr>
            <a:lvl2pPr marL="550021" lvl="1" indent="-246974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1724"/>
            </a:lvl2pPr>
            <a:lvl3pPr marL="825031" lvl="2" indent="-231353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1478"/>
            </a:lvl3pPr>
            <a:lvl4pPr marL="1100041" lvl="3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4pPr>
            <a:lvl5pPr marL="1375051" lvl="4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5pPr>
            <a:lvl6pPr marL="1650062" lvl="5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6pPr>
            <a:lvl7pPr marL="1925072" lvl="6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7pPr>
            <a:lvl8pPr marL="2200082" lvl="7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8pPr>
            <a:lvl9pPr marL="2475093" lvl="8" indent="-215692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231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72381" y="2743206"/>
            <a:ext cx="2211884" cy="508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13750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1pPr>
            <a:lvl2pPr marL="550021" lvl="1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862"/>
            </a:lvl2pPr>
            <a:lvl3pPr marL="825031" lvl="2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738"/>
            </a:lvl3pPr>
            <a:lvl4pPr marL="1100041" lvl="3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4pPr>
            <a:lvl5pPr marL="1375051" lvl="4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5pPr>
            <a:lvl6pPr marL="1650062" lvl="5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6pPr>
            <a:lvl7pPr marL="1925072" lvl="6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7pPr>
            <a:lvl8pPr marL="2200082" lvl="7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8pPr>
            <a:lvl9pPr marL="2475093" lvl="8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72381" y="609603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197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2915544" y="1316571"/>
            <a:ext cx="3471863" cy="649816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72381" y="2743206"/>
            <a:ext cx="2211884" cy="508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137505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985"/>
            </a:lvl1pPr>
            <a:lvl2pPr marL="550021" lvl="1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862"/>
            </a:lvl2pPr>
            <a:lvl3pPr marL="825031" lvl="2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738"/>
            </a:lvl3pPr>
            <a:lvl4pPr marL="1100041" lvl="3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4pPr>
            <a:lvl5pPr marL="1375051" lvl="4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5pPr>
            <a:lvl6pPr marL="1650062" lvl="5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6pPr>
            <a:lvl7pPr marL="1925072" lvl="6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7pPr>
            <a:lvl8pPr marL="2200082" lvl="7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8pPr>
            <a:lvl9pPr marL="2475093" lvl="8" indent="-137505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616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71489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28108" y="2377550"/>
            <a:ext cx="5801785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772577" y="3622014"/>
            <a:ext cx="7749118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1227798" y="2186122"/>
            <a:ext cx="7749118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5010" lvl="0" indent="-206258" algn="l">
              <a:lnSpc>
                <a:spcPct val="90000"/>
              </a:lnSpc>
              <a:spcBef>
                <a:spcPts val="61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550021" lvl="1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825031" lvl="2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100041" lvl="3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375051" lvl="4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650062" lvl="5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925072" lvl="6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200082" lvl="7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475093" lvl="8" indent="-206258" algn="l">
              <a:lnSpc>
                <a:spcPct val="9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71489" y="486840"/>
            <a:ext cx="5915025" cy="176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71489" y="2434169"/>
            <a:ext cx="5915025" cy="58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71488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271713" y="8475138"/>
            <a:ext cx="2314574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8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843464" y="8475138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3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4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B2031751-96DE-08A9-9F5C-538098D6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466" y="26691"/>
            <a:ext cx="2331534" cy="202952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D578DDA-BCD5-2AB7-027F-524E12B86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565" y="2237204"/>
            <a:ext cx="3899563" cy="22991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C5099E-6400-812B-888E-60F57888AD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34"/>
          <a:stretch>
            <a:fillRect/>
          </a:stretch>
        </p:blipFill>
        <p:spPr>
          <a:xfrm>
            <a:off x="14731" y="71263"/>
            <a:ext cx="2384866" cy="4184969"/>
          </a:xfrm>
          <a:prstGeom prst="rect">
            <a:avLst/>
          </a:prstGeom>
        </p:spPr>
      </p:pic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2B07435F-59F1-BDCA-69B0-DB8CCA47DE9F}"/>
              </a:ext>
            </a:extLst>
          </p:cNvPr>
          <p:cNvSpPr txBox="1"/>
          <p:nvPr/>
        </p:nvSpPr>
        <p:spPr>
          <a:xfrm>
            <a:off x="-35264" y="220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31" name="Google Shape;91;p1">
            <a:extLst>
              <a:ext uri="{FF2B5EF4-FFF2-40B4-BE49-F238E27FC236}">
                <a16:creationId xmlns:a16="http://schemas.microsoft.com/office/drawing/2014/main" id="{5505695E-F5AE-9D8A-F41C-1179427E81A1}"/>
              </a:ext>
            </a:extLst>
          </p:cNvPr>
          <p:cNvSpPr txBox="1"/>
          <p:nvPr/>
        </p:nvSpPr>
        <p:spPr>
          <a:xfrm>
            <a:off x="4330154" y="-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6" name="Google Shape;91;p1">
            <a:extLst>
              <a:ext uri="{FF2B5EF4-FFF2-40B4-BE49-F238E27FC236}">
                <a16:creationId xmlns:a16="http://schemas.microsoft.com/office/drawing/2014/main" id="{F2DAA45E-F8B3-3AAD-23A5-1A2523806084}"/>
              </a:ext>
            </a:extLst>
          </p:cNvPr>
          <p:cNvSpPr txBox="1"/>
          <p:nvPr/>
        </p:nvSpPr>
        <p:spPr>
          <a:xfrm>
            <a:off x="2184020" y="2098724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403F0BB-4362-4CA8-46E7-AA1ADD556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254" y="106800"/>
            <a:ext cx="1955932" cy="1949412"/>
          </a:xfrm>
          <a:prstGeom prst="rect">
            <a:avLst/>
          </a:prstGeom>
        </p:spPr>
      </p:pic>
      <p:sp>
        <p:nvSpPr>
          <p:cNvPr id="4" name="Google Shape;90;p1">
            <a:extLst>
              <a:ext uri="{FF2B5EF4-FFF2-40B4-BE49-F238E27FC236}">
                <a16:creationId xmlns:a16="http://schemas.microsoft.com/office/drawing/2014/main" id="{47019256-A2AB-9B69-9C12-F4B377E90B6C}"/>
              </a:ext>
            </a:extLst>
          </p:cNvPr>
          <p:cNvSpPr txBox="1"/>
          <p:nvPr/>
        </p:nvSpPr>
        <p:spPr>
          <a:xfrm>
            <a:off x="2184020" y="0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F30618-51C9-1374-E709-89A28609F835}"/>
              </a:ext>
            </a:extLst>
          </p:cNvPr>
          <p:cNvSpPr txBox="1"/>
          <p:nvPr/>
        </p:nvSpPr>
        <p:spPr>
          <a:xfrm>
            <a:off x="14731" y="4641742"/>
            <a:ext cx="6843269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5</a:t>
            </a:r>
            <a:r>
              <a:rPr lang="en-CA" sz="1050" dirty="0"/>
              <a:t>. </a:t>
            </a:r>
            <a:r>
              <a:rPr lang="en-CA" sz="1050" dirty="0" err="1"/>
              <a:t>XevaDB</a:t>
            </a:r>
            <a:r>
              <a:rPr lang="en-CA" sz="1050" dirty="0"/>
              <a:t>-based multi-omics prediction of paclitaxel response in breast cancer PDX models.</a:t>
            </a:r>
          </a:p>
          <a:p>
            <a:r>
              <a:rPr lang="en-CA" sz="1050" dirty="0"/>
              <a:t>(a) Case study four workflow: drug-sensitivity metrics and RNA-seq/CNV/mutation profiles for the UHN breast paclitaxel cohort are extracted from </a:t>
            </a:r>
            <a:r>
              <a:rPr lang="en-CA" sz="1050" dirty="0" err="1"/>
              <a:t>XevaDB</a:t>
            </a:r>
            <a:r>
              <a:rPr lang="en-CA" sz="1050" dirty="0"/>
              <a:t> and assembled into single-omics, early-fusion, and late-fusion modeling datasets, evaluated by cross-validation. (b) Cross-validation AUROC of the random forest classifier across single-omics (RNA-only, CNV-only, mutation-only) and multi-omics (early fusion, late fusion) feature sets; boxes show median/IQR and whiskers across repeated CV folds, diamonds mark the mean, dashed line marks chance (AUROC = 0.5). (c) Pre-ranked GSEA of the full RNA transcriptome against </a:t>
            </a:r>
            <a:r>
              <a:rPr lang="en-CA" sz="1050" dirty="0" err="1"/>
              <a:t>MSigDB</a:t>
            </a:r>
            <a:r>
              <a:rPr lang="en-CA" sz="1050" dirty="0"/>
              <a:t> Hallmark gene sets; top 6 significant pathways per direction shown (FDR q &lt; 0.05). Positive NES: enriched in Sensitive models; negative NES: enriched in Resistant models. (d) Cross-cohort comparison of transcriptomic programmes associated with paclitaxel response in UHN PDXs (n=67) and pathological complete response (</a:t>
            </a:r>
            <a:r>
              <a:rPr lang="en-CA" sz="1050" dirty="0" err="1"/>
              <a:t>pCR</a:t>
            </a:r>
            <a:r>
              <a:rPr lang="en-CA" sz="1050" dirty="0"/>
              <a:t>) in the I-SPY2 paclitaxel control arm (n=179 patients). Triangles, PDX normalized enrichment scores (NES) for </a:t>
            </a:r>
            <a:r>
              <a:rPr lang="en-CA" sz="1050" dirty="0" err="1"/>
              <a:t>MSigDB</a:t>
            </a:r>
            <a:r>
              <a:rPr lang="en-CA" sz="1050" dirty="0"/>
              <a:t> Hallmark pathways; circles, patient odds ratios (OR) for </a:t>
            </a:r>
            <a:r>
              <a:rPr lang="en-CA" sz="1050" dirty="0" err="1"/>
              <a:t>pCR</a:t>
            </a:r>
            <a:r>
              <a:rPr lang="en-CA" sz="1050" dirty="0"/>
              <a:t> per one-standard-deviation (1SD) increase in the corresponding predefined I-SPY2 signature, with 95% confidence intervals (refit from patient-level I-SPY2 data; see Methods). Markers are colored by their own direction of association (blue, Resistant; red, Sensitive), so a row is concordant when both markers share a color and discordant when they differ. Positive PDX NES indicates enrichment in sensitive PDXs, whereas patient OR values above 1 indicate higher odds of </a:t>
            </a:r>
            <a:r>
              <a:rPr lang="en-CA" sz="1050" dirty="0" err="1"/>
              <a:t>pCR</a:t>
            </a:r>
            <a:r>
              <a:rPr lang="en-CA" sz="1050" dirty="0"/>
              <a:t>. "Proliferation" reflects the median NES across five Hallmark gene sets significantly enriched in sensitive PDXs (E2F Targets, G2-M Checkpoint, Mitotic Spindle, </a:t>
            </a:r>
            <a:r>
              <a:rPr lang="en-CA" sz="1050" dirty="0" err="1"/>
              <a:t>Myc</a:t>
            </a:r>
            <a:r>
              <a:rPr lang="en-CA" sz="1050" dirty="0"/>
              <a:t> Targets V1, </a:t>
            </a:r>
            <a:r>
              <a:rPr lang="en-CA" sz="1050" dirty="0" err="1"/>
              <a:t>Myc</a:t>
            </a:r>
            <a:r>
              <a:rPr lang="en-CA" sz="1050" dirty="0"/>
              <a:t> Targets V2). Percentages indicate gene overlap between each I-SPY2 signature and its corresponding Hallmark gene set. Not all pathways shown in (c) are evaluated here: mTORC1 Signaling, Allograft Rejection, IL-6/JAK/STAT3 Signaling and Inflammatory Response lacked an I-SPY2 signature with adequate gene-level overlap and are not shown.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10094</TotalTime>
  <Words>590</Words>
  <Application>Microsoft Macintosh PowerPoint</Application>
  <PresentationFormat>Letter Paper (8.5x11 in)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36</cp:revision>
  <dcterms:created xsi:type="dcterms:W3CDTF">2026-03-16T14:13:34Z</dcterms:created>
  <dcterms:modified xsi:type="dcterms:W3CDTF">2026-09-04T19:57:53Z</dcterms:modified>
</cp:coreProperties>
</file>