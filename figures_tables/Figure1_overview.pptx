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2" r:id="rId1"/>
  </p:sldMasterIdLst>
  <p:notesMasterIdLst>
    <p:notesMasterId r:id="rId4"/>
  </p:notesMasterIdLst>
  <p:sldIdLst>
    <p:sldId id="256" r:id="rId2"/>
    <p:sldId id="257" r:id="rId3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07"/>
    <p:restoredTop sz="96831"/>
  </p:normalViewPr>
  <p:slideViewPr>
    <p:cSldViewPr snapToGrid="0">
      <p:cViewPr>
        <p:scale>
          <a:sx n="158" d="100"/>
          <a:sy n="158" d="100"/>
        </p:scale>
        <p:origin x="257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D413B5-0B87-F94B-BE91-80666EE91F3B}" type="datetimeFigureOut">
              <a:rPr lang="en-US" smtClean="0"/>
              <a:t>9/2/26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9E0F12-3282-BC4F-91CD-054CAEACF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953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77388" rtl="0" eaLnBrk="1" latinLnBrk="0" hangingPunct="1">
      <a:defRPr sz="889" kern="1200">
        <a:solidFill>
          <a:schemeClr val="tx1"/>
        </a:solidFill>
        <a:latin typeface="+mn-lt"/>
        <a:ea typeface="+mn-ea"/>
        <a:cs typeface="+mn-cs"/>
      </a:defRPr>
    </a:lvl1pPr>
    <a:lvl2pPr marL="338694" algn="l" defTabSz="677388" rtl="0" eaLnBrk="1" latinLnBrk="0" hangingPunct="1">
      <a:defRPr sz="889" kern="1200">
        <a:solidFill>
          <a:schemeClr val="tx1"/>
        </a:solidFill>
        <a:latin typeface="+mn-lt"/>
        <a:ea typeface="+mn-ea"/>
        <a:cs typeface="+mn-cs"/>
      </a:defRPr>
    </a:lvl2pPr>
    <a:lvl3pPr marL="677388" algn="l" defTabSz="677388" rtl="0" eaLnBrk="1" latinLnBrk="0" hangingPunct="1">
      <a:defRPr sz="889" kern="1200">
        <a:solidFill>
          <a:schemeClr val="tx1"/>
        </a:solidFill>
        <a:latin typeface="+mn-lt"/>
        <a:ea typeface="+mn-ea"/>
        <a:cs typeface="+mn-cs"/>
      </a:defRPr>
    </a:lvl3pPr>
    <a:lvl4pPr marL="1016081" algn="l" defTabSz="677388" rtl="0" eaLnBrk="1" latinLnBrk="0" hangingPunct="1">
      <a:defRPr sz="889" kern="1200">
        <a:solidFill>
          <a:schemeClr val="tx1"/>
        </a:solidFill>
        <a:latin typeface="+mn-lt"/>
        <a:ea typeface="+mn-ea"/>
        <a:cs typeface="+mn-cs"/>
      </a:defRPr>
    </a:lvl4pPr>
    <a:lvl5pPr marL="1354775" algn="l" defTabSz="677388" rtl="0" eaLnBrk="1" latinLnBrk="0" hangingPunct="1">
      <a:defRPr sz="889" kern="1200">
        <a:solidFill>
          <a:schemeClr val="tx1"/>
        </a:solidFill>
        <a:latin typeface="+mn-lt"/>
        <a:ea typeface="+mn-ea"/>
        <a:cs typeface="+mn-cs"/>
      </a:defRPr>
    </a:lvl5pPr>
    <a:lvl6pPr marL="1693469" algn="l" defTabSz="677388" rtl="0" eaLnBrk="1" latinLnBrk="0" hangingPunct="1">
      <a:defRPr sz="889" kern="1200">
        <a:solidFill>
          <a:schemeClr val="tx1"/>
        </a:solidFill>
        <a:latin typeface="+mn-lt"/>
        <a:ea typeface="+mn-ea"/>
        <a:cs typeface="+mn-cs"/>
      </a:defRPr>
    </a:lvl6pPr>
    <a:lvl7pPr marL="2032163" algn="l" defTabSz="677388" rtl="0" eaLnBrk="1" latinLnBrk="0" hangingPunct="1">
      <a:defRPr sz="889" kern="1200">
        <a:solidFill>
          <a:schemeClr val="tx1"/>
        </a:solidFill>
        <a:latin typeface="+mn-lt"/>
        <a:ea typeface="+mn-ea"/>
        <a:cs typeface="+mn-cs"/>
      </a:defRPr>
    </a:lvl7pPr>
    <a:lvl8pPr marL="2370856" algn="l" defTabSz="677388" rtl="0" eaLnBrk="1" latinLnBrk="0" hangingPunct="1">
      <a:defRPr sz="889" kern="1200">
        <a:solidFill>
          <a:schemeClr val="tx1"/>
        </a:solidFill>
        <a:latin typeface="+mn-lt"/>
        <a:ea typeface="+mn-ea"/>
        <a:cs typeface="+mn-cs"/>
      </a:defRPr>
    </a:lvl8pPr>
    <a:lvl9pPr marL="2709550" algn="l" defTabSz="677388" rtl="0" eaLnBrk="1" latinLnBrk="0" hangingPunct="1">
      <a:defRPr sz="88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E0F12-3282-BC4F-91CD-054CAEACFF2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981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13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224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020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928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5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9/2/26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440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9/2/26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016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9/2/26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521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8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955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8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89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643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3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3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528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5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4772C7-2EE0-484B-9C95-05369BBBE097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037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56">
            <a:extLst>
              <a:ext uri="{FF2B5EF4-FFF2-40B4-BE49-F238E27FC236}">
                <a16:creationId xmlns:a16="http://schemas.microsoft.com/office/drawing/2014/main" id="{5DDEB47D-23CC-AA6A-1642-9B491377E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3" y="109078"/>
            <a:ext cx="4402364" cy="1836505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0795C96A-A96C-2F9E-3A65-B354C0CCDB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733" r="2241" b="45635"/>
          <a:stretch>
            <a:fillRect/>
          </a:stretch>
        </p:blipFill>
        <p:spPr>
          <a:xfrm>
            <a:off x="147968" y="2067305"/>
            <a:ext cx="6710032" cy="2466066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0E6BC976-01DC-B902-E3EC-8002E21A858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2507" b="-233"/>
          <a:stretch>
            <a:fillRect/>
          </a:stretch>
        </p:blipFill>
        <p:spPr>
          <a:xfrm>
            <a:off x="168805" y="6413987"/>
            <a:ext cx="2713542" cy="243021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9485F66-022C-2CC8-3988-1B005D4EEB2A}"/>
              </a:ext>
            </a:extLst>
          </p:cNvPr>
          <p:cNvSpPr txBox="1"/>
          <p:nvPr/>
        </p:nvSpPr>
        <p:spPr>
          <a:xfrm>
            <a:off x="-748" y="8509"/>
            <a:ext cx="518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2E5B0B-3B32-37F8-AFAB-E9396D68EFE4}"/>
              </a:ext>
            </a:extLst>
          </p:cNvPr>
          <p:cNvSpPr txBox="1"/>
          <p:nvPr/>
        </p:nvSpPr>
        <p:spPr>
          <a:xfrm>
            <a:off x="-748" y="2101296"/>
            <a:ext cx="518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0DAF72F-76AB-C86D-211F-18E9AEF08F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85" y="4685688"/>
            <a:ext cx="6813305" cy="163655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2633BCC-DACB-FDD9-B056-F60C3F421A11}"/>
              </a:ext>
            </a:extLst>
          </p:cNvPr>
          <p:cNvSpPr txBox="1"/>
          <p:nvPr/>
        </p:nvSpPr>
        <p:spPr>
          <a:xfrm>
            <a:off x="-748" y="4526015"/>
            <a:ext cx="518984" cy="3046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838A446-927F-EEEB-0156-35F825DE31F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535" t="4657" r="77756" b="72481"/>
          <a:stretch>
            <a:fillRect/>
          </a:stretch>
        </p:blipFill>
        <p:spPr>
          <a:xfrm>
            <a:off x="4854781" y="233469"/>
            <a:ext cx="2003219" cy="1703464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14D54F8B-2B0E-0731-AA74-B0EA0D8B944A}"/>
              </a:ext>
            </a:extLst>
          </p:cNvPr>
          <p:cNvSpPr txBox="1"/>
          <p:nvPr/>
        </p:nvSpPr>
        <p:spPr>
          <a:xfrm>
            <a:off x="-748" y="6343418"/>
            <a:ext cx="518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7F8E6FB-1EFE-5F9F-48FA-EF52F6C7BF63}"/>
              </a:ext>
            </a:extLst>
          </p:cNvPr>
          <p:cNvSpPr txBox="1"/>
          <p:nvPr/>
        </p:nvSpPr>
        <p:spPr>
          <a:xfrm>
            <a:off x="4622185" y="8508"/>
            <a:ext cx="518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b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051D0BE6-1C6D-66EE-0FA9-EA15267672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99388" y="6387160"/>
            <a:ext cx="2391550" cy="2442797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2291AB61-BA14-B6F2-C28C-5547D4D44F3B}"/>
              </a:ext>
            </a:extLst>
          </p:cNvPr>
          <p:cNvSpPr txBox="1"/>
          <p:nvPr/>
        </p:nvSpPr>
        <p:spPr>
          <a:xfrm>
            <a:off x="3429000" y="6343418"/>
            <a:ext cx="518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4059027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98B2B6-13D6-748A-BE48-05CDB075C733}"/>
              </a:ext>
            </a:extLst>
          </p:cNvPr>
          <p:cNvSpPr txBox="1"/>
          <p:nvPr/>
        </p:nvSpPr>
        <p:spPr>
          <a:xfrm>
            <a:off x="0" y="0"/>
            <a:ext cx="685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50" b="1" dirty="0"/>
              <a:t>Figure 1</a:t>
            </a:r>
            <a:r>
              <a:rPr lang="en-CA" sz="1050" dirty="0"/>
              <a:t>. Overview of </a:t>
            </a:r>
            <a:r>
              <a:rPr lang="en-CA" sz="1050" dirty="0" err="1"/>
              <a:t>XevaDB</a:t>
            </a:r>
            <a:r>
              <a:rPr lang="en-CA" sz="1050" dirty="0"/>
              <a:t>, a standardized longitudinal PDX pharmacogenomic resource.</a:t>
            </a:r>
          </a:p>
          <a:p>
            <a:r>
              <a:rPr lang="en-CA" sz="1050" dirty="0"/>
              <a:t>(a) Comparison of </a:t>
            </a:r>
            <a:r>
              <a:rPr lang="en-CA" sz="1050" dirty="0" err="1"/>
              <a:t>XevaDB</a:t>
            </a:r>
            <a:r>
              <a:rPr lang="en-CA" sz="1050" dirty="0"/>
              <a:t> with four existing PDX-related resources — PDX Finder/PDCM Finder (retired), </a:t>
            </a:r>
            <a:r>
              <a:rPr lang="en-CA" sz="1050" dirty="0" err="1"/>
              <a:t>EurOPDX</a:t>
            </a:r>
            <a:r>
              <a:rPr lang="en-CA" sz="1050" dirty="0"/>
              <a:t>, PDMR, and </a:t>
            </a:r>
            <a:r>
              <a:rPr lang="en-CA" sz="1050" dirty="0" err="1"/>
              <a:t>PDXNet</a:t>
            </a:r>
            <a:r>
              <a:rPr lang="en-CA" sz="1050" dirty="0"/>
              <a:t> — across five data-availability capabilities: model metadata, molecular profiles, drug response, longitudinal tumour volume, and analysis-ready dataset. Solid dots indicate full availability, semi-transparent dots indicate limited/partial availability, and the absence of a dot indicates the capability is not available. The organization or consortium responsible for each resource is shown below its name (EMBL-EBI, European Molecular Biology Laboratory–European Bioinformatics Institute; JAX, The Jackson Laboratory; NCI, National Cancer Institute; PMCC, Princess Margaret Cancer Centre). (b) </a:t>
            </a:r>
            <a:r>
              <a:rPr lang="en-CA" sz="1050" dirty="0" err="1"/>
              <a:t>XevaDB's</a:t>
            </a:r>
            <a:r>
              <a:rPr lang="en-CA" sz="1050" dirty="0"/>
              <a:t> internal data architecture. The </a:t>
            </a:r>
            <a:r>
              <a:rPr lang="en-CA" sz="1050" dirty="0" err="1"/>
              <a:t>XevaSet</a:t>
            </a:r>
            <a:r>
              <a:rPr lang="en-CA" sz="1050" dirty="0"/>
              <a:t> integrated object unifies model metadata, dataset information, omics profiles, drug annotation, omics-response mapping, longitudinal response, replicate design, and response metrics within a single standardized structure. (c) Data curation and analysis pipeline. Raw longitudinal response, omics, and clinical metadata from four source cohorts (McGill Breast, UHN Breast, UHN Lung, PDXE pan-cancer) are curated into standardized </a:t>
            </a:r>
            <a:r>
              <a:rPr lang="en-CA" sz="1050" dirty="0" err="1"/>
              <a:t>XevaSets</a:t>
            </a:r>
            <a:r>
              <a:rPr lang="en-CA" sz="1050" dirty="0"/>
              <a:t> and integrated into </a:t>
            </a:r>
            <a:r>
              <a:rPr lang="en-CA" sz="1050" dirty="0" err="1"/>
              <a:t>XevaDB</a:t>
            </a:r>
            <a:r>
              <a:rPr lang="en-CA" sz="1050" dirty="0"/>
              <a:t>, which supports four downstream case studies: (1) growth-kinetics modeling from control-arm curves and RNA-seq, (2) image-based drug-response classification from standardized tumour-volume curves, (3) cell-line-to-PDX transfer learning using response metrics and mutation/CNV data, and (4) multi-omics prediction of paclitaxel response. (d) Summary counts across the four cohorts for patients (n=469), PDX models (n=715; parental and resistant models shown separately), matched omics profiles (RNA-seq/mutation/CNV; n=344/339/339), drugs (n=72), and treatment-control experiments (n=5,632). (e) Distribution of PDX models by cancer type (n=715 total across six tumour types), with each wedge group further broken down by contributing dataset (shown in the legend); slice groups are radially separated to indicate cancer type. (f) Drugs shared across more than one dataset (10 of 72 total drugs), shown as a dot-matrix across the four cohorts; connected dots indicate the same drug tested in multiple datasets.</a:t>
            </a:r>
          </a:p>
          <a:p>
            <a:br>
              <a:rPr lang="en-CA" sz="1050" dirty="0"/>
            </a:b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209200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20256</TotalTime>
  <Words>425</Words>
  <Application>Microsoft Macintosh PowerPoint</Application>
  <PresentationFormat>Letter Paper (8.5x11 in)</PresentationFormat>
  <Paragraphs>10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Feng, Guanqiao</dc:creator>
  <cp:lastModifiedBy>Feng, Guanqiao</cp:lastModifiedBy>
  <cp:revision>37</cp:revision>
  <dcterms:created xsi:type="dcterms:W3CDTF">2026-08-11T17:37:51Z</dcterms:created>
  <dcterms:modified xsi:type="dcterms:W3CDTF">2026-09-04T20:22:49Z</dcterms:modified>
</cp:coreProperties>
</file>