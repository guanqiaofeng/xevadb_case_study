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sldIdLst>
    <p:sldId id="256" r:id="rId2"/>
    <p:sldId id="260" r:id="rId3"/>
    <p:sldId id="257" r:id="rId4"/>
    <p:sldId id="263" r:id="rId5"/>
    <p:sldId id="258" r:id="rId6"/>
    <p:sldId id="262" r:id="rId7"/>
    <p:sldId id="259" r:id="rId8"/>
  </p:sldIdLst>
  <p:sldSz cx="6858000" cy="9144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42"/>
    <p:restoredTop sz="94651"/>
  </p:normalViewPr>
  <p:slideViewPr>
    <p:cSldViewPr snapToGrid="0">
      <p:cViewPr>
        <p:scale>
          <a:sx n="149" d="100"/>
          <a:sy n="149" d="100"/>
        </p:scale>
        <p:origin x="2288" y="-2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96BD046-B5B4-334B-A6C9-257A188C12A8}"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259622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6BD046-B5B4-334B-A6C9-257A188C12A8}"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2126809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6BD046-B5B4-334B-A6C9-257A188C12A8}"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3380656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6BD046-B5B4-334B-A6C9-257A188C12A8}"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3392378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5"/>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6BD046-B5B4-334B-A6C9-257A188C12A8}" type="datetimeFigureOut">
              <a:rPr lang="en-US" smtClean="0"/>
              <a:t>10/2/26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177783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6BD046-B5B4-334B-A6C9-257A188C12A8}" type="datetimeFigureOut">
              <a:rPr lang="en-US" smtClean="0"/>
              <a:t>10/2/26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3913753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6BD046-B5B4-334B-A6C9-257A188C12A8}" type="datetimeFigureOut">
              <a:rPr lang="en-US" smtClean="0"/>
              <a:t>10/2/26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4274286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8"/>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96BD046-B5B4-334B-A6C9-257A188C12A8}"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3305943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8"/>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96BD046-B5B4-334B-A6C9-257A188C12A8}" type="datetimeFigureOut">
              <a:rPr lang="en-US" smtClean="0"/>
              <a:t>10/2/26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2597950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6BD046-B5B4-334B-A6C9-257A188C12A8}"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1789414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3"/>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3"/>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6BD046-B5B4-334B-A6C9-257A188C12A8}" type="datetimeFigureOut">
              <a:rPr lang="en-US" smtClean="0"/>
              <a:t>10/2/26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2C840F-EA0F-EC40-82D4-71AC9D793A7C}" type="slidenum">
              <a:rPr lang="en-US" smtClean="0"/>
              <a:t>‹#›</a:t>
            </a:fld>
            <a:endParaRPr lang="en-US"/>
          </a:p>
        </p:txBody>
      </p:sp>
    </p:spTree>
    <p:extLst>
      <p:ext uri="{BB962C8B-B14F-4D97-AF65-F5344CB8AC3E}">
        <p14:creationId xmlns:p14="http://schemas.microsoft.com/office/powerpoint/2010/main" val="1238198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5"/>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7"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896BD046-B5B4-334B-A6C9-257A188C12A8}" type="datetimeFigureOut">
              <a:rPr lang="en-US" smtClean="0"/>
              <a:t>10/2/26</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452C840F-EA0F-EC40-82D4-71AC9D793A7C}" type="slidenum">
              <a:rPr lang="en-US" smtClean="0"/>
              <a:t>‹#›</a:t>
            </a:fld>
            <a:endParaRPr lang="en-US"/>
          </a:p>
        </p:txBody>
      </p:sp>
    </p:spTree>
    <p:extLst>
      <p:ext uri="{BB962C8B-B14F-4D97-AF65-F5344CB8AC3E}">
        <p14:creationId xmlns:p14="http://schemas.microsoft.com/office/powerpoint/2010/main" val="195619994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png"/><Relationship Id="rId7" Type="http://schemas.openxmlformats.org/officeDocument/2006/relationships/image" Target="../media/image12.jpe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jpeg"/><Relationship Id="rId5" Type="http://schemas.openxmlformats.org/officeDocument/2006/relationships/image" Target="../media/image10.png"/><Relationship Id="rId10" Type="http://schemas.openxmlformats.org/officeDocument/2006/relationships/image" Target="../media/image15.jpeg"/><Relationship Id="rId4" Type="http://schemas.openxmlformats.org/officeDocument/2006/relationships/image" Target="../media/image9.png"/><Relationship Id="rId9" Type="http://schemas.openxmlformats.org/officeDocument/2006/relationships/image" Target="../media/image1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03B71BD-15B0-63E0-D610-6F6C3BC871C1}"/>
              </a:ext>
            </a:extLst>
          </p:cNvPr>
          <p:cNvPicPr>
            <a:picLocks noChangeAspect="1"/>
          </p:cNvPicPr>
          <p:nvPr/>
        </p:nvPicPr>
        <p:blipFill>
          <a:blip r:embed="rId2"/>
          <a:stretch>
            <a:fillRect/>
          </a:stretch>
        </p:blipFill>
        <p:spPr>
          <a:xfrm>
            <a:off x="3593919" y="22256"/>
            <a:ext cx="3264081" cy="1465388"/>
          </a:xfrm>
          <a:prstGeom prst="rect">
            <a:avLst/>
          </a:prstGeom>
        </p:spPr>
      </p:pic>
      <p:pic>
        <p:nvPicPr>
          <p:cNvPr id="3" name="Picture 2">
            <a:extLst>
              <a:ext uri="{FF2B5EF4-FFF2-40B4-BE49-F238E27FC236}">
                <a16:creationId xmlns:a16="http://schemas.microsoft.com/office/drawing/2014/main" id="{9C330C0A-09E3-75A9-C668-F71C4EC7E6DF}"/>
              </a:ext>
            </a:extLst>
          </p:cNvPr>
          <p:cNvPicPr>
            <a:picLocks noChangeAspect="1"/>
          </p:cNvPicPr>
          <p:nvPr/>
        </p:nvPicPr>
        <p:blipFill>
          <a:blip r:embed="rId3"/>
          <a:stretch>
            <a:fillRect/>
          </a:stretch>
        </p:blipFill>
        <p:spPr>
          <a:xfrm>
            <a:off x="345685" y="29370"/>
            <a:ext cx="3248234" cy="1458274"/>
          </a:xfrm>
          <a:prstGeom prst="rect">
            <a:avLst/>
          </a:prstGeom>
        </p:spPr>
      </p:pic>
      <p:pic>
        <p:nvPicPr>
          <p:cNvPr id="4" name="Picture 3">
            <a:extLst>
              <a:ext uri="{FF2B5EF4-FFF2-40B4-BE49-F238E27FC236}">
                <a16:creationId xmlns:a16="http://schemas.microsoft.com/office/drawing/2014/main" id="{0877D6B2-6CBE-24AF-7840-CF678E53383E}"/>
              </a:ext>
            </a:extLst>
          </p:cNvPr>
          <p:cNvPicPr>
            <a:picLocks noChangeAspect="1"/>
          </p:cNvPicPr>
          <p:nvPr/>
        </p:nvPicPr>
        <p:blipFill>
          <a:blip r:embed="rId4"/>
          <a:stretch>
            <a:fillRect/>
          </a:stretch>
        </p:blipFill>
        <p:spPr>
          <a:xfrm>
            <a:off x="372627" y="2018340"/>
            <a:ext cx="5627717" cy="1655568"/>
          </a:xfrm>
          <a:prstGeom prst="rect">
            <a:avLst/>
          </a:prstGeom>
        </p:spPr>
      </p:pic>
      <p:pic>
        <p:nvPicPr>
          <p:cNvPr id="5" name="Picture 4">
            <a:extLst>
              <a:ext uri="{FF2B5EF4-FFF2-40B4-BE49-F238E27FC236}">
                <a16:creationId xmlns:a16="http://schemas.microsoft.com/office/drawing/2014/main" id="{04CD4854-B2D6-110B-63AD-E1E429E44B33}"/>
              </a:ext>
            </a:extLst>
          </p:cNvPr>
          <p:cNvPicPr>
            <a:picLocks noChangeAspect="1"/>
          </p:cNvPicPr>
          <p:nvPr/>
        </p:nvPicPr>
        <p:blipFill>
          <a:blip r:embed="rId5"/>
          <a:stretch>
            <a:fillRect/>
          </a:stretch>
        </p:blipFill>
        <p:spPr>
          <a:xfrm>
            <a:off x="372627" y="3562196"/>
            <a:ext cx="5627717" cy="1655568"/>
          </a:xfrm>
          <a:prstGeom prst="rect">
            <a:avLst/>
          </a:prstGeom>
        </p:spPr>
      </p:pic>
      <p:pic>
        <p:nvPicPr>
          <p:cNvPr id="6" name="Picture 5">
            <a:extLst>
              <a:ext uri="{FF2B5EF4-FFF2-40B4-BE49-F238E27FC236}">
                <a16:creationId xmlns:a16="http://schemas.microsoft.com/office/drawing/2014/main" id="{3A66B98A-7A3A-8268-2208-83127BC91A48}"/>
              </a:ext>
            </a:extLst>
          </p:cNvPr>
          <p:cNvPicPr>
            <a:picLocks noChangeAspect="1"/>
          </p:cNvPicPr>
          <p:nvPr/>
        </p:nvPicPr>
        <p:blipFill>
          <a:blip r:embed="rId6"/>
          <a:stretch>
            <a:fillRect/>
          </a:stretch>
        </p:blipFill>
        <p:spPr>
          <a:xfrm>
            <a:off x="372627" y="5480527"/>
            <a:ext cx="3850061" cy="1509946"/>
          </a:xfrm>
          <a:prstGeom prst="rect">
            <a:avLst/>
          </a:prstGeom>
        </p:spPr>
      </p:pic>
      <p:pic>
        <p:nvPicPr>
          <p:cNvPr id="7" name="Picture 6">
            <a:extLst>
              <a:ext uri="{FF2B5EF4-FFF2-40B4-BE49-F238E27FC236}">
                <a16:creationId xmlns:a16="http://schemas.microsoft.com/office/drawing/2014/main" id="{BAE405FE-4FC0-CBD8-10D3-275179A7771C}"/>
              </a:ext>
            </a:extLst>
          </p:cNvPr>
          <p:cNvPicPr>
            <a:picLocks noChangeAspect="1"/>
          </p:cNvPicPr>
          <p:nvPr/>
        </p:nvPicPr>
        <p:blipFill>
          <a:blip r:embed="rId7"/>
          <a:stretch>
            <a:fillRect/>
          </a:stretch>
        </p:blipFill>
        <p:spPr>
          <a:xfrm>
            <a:off x="269485" y="7495711"/>
            <a:ext cx="3850062" cy="1509946"/>
          </a:xfrm>
          <a:prstGeom prst="rect">
            <a:avLst/>
          </a:prstGeom>
        </p:spPr>
      </p:pic>
      <p:sp>
        <p:nvSpPr>
          <p:cNvPr id="8" name="TextBox 7">
            <a:extLst>
              <a:ext uri="{FF2B5EF4-FFF2-40B4-BE49-F238E27FC236}">
                <a16:creationId xmlns:a16="http://schemas.microsoft.com/office/drawing/2014/main" id="{91841A04-5509-56EB-0B34-5214B10A559E}"/>
              </a:ext>
            </a:extLst>
          </p:cNvPr>
          <p:cNvSpPr txBox="1"/>
          <p:nvPr/>
        </p:nvSpPr>
        <p:spPr>
          <a:xfrm>
            <a:off x="0" y="0"/>
            <a:ext cx="372628" cy="307777"/>
          </a:xfrm>
          <a:prstGeom prst="rect">
            <a:avLst/>
          </a:prstGeom>
          <a:noFill/>
        </p:spPr>
        <p:txBody>
          <a:bodyPr wrap="square" rtlCol="0">
            <a:spAutoFit/>
          </a:bodyPr>
          <a:lstStyle/>
          <a:p>
            <a:r>
              <a:rPr lang="en-US" sz="1400" b="1" dirty="0"/>
              <a:t>a</a:t>
            </a:r>
          </a:p>
        </p:txBody>
      </p:sp>
      <p:sp>
        <p:nvSpPr>
          <p:cNvPr id="9" name="TextBox 8">
            <a:extLst>
              <a:ext uri="{FF2B5EF4-FFF2-40B4-BE49-F238E27FC236}">
                <a16:creationId xmlns:a16="http://schemas.microsoft.com/office/drawing/2014/main" id="{1920FFFD-FB21-512D-0CA0-EE5F1580C688}"/>
              </a:ext>
            </a:extLst>
          </p:cNvPr>
          <p:cNvSpPr txBox="1"/>
          <p:nvPr/>
        </p:nvSpPr>
        <p:spPr>
          <a:xfrm>
            <a:off x="0" y="1891562"/>
            <a:ext cx="372628" cy="307777"/>
          </a:xfrm>
          <a:prstGeom prst="rect">
            <a:avLst/>
          </a:prstGeom>
          <a:noFill/>
        </p:spPr>
        <p:txBody>
          <a:bodyPr wrap="square" rtlCol="0">
            <a:spAutoFit/>
          </a:bodyPr>
          <a:lstStyle/>
          <a:p>
            <a:r>
              <a:rPr lang="en-US" sz="1400" b="1" dirty="0"/>
              <a:t>b</a:t>
            </a:r>
          </a:p>
        </p:txBody>
      </p:sp>
      <p:sp>
        <p:nvSpPr>
          <p:cNvPr id="10" name="TextBox 9">
            <a:extLst>
              <a:ext uri="{FF2B5EF4-FFF2-40B4-BE49-F238E27FC236}">
                <a16:creationId xmlns:a16="http://schemas.microsoft.com/office/drawing/2014/main" id="{BC6CF565-2466-C70C-0132-AFB00E6092C5}"/>
              </a:ext>
            </a:extLst>
          </p:cNvPr>
          <p:cNvSpPr txBox="1"/>
          <p:nvPr/>
        </p:nvSpPr>
        <p:spPr>
          <a:xfrm>
            <a:off x="0" y="5400183"/>
            <a:ext cx="372628" cy="307777"/>
          </a:xfrm>
          <a:prstGeom prst="rect">
            <a:avLst/>
          </a:prstGeom>
          <a:noFill/>
        </p:spPr>
        <p:txBody>
          <a:bodyPr wrap="square" rtlCol="0">
            <a:spAutoFit/>
          </a:bodyPr>
          <a:lstStyle/>
          <a:p>
            <a:r>
              <a:rPr lang="en-US" sz="1400" b="1" dirty="0"/>
              <a:t>c</a:t>
            </a:r>
          </a:p>
        </p:txBody>
      </p:sp>
      <p:sp>
        <p:nvSpPr>
          <p:cNvPr id="11" name="TextBox 10">
            <a:extLst>
              <a:ext uri="{FF2B5EF4-FFF2-40B4-BE49-F238E27FC236}">
                <a16:creationId xmlns:a16="http://schemas.microsoft.com/office/drawing/2014/main" id="{BFE5FE02-2E92-B04F-D9A3-5C5205DEA6AC}"/>
              </a:ext>
            </a:extLst>
          </p:cNvPr>
          <p:cNvSpPr txBox="1"/>
          <p:nvPr/>
        </p:nvSpPr>
        <p:spPr>
          <a:xfrm>
            <a:off x="0" y="7280346"/>
            <a:ext cx="372628" cy="307777"/>
          </a:xfrm>
          <a:prstGeom prst="rect">
            <a:avLst/>
          </a:prstGeom>
          <a:noFill/>
        </p:spPr>
        <p:txBody>
          <a:bodyPr wrap="square" rtlCol="0">
            <a:spAutoFit/>
          </a:bodyPr>
          <a:lstStyle/>
          <a:p>
            <a:r>
              <a:rPr lang="en-US" sz="1400" b="1" dirty="0"/>
              <a:t>d</a:t>
            </a:r>
          </a:p>
        </p:txBody>
      </p:sp>
    </p:spTree>
    <p:extLst>
      <p:ext uri="{BB962C8B-B14F-4D97-AF65-F5344CB8AC3E}">
        <p14:creationId xmlns:p14="http://schemas.microsoft.com/office/powerpoint/2010/main" val="2726781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F15D1DF-A11B-F695-0AD9-53030E5EE478}"/>
              </a:ext>
            </a:extLst>
          </p:cNvPr>
          <p:cNvSpPr txBox="1"/>
          <p:nvPr/>
        </p:nvSpPr>
        <p:spPr>
          <a:xfrm>
            <a:off x="0" y="89647"/>
            <a:ext cx="6858000" cy="2677656"/>
          </a:xfrm>
          <a:prstGeom prst="rect">
            <a:avLst/>
          </a:prstGeom>
          <a:noFill/>
        </p:spPr>
        <p:txBody>
          <a:bodyPr wrap="square" rtlCol="0">
            <a:spAutoFit/>
          </a:bodyPr>
          <a:lstStyle/>
          <a:p>
            <a:r>
              <a:rPr lang="en-CA" sz="1200" b="1" dirty="0"/>
              <a:t>Supplemental Figure 1</a:t>
            </a:r>
            <a:r>
              <a:rPr lang="en-CA" sz="1200" dirty="0"/>
              <a:t>. Sensitivity of the growth-kinetics analysis (case study 1) to quality-control thresholds, follow-up window, and highly-variable-gene count.</a:t>
            </a:r>
          </a:p>
          <a:p>
            <a:r>
              <a:rPr lang="en-CA" sz="1200" dirty="0"/>
              <a:t>(a) Number of mice and PDX models retained across a grid of candidate MIN_POINTS (minimum tumour-volume measurements per mouse) and MIN_R2 (minimum goodness-of-fit) thresholds, for the breast (left) and lung (right) cohorts; dotted lines indicate the thresholds used in the primary analysis (MIN_POINTS = 3, MIN_R2 = 0.8). (b) For the breast (top) and lung (bottom) cohorts: distribution of raw, uncensored follow-up duration per mouse (left); correlation between fitted growth-rate coefficient k and follow-up duration (two-sided Spearman r annotated; middle); and drift in median retained doubling time as a function of the candidate follow-up-window cutoff, MAX_DAY (right). Dotted line, the 35-day cutoff used in the primary analysis. (c) Cross-validated AUROC (mean ± SD) for </a:t>
            </a:r>
            <a:r>
              <a:rPr lang="en-CA" sz="1200" dirty="0" err="1"/>
              <a:t>ElasticNet</a:t>
            </a:r>
            <a:r>
              <a:rPr lang="en-CA" sz="1200" dirty="0"/>
              <a:t> and Random Forest across a grid of candidate highly-variable-gene (HVG) counts, breast (left) and lung (right). (d) Distribution of Lassoed Forest mean AUROC across the </a:t>
            </a:r>
            <a:r>
              <a:rPr lang="en-CA" sz="1200" dirty="0" err="1"/>
              <a:t>max_depth</a:t>
            </a:r>
            <a:r>
              <a:rPr lang="en-CA" sz="1200" dirty="0"/>
              <a:t> × </a:t>
            </a:r>
            <a:r>
              <a:rPr lang="en-CA" sz="1200" dirty="0" err="1"/>
              <a:t>min_samples_leaf</a:t>
            </a:r>
            <a:r>
              <a:rPr lang="en-CA" sz="1200" dirty="0"/>
              <a:t> hyperparameter grid, across the same HVG-count grid, breast (left) and lung (right). </a:t>
            </a:r>
            <a:br>
              <a:rPr lang="en-CA" sz="1200" dirty="0"/>
            </a:br>
            <a:endParaRPr lang="en-US" sz="1200" dirty="0"/>
          </a:p>
        </p:txBody>
      </p:sp>
    </p:spTree>
    <p:extLst>
      <p:ext uri="{BB962C8B-B14F-4D97-AF65-F5344CB8AC3E}">
        <p14:creationId xmlns:p14="http://schemas.microsoft.com/office/powerpoint/2010/main" val="337884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650159A-5D0D-5CF4-2987-03D49EEB0EAB}"/>
              </a:ext>
            </a:extLst>
          </p:cNvPr>
          <p:cNvSpPr/>
          <p:nvPr/>
        </p:nvSpPr>
        <p:spPr>
          <a:xfrm>
            <a:off x="63116" y="335373"/>
            <a:ext cx="6743166" cy="21432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CF0CB17-BBE4-F42B-9244-54B729FE723B}"/>
              </a:ext>
            </a:extLst>
          </p:cNvPr>
          <p:cNvPicPr>
            <a:picLocks noChangeAspect="1"/>
          </p:cNvPicPr>
          <p:nvPr/>
        </p:nvPicPr>
        <p:blipFill>
          <a:blip r:embed="rId2"/>
          <a:stretch>
            <a:fillRect/>
          </a:stretch>
        </p:blipFill>
        <p:spPr>
          <a:xfrm>
            <a:off x="51718" y="4584060"/>
            <a:ext cx="2263342" cy="1508895"/>
          </a:xfrm>
          <a:prstGeom prst="rect">
            <a:avLst/>
          </a:prstGeom>
        </p:spPr>
      </p:pic>
      <p:pic>
        <p:nvPicPr>
          <p:cNvPr id="6" name="Picture 5">
            <a:extLst>
              <a:ext uri="{FF2B5EF4-FFF2-40B4-BE49-F238E27FC236}">
                <a16:creationId xmlns:a16="http://schemas.microsoft.com/office/drawing/2014/main" id="{AD5FABC3-FBF3-7581-4F53-2B83A7B6BF98}"/>
              </a:ext>
            </a:extLst>
          </p:cNvPr>
          <p:cNvPicPr>
            <a:picLocks noChangeAspect="1"/>
          </p:cNvPicPr>
          <p:nvPr/>
        </p:nvPicPr>
        <p:blipFill>
          <a:blip r:embed="rId3"/>
          <a:stretch>
            <a:fillRect/>
          </a:stretch>
        </p:blipFill>
        <p:spPr>
          <a:xfrm>
            <a:off x="2315060" y="4593548"/>
            <a:ext cx="2263343" cy="1508895"/>
          </a:xfrm>
          <a:prstGeom prst="rect">
            <a:avLst/>
          </a:prstGeom>
        </p:spPr>
      </p:pic>
      <p:pic>
        <p:nvPicPr>
          <p:cNvPr id="7" name="Picture 6">
            <a:extLst>
              <a:ext uri="{FF2B5EF4-FFF2-40B4-BE49-F238E27FC236}">
                <a16:creationId xmlns:a16="http://schemas.microsoft.com/office/drawing/2014/main" id="{0BEF172D-6F95-F8CA-CE4C-9A8D51CA5B33}"/>
              </a:ext>
            </a:extLst>
          </p:cNvPr>
          <p:cNvPicPr>
            <a:picLocks noChangeAspect="1"/>
          </p:cNvPicPr>
          <p:nvPr/>
        </p:nvPicPr>
        <p:blipFill>
          <a:blip r:embed="rId4"/>
          <a:stretch>
            <a:fillRect/>
          </a:stretch>
        </p:blipFill>
        <p:spPr>
          <a:xfrm>
            <a:off x="4594657" y="4584060"/>
            <a:ext cx="2263343" cy="1508895"/>
          </a:xfrm>
          <a:prstGeom prst="rect">
            <a:avLst/>
          </a:prstGeom>
        </p:spPr>
      </p:pic>
      <p:pic>
        <p:nvPicPr>
          <p:cNvPr id="8" name="Picture 7">
            <a:extLst>
              <a:ext uri="{FF2B5EF4-FFF2-40B4-BE49-F238E27FC236}">
                <a16:creationId xmlns:a16="http://schemas.microsoft.com/office/drawing/2014/main" id="{E61324DB-072A-D040-AA5E-4A183D65263B}"/>
              </a:ext>
            </a:extLst>
          </p:cNvPr>
          <p:cNvPicPr>
            <a:picLocks noChangeAspect="1"/>
          </p:cNvPicPr>
          <p:nvPr/>
        </p:nvPicPr>
        <p:blipFill>
          <a:blip r:embed="rId5"/>
          <a:stretch>
            <a:fillRect/>
          </a:stretch>
        </p:blipFill>
        <p:spPr>
          <a:xfrm>
            <a:off x="63116" y="6042184"/>
            <a:ext cx="2263343" cy="1508895"/>
          </a:xfrm>
          <a:prstGeom prst="rect">
            <a:avLst/>
          </a:prstGeom>
        </p:spPr>
      </p:pic>
      <p:pic>
        <p:nvPicPr>
          <p:cNvPr id="9" name="Picture 8">
            <a:extLst>
              <a:ext uri="{FF2B5EF4-FFF2-40B4-BE49-F238E27FC236}">
                <a16:creationId xmlns:a16="http://schemas.microsoft.com/office/drawing/2014/main" id="{49955E5B-6A19-A27D-0FB3-4C223488B61C}"/>
              </a:ext>
            </a:extLst>
          </p:cNvPr>
          <p:cNvPicPr>
            <a:picLocks noChangeAspect="1"/>
          </p:cNvPicPr>
          <p:nvPr/>
        </p:nvPicPr>
        <p:blipFill>
          <a:blip r:embed="rId6"/>
          <a:stretch>
            <a:fillRect/>
          </a:stretch>
        </p:blipFill>
        <p:spPr>
          <a:xfrm>
            <a:off x="2315060" y="6042184"/>
            <a:ext cx="2263343" cy="1508895"/>
          </a:xfrm>
          <a:prstGeom prst="rect">
            <a:avLst/>
          </a:prstGeom>
        </p:spPr>
      </p:pic>
      <p:grpSp>
        <p:nvGrpSpPr>
          <p:cNvPr id="10" name="Group 9">
            <a:extLst>
              <a:ext uri="{FF2B5EF4-FFF2-40B4-BE49-F238E27FC236}">
                <a16:creationId xmlns:a16="http://schemas.microsoft.com/office/drawing/2014/main" id="{09722A40-3C79-E648-D97C-618F061FA8C5}"/>
              </a:ext>
            </a:extLst>
          </p:cNvPr>
          <p:cNvGrpSpPr/>
          <p:nvPr/>
        </p:nvGrpSpPr>
        <p:grpSpPr>
          <a:xfrm>
            <a:off x="88754" y="385376"/>
            <a:ext cx="6179565" cy="1144066"/>
            <a:chOff x="624402" y="472573"/>
            <a:chExt cx="6179565" cy="1144066"/>
          </a:xfrm>
        </p:grpSpPr>
        <p:pic>
          <p:nvPicPr>
            <p:cNvPr id="11" name="Picture 10" descr="A diagram of a line and a line&#10;&#10;AI-generated content may be incorrect.">
              <a:extLst>
                <a:ext uri="{FF2B5EF4-FFF2-40B4-BE49-F238E27FC236}">
                  <a16:creationId xmlns:a16="http://schemas.microsoft.com/office/drawing/2014/main" id="{89D0F82E-9847-8969-675E-B53B29E06B9A}"/>
                </a:ext>
              </a:extLst>
            </p:cNvPr>
            <p:cNvPicPr>
              <a:picLocks noChangeAspect="1"/>
            </p:cNvPicPr>
            <p:nvPr/>
          </p:nvPicPr>
          <p:blipFill>
            <a:blip r:embed="rId7"/>
            <a:stretch>
              <a:fillRect/>
            </a:stretch>
          </p:blipFill>
          <p:spPr>
            <a:xfrm>
              <a:off x="624402" y="537139"/>
              <a:ext cx="1079500" cy="1079500"/>
            </a:xfrm>
            <a:prstGeom prst="rect">
              <a:avLst/>
            </a:prstGeom>
          </p:spPr>
        </p:pic>
        <p:pic>
          <p:nvPicPr>
            <p:cNvPr id="12" name="Picture 11" descr="A diagram of a line with arrows&#10;&#10;AI-generated content may be incorrect.">
              <a:extLst>
                <a:ext uri="{FF2B5EF4-FFF2-40B4-BE49-F238E27FC236}">
                  <a16:creationId xmlns:a16="http://schemas.microsoft.com/office/drawing/2014/main" id="{D98B6772-A84A-78CD-CA9F-1516A0BDF584}"/>
                </a:ext>
              </a:extLst>
            </p:cNvPr>
            <p:cNvPicPr>
              <a:picLocks noChangeAspect="1"/>
            </p:cNvPicPr>
            <p:nvPr/>
          </p:nvPicPr>
          <p:blipFill>
            <a:blip r:embed="rId8"/>
            <a:stretch>
              <a:fillRect/>
            </a:stretch>
          </p:blipFill>
          <p:spPr>
            <a:xfrm>
              <a:off x="1912814" y="537139"/>
              <a:ext cx="1079500" cy="1079500"/>
            </a:xfrm>
            <a:prstGeom prst="rect">
              <a:avLst/>
            </a:prstGeom>
          </p:spPr>
        </p:pic>
        <p:pic>
          <p:nvPicPr>
            <p:cNvPr id="13" name="Picture 12" descr="A diagram of a line with arrows&#10;&#10;AI-generated content may be incorrect.">
              <a:extLst>
                <a:ext uri="{FF2B5EF4-FFF2-40B4-BE49-F238E27FC236}">
                  <a16:creationId xmlns:a16="http://schemas.microsoft.com/office/drawing/2014/main" id="{78F05299-506A-8CFA-A7FB-F772B10B4E28}"/>
                </a:ext>
              </a:extLst>
            </p:cNvPr>
            <p:cNvPicPr>
              <a:picLocks noChangeAspect="1"/>
            </p:cNvPicPr>
            <p:nvPr/>
          </p:nvPicPr>
          <p:blipFill>
            <a:blip r:embed="rId9"/>
            <a:stretch>
              <a:fillRect/>
            </a:stretch>
          </p:blipFill>
          <p:spPr>
            <a:xfrm>
              <a:off x="3183365" y="518289"/>
              <a:ext cx="1079500" cy="1079500"/>
            </a:xfrm>
            <a:prstGeom prst="rect">
              <a:avLst/>
            </a:prstGeom>
          </p:spPr>
        </p:pic>
        <p:pic>
          <p:nvPicPr>
            <p:cNvPr id="14" name="Picture 13" descr="A diagram of a square with arrows&#10;&#10;AI-generated content may be incorrect.">
              <a:extLst>
                <a:ext uri="{FF2B5EF4-FFF2-40B4-BE49-F238E27FC236}">
                  <a16:creationId xmlns:a16="http://schemas.microsoft.com/office/drawing/2014/main" id="{1E8AFA0D-E33D-04EC-1948-2BD89CCE7828}"/>
                </a:ext>
              </a:extLst>
            </p:cNvPr>
            <p:cNvPicPr>
              <a:picLocks noChangeAspect="1"/>
            </p:cNvPicPr>
            <p:nvPr/>
          </p:nvPicPr>
          <p:blipFill>
            <a:blip r:embed="rId10"/>
            <a:stretch>
              <a:fillRect/>
            </a:stretch>
          </p:blipFill>
          <p:spPr>
            <a:xfrm>
              <a:off x="4453916" y="479300"/>
              <a:ext cx="1079500" cy="1079500"/>
            </a:xfrm>
            <a:prstGeom prst="rect">
              <a:avLst/>
            </a:prstGeom>
          </p:spPr>
        </p:pic>
        <p:pic>
          <p:nvPicPr>
            <p:cNvPr id="15" name="Picture 14" descr="A diagram of a line with arrows&#10;&#10;AI-generated content may be incorrect.">
              <a:extLst>
                <a:ext uri="{FF2B5EF4-FFF2-40B4-BE49-F238E27FC236}">
                  <a16:creationId xmlns:a16="http://schemas.microsoft.com/office/drawing/2014/main" id="{7E6279D7-D847-FB2E-8CAC-5E834B10F359}"/>
                </a:ext>
              </a:extLst>
            </p:cNvPr>
            <p:cNvPicPr>
              <a:picLocks noChangeAspect="1"/>
            </p:cNvPicPr>
            <p:nvPr/>
          </p:nvPicPr>
          <p:blipFill>
            <a:blip r:embed="rId11"/>
            <a:stretch>
              <a:fillRect/>
            </a:stretch>
          </p:blipFill>
          <p:spPr>
            <a:xfrm>
              <a:off x="5724467" y="472573"/>
              <a:ext cx="1079500" cy="1079500"/>
            </a:xfrm>
            <a:prstGeom prst="rect">
              <a:avLst/>
            </a:prstGeom>
          </p:spPr>
        </p:pic>
      </p:grpSp>
      <p:sp>
        <p:nvSpPr>
          <p:cNvPr id="16" name="TextBox 15">
            <a:extLst>
              <a:ext uri="{FF2B5EF4-FFF2-40B4-BE49-F238E27FC236}">
                <a16:creationId xmlns:a16="http://schemas.microsoft.com/office/drawing/2014/main" id="{90CC29FC-FCAB-861D-D42A-8CDF62087EEE}"/>
              </a:ext>
            </a:extLst>
          </p:cNvPr>
          <p:cNvSpPr txBox="1"/>
          <p:nvPr/>
        </p:nvSpPr>
        <p:spPr>
          <a:xfrm>
            <a:off x="51718" y="1545755"/>
            <a:ext cx="11232302" cy="1107996"/>
          </a:xfrm>
          <a:prstGeom prst="rect">
            <a:avLst/>
          </a:prstGeom>
          <a:noFill/>
        </p:spPr>
        <p:txBody>
          <a:bodyPr wrap="square">
            <a:spAutoFit/>
          </a:bodyPr>
          <a:lstStyle/>
          <a:p>
            <a:pPr marL="0" lvl="2"/>
            <a:r>
              <a:rPr lang="en-CA" sz="1100" b="1" dirty="0"/>
              <a:t>Category 1</a:t>
            </a:r>
            <a:r>
              <a:rPr lang="en-CA" sz="1100" dirty="0"/>
              <a:t>: tumour growth </a:t>
            </a:r>
            <a:r>
              <a:rPr lang="en-CA" sz="1100" b="1" dirty="0"/>
              <a:t>similar to control</a:t>
            </a:r>
            <a:r>
              <a:rPr lang="en-CA" sz="1100" dirty="0"/>
              <a:t>.</a:t>
            </a:r>
          </a:p>
          <a:p>
            <a:pPr marL="0" lvl="2"/>
            <a:r>
              <a:rPr lang="en-CA" sz="1100" b="1" dirty="0"/>
              <a:t>Category 2</a:t>
            </a:r>
            <a:r>
              <a:rPr lang="en-CA" sz="1100" dirty="0"/>
              <a:t>: tumour growth is </a:t>
            </a:r>
            <a:r>
              <a:rPr lang="en-CA" sz="1100" b="1" dirty="0"/>
              <a:t>inhibited compared to control</a:t>
            </a:r>
            <a:r>
              <a:rPr lang="en-CA" sz="1100" dirty="0"/>
              <a:t>, but tumour is still </a:t>
            </a:r>
            <a:r>
              <a:rPr lang="en-CA" sz="1100" b="1" dirty="0"/>
              <a:t>enlarging</a:t>
            </a:r>
            <a:r>
              <a:rPr lang="en-CA" sz="1100" dirty="0"/>
              <a:t> compared to time 0.</a:t>
            </a:r>
          </a:p>
          <a:p>
            <a:pPr marL="0" lvl="2"/>
            <a:r>
              <a:rPr lang="en-CA" sz="1100" b="1" dirty="0"/>
              <a:t>Category 3</a:t>
            </a:r>
            <a:r>
              <a:rPr lang="en-CA" sz="1100" dirty="0"/>
              <a:t>: tumour growth is </a:t>
            </a:r>
            <a:r>
              <a:rPr lang="en-CA" sz="1100" b="1" dirty="0"/>
              <a:t>inhibited compared to control</a:t>
            </a:r>
            <a:r>
              <a:rPr lang="en-CA" sz="1100" dirty="0"/>
              <a:t>, and tumour volume stays </a:t>
            </a:r>
            <a:r>
              <a:rPr lang="en-CA" sz="1100" b="1" dirty="0"/>
              <a:t>stable</a:t>
            </a:r>
            <a:r>
              <a:rPr lang="en-CA" sz="1100" dirty="0"/>
              <a:t>.</a:t>
            </a:r>
          </a:p>
          <a:p>
            <a:pPr marL="0" lvl="2"/>
            <a:r>
              <a:rPr lang="en-CA" sz="1100" b="1" dirty="0"/>
              <a:t>Category 4</a:t>
            </a:r>
            <a:r>
              <a:rPr lang="en-CA" sz="1100" dirty="0"/>
              <a:t>: tumour growth is </a:t>
            </a:r>
            <a:r>
              <a:rPr lang="en-CA" sz="1100" b="1" dirty="0"/>
              <a:t>inhibited compared to control</a:t>
            </a:r>
            <a:r>
              <a:rPr lang="en-CA" sz="1100" dirty="0"/>
              <a:t>, and tumour volume is </a:t>
            </a:r>
            <a:r>
              <a:rPr lang="en-CA" sz="1100" b="1" dirty="0"/>
              <a:t>shrinking</a:t>
            </a:r>
            <a:r>
              <a:rPr lang="en-CA" sz="1100" dirty="0"/>
              <a:t>.</a:t>
            </a:r>
          </a:p>
          <a:p>
            <a:pPr marL="0" lvl="2"/>
            <a:r>
              <a:rPr lang="en-CA" sz="1100" b="1" dirty="0"/>
              <a:t>Category 5</a:t>
            </a:r>
            <a:r>
              <a:rPr lang="en-CA" sz="1100" dirty="0"/>
              <a:t>: tumour growth is </a:t>
            </a:r>
            <a:r>
              <a:rPr lang="en-CA" sz="1100" b="1" dirty="0"/>
              <a:t>inhibited compared to control</a:t>
            </a:r>
            <a:r>
              <a:rPr lang="en-CA" sz="1100" dirty="0"/>
              <a:t>, and tumour </a:t>
            </a:r>
            <a:r>
              <a:rPr lang="en-CA" sz="1100" b="1" dirty="0"/>
              <a:t>disappeared</a:t>
            </a:r>
            <a:r>
              <a:rPr lang="en-CA" sz="1100" dirty="0"/>
              <a:t> during treatment.</a:t>
            </a:r>
            <a:br>
              <a:rPr lang="en-CA" sz="1100" dirty="0"/>
            </a:br>
            <a:endParaRPr lang="en-US" sz="1100" dirty="0"/>
          </a:p>
        </p:txBody>
      </p:sp>
      <p:sp>
        <p:nvSpPr>
          <p:cNvPr id="17" name="TextBox 16">
            <a:extLst>
              <a:ext uri="{FF2B5EF4-FFF2-40B4-BE49-F238E27FC236}">
                <a16:creationId xmlns:a16="http://schemas.microsoft.com/office/drawing/2014/main" id="{AF101C14-78C8-A80D-CD10-5D9F9DBCD4AB}"/>
              </a:ext>
            </a:extLst>
          </p:cNvPr>
          <p:cNvSpPr txBox="1"/>
          <p:nvPr/>
        </p:nvSpPr>
        <p:spPr>
          <a:xfrm>
            <a:off x="63116" y="4408882"/>
            <a:ext cx="645459" cy="307777"/>
          </a:xfrm>
          <a:prstGeom prst="rect">
            <a:avLst/>
          </a:prstGeom>
          <a:noFill/>
        </p:spPr>
        <p:txBody>
          <a:bodyPr wrap="square" rtlCol="0">
            <a:spAutoFit/>
          </a:bodyPr>
          <a:lstStyle/>
          <a:p>
            <a:r>
              <a:rPr lang="en-US" sz="1400" b="1" dirty="0"/>
              <a:t>c</a:t>
            </a:r>
          </a:p>
        </p:txBody>
      </p:sp>
      <p:sp>
        <p:nvSpPr>
          <p:cNvPr id="18" name="TextBox 17">
            <a:extLst>
              <a:ext uri="{FF2B5EF4-FFF2-40B4-BE49-F238E27FC236}">
                <a16:creationId xmlns:a16="http://schemas.microsoft.com/office/drawing/2014/main" id="{AF879CBB-C9E9-B8BD-BCA7-05864721A7D8}"/>
              </a:ext>
            </a:extLst>
          </p:cNvPr>
          <p:cNvSpPr txBox="1"/>
          <p:nvPr/>
        </p:nvSpPr>
        <p:spPr>
          <a:xfrm>
            <a:off x="51718" y="-7125"/>
            <a:ext cx="645459" cy="307777"/>
          </a:xfrm>
          <a:prstGeom prst="rect">
            <a:avLst/>
          </a:prstGeom>
          <a:noFill/>
        </p:spPr>
        <p:txBody>
          <a:bodyPr wrap="square" rtlCol="0">
            <a:spAutoFit/>
          </a:bodyPr>
          <a:lstStyle/>
          <a:p>
            <a:r>
              <a:rPr lang="en-US" sz="1400" b="1" dirty="0"/>
              <a:t>a</a:t>
            </a:r>
          </a:p>
        </p:txBody>
      </p:sp>
      <p:sp>
        <p:nvSpPr>
          <p:cNvPr id="19" name="TextBox 18">
            <a:extLst>
              <a:ext uri="{FF2B5EF4-FFF2-40B4-BE49-F238E27FC236}">
                <a16:creationId xmlns:a16="http://schemas.microsoft.com/office/drawing/2014/main" id="{8FACA28C-B79A-A78F-7255-9A527AC77A8C}"/>
              </a:ext>
            </a:extLst>
          </p:cNvPr>
          <p:cNvSpPr txBox="1"/>
          <p:nvPr/>
        </p:nvSpPr>
        <p:spPr>
          <a:xfrm>
            <a:off x="280136" y="27596"/>
            <a:ext cx="9134693" cy="276999"/>
          </a:xfrm>
          <a:prstGeom prst="rect">
            <a:avLst/>
          </a:prstGeom>
          <a:noFill/>
        </p:spPr>
        <p:txBody>
          <a:bodyPr wrap="square" rtlCol="0">
            <a:spAutoFit/>
          </a:bodyPr>
          <a:lstStyle/>
          <a:p>
            <a:r>
              <a:rPr lang="en-US" sz="1200" dirty="0"/>
              <a:t>Drug sensitivity categorization criteria provided to panel of experts </a:t>
            </a:r>
          </a:p>
        </p:txBody>
      </p:sp>
      <p:sp>
        <p:nvSpPr>
          <p:cNvPr id="20" name="TextBox 19">
            <a:extLst>
              <a:ext uri="{FF2B5EF4-FFF2-40B4-BE49-F238E27FC236}">
                <a16:creationId xmlns:a16="http://schemas.microsoft.com/office/drawing/2014/main" id="{23114E05-4EF7-31B6-E963-81FAFE17CF88}"/>
              </a:ext>
            </a:extLst>
          </p:cNvPr>
          <p:cNvSpPr txBox="1"/>
          <p:nvPr/>
        </p:nvSpPr>
        <p:spPr>
          <a:xfrm>
            <a:off x="47715" y="2494886"/>
            <a:ext cx="645459" cy="307777"/>
          </a:xfrm>
          <a:prstGeom prst="rect">
            <a:avLst/>
          </a:prstGeom>
          <a:noFill/>
        </p:spPr>
        <p:txBody>
          <a:bodyPr wrap="square" rtlCol="0">
            <a:spAutoFit/>
          </a:bodyPr>
          <a:lstStyle/>
          <a:p>
            <a:r>
              <a:rPr lang="en-US" sz="1400" b="1" dirty="0"/>
              <a:t>b</a:t>
            </a:r>
          </a:p>
        </p:txBody>
      </p:sp>
      <p:graphicFrame>
        <p:nvGraphicFramePr>
          <p:cNvPr id="21" name="Table 20">
            <a:extLst>
              <a:ext uri="{FF2B5EF4-FFF2-40B4-BE49-F238E27FC236}">
                <a16:creationId xmlns:a16="http://schemas.microsoft.com/office/drawing/2014/main" id="{D612FCCA-58D2-264B-CE0B-7C93A95626EF}"/>
              </a:ext>
            </a:extLst>
          </p:cNvPr>
          <p:cNvGraphicFramePr>
            <a:graphicFrameLocks noGrp="1"/>
          </p:cNvGraphicFramePr>
          <p:nvPr>
            <p:extLst>
              <p:ext uri="{D42A27DB-BD31-4B8C-83A1-F6EECF244321}">
                <p14:modId xmlns:p14="http://schemas.microsoft.com/office/powerpoint/2010/main" val="3694875170"/>
              </p:ext>
            </p:extLst>
          </p:nvPr>
        </p:nvGraphicFramePr>
        <p:xfrm>
          <a:off x="500642" y="3011393"/>
          <a:ext cx="5838825" cy="1390650"/>
        </p:xfrm>
        <a:graphic>
          <a:graphicData uri="http://schemas.openxmlformats.org/drawingml/2006/table">
            <a:tbl>
              <a:tblPr>
                <a:tableStyleId>{5C22544A-7EE6-4342-B048-85BDC9FD1C3A}</a:tableStyleId>
              </a:tblPr>
              <a:tblGrid>
                <a:gridCol w="1076325">
                  <a:extLst>
                    <a:ext uri="{9D8B030D-6E8A-4147-A177-3AD203B41FA5}">
                      <a16:colId xmlns:a16="http://schemas.microsoft.com/office/drawing/2014/main" val="3786986377"/>
                    </a:ext>
                  </a:extLst>
                </a:gridCol>
                <a:gridCol w="790575">
                  <a:extLst>
                    <a:ext uri="{9D8B030D-6E8A-4147-A177-3AD203B41FA5}">
                      <a16:colId xmlns:a16="http://schemas.microsoft.com/office/drawing/2014/main" val="3387928180"/>
                    </a:ext>
                  </a:extLst>
                </a:gridCol>
                <a:gridCol w="847725">
                  <a:extLst>
                    <a:ext uri="{9D8B030D-6E8A-4147-A177-3AD203B41FA5}">
                      <a16:colId xmlns:a16="http://schemas.microsoft.com/office/drawing/2014/main" val="3597018781"/>
                    </a:ext>
                  </a:extLst>
                </a:gridCol>
                <a:gridCol w="790575">
                  <a:extLst>
                    <a:ext uri="{9D8B030D-6E8A-4147-A177-3AD203B41FA5}">
                      <a16:colId xmlns:a16="http://schemas.microsoft.com/office/drawing/2014/main" val="2678992680"/>
                    </a:ext>
                  </a:extLst>
                </a:gridCol>
                <a:gridCol w="800100">
                  <a:extLst>
                    <a:ext uri="{9D8B030D-6E8A-4147-A177-3AD203B41FA5}">
                      <a16:colId xmlns:a16="http://schemas.microsoft.com/office/drawing/2014/main" val="2893791960"/>
                    </a:ext>
                  </a:extLst>
                </a:gridCol>
                <a:gridCol w="847725">
                  <a:extLst>
                    <a:ext uri="{9D8B030D-6E8A-4147-A177-3AD203B41FA5}">
                      <a16:colId xmlns:a16="http://schemas.microsoft.com/office/drawing/2014/main" val="2336869789"/>
                    </a:ext>
                  </a:extLst>
                </a:gridCol>
                <a:gridCol w="685800">
                  <a:extLst>
                    <a:ext uri="{9D8B030D-6E8A-4147-A177-3AD203B41FA5}">
                      <a16:colId xmlns:a16="http://schemas.microsoft.com/office/drawing/2014/main" val="2972452092"/>
                    </a:ext>
                  </a:extLst>
                </a:gridCol>
              </a:tblGrid>
              <a:tr h="230864">
                <a:tc>
                  <a:txBody>
                    <a:bodyPr/>
                    <a:lstStyle/>
                    <a:p>
                      <a:pPr fontAlgn="t">
                        <a:buNone/>
                      </a:pPr>
                      <a:r>
                        <a:rPr lang="en-CA" sz="1200">
                          <a:effectLst/>
                        </a:rPr>
                        <a:t> </a:t>
                      </a:r>
                    </a:p>
                  </a:txBody>
                  <a:tcPr marL="95250" marR="95250" marT="47625" marB="47625"/>
                </a:tc>
                <a:tc>
                  <a:txBody>
                    <a:bodyPr/>
                    <a:lstStyle/>
                    <a:p>
                      <a:pPr algn="ctr" rtl="0" fontAlgn="t">
                        <a:buNone/>
                      </a:pPr>
                      <a:r>
                        <a:rPr lang="en-CA" sz="1200" u="none" strike="noStrike">
                          <a:effectLst/>
                        </a:rPr>
                        <a:t>Cat_1</a:t>
                      </a:r>
                      <a:endParaRPr lang="en-CA" sz="1200">
                        <a:effectLst/>
                      </a:endParaRPr>
                    </a:p>
                  </a:txBody>
                  <a:tcPr marL="95250" marR="95250" marT="47625" marB="47625"/>
                </a:tc>
                <a:tc>
                  <a:txBody>
                    <a:bodyPr/>
                    <a:lstStyle/>
                    <a:p>
                      <a:pPr algn="ctr" rtl="0" fontAlgn="t">
                        <a:buNone/>
                      </a:pPr>
                      <a:r>
                        <a:rPr lang="en-CA" sz="1200" u="none" strike="noStrike">
                          <a:effectLst/>
                        </a:rPr>
                        <a:t>Cat_2</a:t>
                      </a:r>
                      <a:endParaRPr lang="en-CA" sz="1200">
                        <a:effectLst/>
                      </a:endParaRPr>
                    </a:p>
                  </a:txBody>
                  <a:tcPr marL="95250" marR="95250" marT="47625" marB="47625"/>
                </a:tc>
                <a:tc>
                  <a:txBody>
                    <a:bodyPr/>
                    <a:lstStyle/>
                    <a:p>
                      <a:pPr algn="ctr" rtl="0" fontAlgn="t">
                        <a:buNone/>
                      </a:pPr>
                      <a:r>
                        <a:rPr lang="en-CA" sz="1200" u="none" strike="noStrike" dirty="0">
                          <a:effectLst/>
                        </a:rPr>
                        <a:t>Cat_3</a:t>
                      </a:r>
                      <a:endParaRPr lang="en-CA" sz="1200" dirty="0">
                        <a:effectLst/>
                      </a:endParaRPr>
                    </a:p>
                  </a:txBody>
                  <a:tcPr marL="95250" marR="95250" marT="47625" marB="47625"/>
                </a:tc>
                <a:tc>
                  <a:txBody>
                    <a:bodyPr/>
                    <a:lstStyle/>
                    <a:p>
                      <a:pPr algn="ctr" rtl="0" fontAlgn="t">
                        <a:buNone/>
                      </a:pPr>
                      <a:r>
                        <a:rPr lang="en-CA" sz="1200" u="none" strike="noStrike">
                          <a:effectLst/>
                        </a:rPr>
                        <a:t>Cat_4</a:t>
                      </a:r>
                      <a:endParaRPr lang="en-CA" sz="1200">
                        <a:effectLst/>
                      </a:endParaRPr>
                    </a:p>
                  </a:txBody>
                  <a:tcPr marL="95250" marR="95250" marT="47625" marB="47625"/>
                </a:tc>
                <a:tc>
                  <a:txBody>
                    <a:bodyPr/>
                    <a:lstStyle/>
                    <a:p>
                      <a:pPr algn="ctr" rtl="0" fontAlgn="t">
                        <a:buNone/>
                      </a:pPr>
                      <a:r>
                        <a:rPr lang="en-CA" sz="1200" u="none" strike="noStrike">
                          <a:effectLst/>
                        </a:rPr>
                        <a:t>Cat_5</a:t>
                      </a:r>
                      <a:endParaRPr lang="en-CA" sz="1200">
                        <a:effectLst/>
                      </a:endParaRPr>
                    </a:p>
                  </a:txBody>
                  <a:tcPr marL="95250" marR="95250" marT="47625" marB="47625"/>
                </a:tc>
                <a:tc>
                  <a:txBody>
                    <a:bodyPr/>
                    <a:lstStyle/>
                    <a:p>
                      <a:pPr algn="ctr" rtl="0" fontAlgn="t">
                        <a:buNone/>
                      </a:pPr>
                      <a:r>
                        <a:rPr lang="en-CA" sz="1200" u="none" strike="noStrike" dirty="0">
                          <a:effectLst/>
                        </a:rPr>
                        <a:t>Total</a:t>
                      </a:r>
                      <a:endParaRPr lang="en-CA" sz="1200" dirty="0">
                        <a:effectLst/>
                      </a:endParaRPr>
                    </a:p>
                  </a:txBody>
                  <a:tcPr marL="95250" marR="95250" marT="47625" marB="47625"/>
                </a:tc>
                <a:extLst>
                  <a:ext uri="{0D108BD9-81ED-4DB2-BD59-A6C34878D82A}">
                    <a16:rowId xmlns:a16="http://schemas.microsoft.com/office/drawing/2014/main" val="383417880"/>
                  </a:ext>
                </a:extLst>
              </a:tr>
              <a:tr h="230864">
                <a:tc>
                  <a:txBody>
                    <a:bodyPr/>
                    <a:lstStyle/>
                    <a:p>
                      <a:pPr rtl="0" fontAlgn="t">
                        <a:buNone/>
                      </a:pPr>
                      <a:r>
                        <a:rPr lang="en-CA" sz="1200" u="none" strike="noStrike" dirty="0">
                          <a:effectLst/>
                        </a:rPr>
                        <a:t>Expert 1</a:t>
                      </a:r>
                      <a:endParaRPr lang="en-CA" sz="1200" dirty="0">
                        <a:effectLst/>
                      </a:endParaRPr>
                    </a:p>
                  </a:txBody>
                  <a:tcPr marL="95250" marR="95250" marT="47625" marB="47625"/>
                </a:tc>
                <a:tc>
                  <a:txBody>
                    <a:bodyPr/>
                    <a:lstStyle/>
                    <a:p>
                      <a:pPr algn="ctr" rtl="0" fontAlgn="t">
                        <a:buNone/>
                      </a:pPr>
                      <a:r>
                        <a:rPr lang="en-CA" sz="1200" u="none" strike="noStrike">
                          <a:effectLst/>
                        </a:rPr>
                        <a:t>233</a:t>
                      </a:r>
                      <a:endParaRPr lang="en-CA" sz="1200">
                        <a:effectLst/>
                      </a:endParaRPr>
                    </a:p>
                  </a:txBody>
                  <a:tcPr marL="95250" marR="95250" marT="47625" marB="47625"/>
                </a:tc>
                <a:tc>
                  <a:txBody>
                    <a:bodyPr/>
                    <a:lstStyle/>
                    <a:p>
                      <a:pPr algn="ctr" rtl="0" fontAlgn="t">
                        <a:buNone/>
                      </a:pPr>
                      <a:r>
                        <a:rPr lang="en-CA" sz="1200" u="none" strike="noStrike">
                          <a:effectLst/>
                        </a:rPr>
                        <a:t>435</a:t>
                      </a:r>
                      <a:endParaRPr lang="en-CA" sz="1200">
                        <a:effectLst/>
                      </a:endParaRPr>
                    </a:p>
                  </a:txBody>
                  <a:tcPr marL="95250" marR="95250" marT="47625" marB="47625"/>
                </a:tc>
                <a:tc>
                  <a:txBody>
                    <a:bodyPr/>
                    <a:lstStyle/>
                    <a:p>
                      <a:pPr algn="ctr" rtl="0" fontAlgn="t">
                        <a:buNone/>
                      </a:pPr>
                      <a:r>
                        <a:rPr lang="en-CA" sz="1200" u="none" strike="noStrike">
                          <a:effectLst/>
                        </a:rPr>
                        <a:t>282</a:t>
                      </a:r>
                      <a:endParaRPr lang="en-CA" sz="1200">
                        <a:effectLst/>
                      </a:endParaRPr>
                    </a:p>
                  </a:txBody>
                  <a:tcPr marL="95250" marR="95250" marT="47625" marB="47625"/>
                </a:tc>
                <a:tc>
                  <a:txBody>
                    <a:bodyPr/>
                    <a:lstStyle/>
                    <a:p>
                      <a:pPr algn="ctr" rtl="0" fontAlgn="t">
                        <a:buNone/>
                      </a:pPr>
                      <a:r>
                        <a:rPr lang="en-CA" sz="1200" u="none" strike="noStrike">
                          <a:effectLst/>
                        </a:rPr>
                        <a:t>250</a:t>
                      </a:r>
                      <a:endParaRPr lang="en-CA" sz="1200">
                        <a:effectLst/>
                      </a:endParaRPr>
                    </a:p>
                  </a:txBody>
                  <a:tcPr marL="95250" marR="95250" marT="47625" marB="47625"/>
                </a:tc>
                <a:tc>
                  <a:txBody>
                    <a:bodyPr/>
                    <a:lstStyle/>
                    <a:p>
                      <a:pPr algn="ctr" rtl="0" fontAlgn="t">
                        <a:buNone/>
                      </a:pPr>
                      <a:r>
                        <a:rPr lang="en-CA" sz="1200" u="none" strike="noStrike">
                          <a:effectLst/>
                        </a:rPr>
                        <a:t>100</a:t>
                      </a:r>
                      <a:endParaRPr lang="en-CA" sz="1200">
                        <a:effectLst/>
                      </a:endParaRPr>
                    </a:p>
                  </a:txBody>
                  <a:tcPr marL="95250" marR="95250" marT="47625" marB="47625"/>
                </a:tc>
                <a:tc>
                  <a:txBody>
                    <a:bodyPr/>
                    <a:lstStyle/>
                    <a:p>
                      <a:pPr algn="ctr" rtl="0" fontAlgn="t">
                        <a:buNone/>
                      </a:pPr>
                      <a:r>
                        <a:rPr lang="en-CA" sz="1200" u="none" strike="noStrike" dirty="0">
                          <a:effectLst/>
                        </a:rPr>
                        <a:t>1300</a:t>
                      </a:r>
                      <a:endParaRPr lang="en-CA" sz="1200" dirty="0">
                        <a:effectLst/>
                      </a:endParaRPr>
                    </a:p>
                  </a:txBody>
                  <a:tcPr marL="95250" marR="95250" marT="47625" marB="47625"/>
                </a:tc>
                <a:extLst>
                  <a:ext uri="{0D108BD9-81ED-4DB2-BD59-A6C34878D82A}">
                    <a16:rowId xmlns:a16="http://schemas.microsoft.com/office/drawing/2014/main" val="1272847083"/>
                  </a:ext>
                </a:extLst>
              </a:tr>
              <a:tr h="230864">
                <a:tc>
                  <a:txBody>
                    <a:bodyPr/>
                    <a:lstStyle/>
                    <a:p>
                      <a:pPr rtl="0" fontAlgn="t">
                        <a:buNone/>
                      </a:pPr>
                      <a:r>
                        <a:rPr lang="en-CA" sz="1200" u="none" strike="noStrike">
                          <a:effectLst/>
                        </a:rPr>
                        <a:t>Expert 2</a:t>
                      </a:r>
                      <a:endParaRPr lang="en-CA" sz="1200">
                        <a:effectLst/>
                      </a:endParaRPr>
                    </a:p>
                  </a:txBody>
                  <a:tcPr marL="95250" marR="95250" marT="47625" marB="47625"/>
                </a:tc>
                <a:tc>
                  <a:txBody>
                    <a:bodyPr/>
                    <a:lstStyle/>
                    <a:p>
                      <a:pPr algn="ctr" rtl="0" fontAlgn="t">
                        <a:buNone/>
                      </a:pPr>
                      <a:r>
                        <a:rPr lang="en-CA" sz="1200" u="none" strike="noStrike" dirty="0">
                          <a:effectLst/>
                        </a:rPr>
                        <a:t>255</a:t>
                      </a:r>
                      <a:endParaRPr lang="en-CA" sz="1200" dirty="0">
                        <a:effectLst/>
                      </a:endParaRPr>
                    </a:p>
                  </a:txBody>
                  <a:tcPr marL="95250" marR="95250" marT="47625" marB="47625"/>
                </a:tc>
                <a:tc>
                  <a:txBody>
                    <a:bodyPr/>
                    <a:lstStyle/>
                    <a:p>
                      <a:pPr algn="ctr" rtl="0" fontAlgn="t">
                        <a:buNone/>
                      </a:pPr>
                      <a:r>
                        <a:rPr lang="en-CA" sz="1200" u="none" strike="noStrike">
                          <a:effectLst/>
                        </a:rPr>
                        <a:t>423</a:t>
                      </a:r>
                      <a:endParaRPr lang="en-CA" sz="1200">
                        <a:effectLst/>
                      </a:endParaRPr>
                    </a:p>
                  </a:txBody>
                  <a:tcPr marL="95250" marR="95250" marT="47625" marB="47625"/>
                </a:tc>
                <a:tc>
                  <a:txBody>
                    <a:bodyPr/>
                    <a:lstStyle/>
                    <a:p>
                      <a:pPr algn="ctr" rtl="0" fontAlgn="t">
                        <a:buNone/>
                      </a:pPr>
                      <a:r>
                        <a:rPr lang="en-CA" sz="1200" u="none" strike="noStrike">
                          <a:effectLst/>
                        </a:rPr>
                        <a:t>362</a:t>
                      </a:r>
                      <a:endParaRPr lang="en-CA" sz="1200">
                        <a:effectLst/>
                      </a:endParaRPr>
                    </a:p>
                  </a:txBody>
                  <a:tcPr marL="95250" marR="95250" marT="47625" marB="47625"/>
                </a:tc>
                <a:tc>
                  <a:txBody>
                    <a:bodyPr/>
                    <a:lstStyle/>
                    <a:p>
                      <a:pPr algn="ctr" rtl="0" fontAlgn="t">
                        <a:buNone/>
                      </a:pPr>
                      <a:r>
                        <a:rPr lang="en-CA" sz="1200" u="none" strike="noStrike">
                          <a:effectLst/>
                        </a:rPr>
                        <a:t>233</a:t>
                      </a:r>
                      <a:endParaRPr lang="en-CA" sz="1200">
                        <a:effectLst/>
                      </a:endParaRPr>
                    </a:p>
                  </a:txBody>
                  <a:tcPr marL="95250" marR="95250" marT="47625" marB="47625"/>
                </a:tc>
                <a:tc>
                  <a:txBody>
                    <a:bodyPr/>
                    <a:lstStyle/>
                    <a:p>
                      <a:pPr algn="ctr" rtl="0" fontAlgn="t">
                        <a:buNone/>
                      </a:pPr>
                      <a:r>
                        <a:rPr lang="en-CA" sz="1200" u="none" strike="noStrike">
                          <a:effectLst/>
                        </a:rPr>
                        <a:t>24</a:t>
                      </a:r>
                      <a:endParaRPr lang="en-CA" sz="1200">
                        <a:effectLst/>
                      </a:endParaRPr>
                    </a:p>
                  </a:txBody>
                  <a:tcPr marL="95250" marR="95250" marT="47625" marB="47625"/>
                </a:tc>
                <a:tc>
                  <a:txBody>
                    <a:bodyPr/>
                    <a:lstStyle/>
                    <a:p>
                      <a:pPr algn="ctr" rtl="0" fontAlgn="t">
                        <a:buNone/>
                      </a:pPr>
                      <a:r>
                        <a:rPr lang="en-CA" sz="1200" u="none" strike="noStrike">
                          <a:effectLst/>
                        </a:rPr>
                        <a:t>1300</a:t>
                      </a:r>
                      <a:endParaRPr lang="en-CA" sz="1200">
                        <a:effectLst/>
                      </a:endParaRPr>
                    </a:p>
                  </a:txBody>
                  <a:tcPr marL="95250" marR="95250" marT="47625" marB="47625"/>
                </a:tc>
                <a:extLst>
                  <a:ext uri="{0D108BD9-81ED-4DB2-BD59-A6C34878D82A}">
                    <a16:rowId xmlns:a16="http://schemas.microsoft.com/office/drawing/2014/main" val="2821578875"/>
                  </a:ext>
                </a:extLst>
              </a:tr>
              <a:tr h="230864">
                <a:tc>
                  <a:txBody>
                    <a:bodyPr/>
                    <a:lstStyle/>
                    <a:p>
                      <a:pPr rtl="0" fontAlgn="t">
                        <a:buNone/>
                      </a:pPr>
                      <a:r>
                        <a:rPr lang="en-CA" sz="1200" u="none" strike="noStrike">
                          <a:effectLst/>
                        </a:rPr>
                        <a:t>Expert 3</a:t>
                      </a:r>
                      <a:endParaRPr lang="en-CA" sz="1200">
                        <a:effectLst/>
                      </a:endParaRPr>
                    </a:p>
                  </a:txBody>
                  <a:tcPr marL="95250" marR="95250" marT="47625" marB="47625"/>
                </a:tc>
                <a:tc>
                  <a:txBody>
                    <a:bodyPr/>
                    <a:lstStyle/>
                    <a:p>
                      <a:pPr algn="ctr" rtl="0" fontAlgn="t">
                        <a:buNone/>
                      </a:pPr>
                      <a:r>
                        <a:rPr lang="en-CA" sz="1200" u="none" strike="noStrike">
                          <a:effectLst/>
                        </a:rPr>
                        <a:t>387</a:t>
                      </a:r>
                      <a:endParaRPr lang="en-CA" sz="1200">
                        <a:effectLst/>
                      </a:endParaRPr>
                    </a:p>
                  </a:txBody>
                  <a:tcPr marL="95250" marR="95250" marT="47625" marB="47625"/>
                </a:tc>
                <a:tc>
                  <a:txBody>
                    <a:bodyPr/>
                    <a:lstStyle/>
                    <a:p>
                      <a:pPr algn="ctr" rtl="0" fontAlgn="t">
                        <a:buNone/>
                      </a:pPr>
                      <a:r>
                        <a:rPr lang="en-CA" sz="1200" u="none" strike="noStrike">
                          <a:effectLst/>
                        </a:rPr>
                        <a:t>289</a:t>
                      </a:r>
                      <a:endParaRPr lang="en-CA" sz="1200">
                        <a:effectLst/>
                      </a:endParaRPr>
                    </a:p>
                  </a:txBody>
                  <a:tcPr marL="95250" marR="95250" marT="47625" marB="47625"/>
                </a:tc>
                <a:tc>
                  <a:txBody>
                    <a:bodyPr/>
                    <a:lstStyle/>
                    <a:p>
                      <a:pPr algn="ctr" rtl="0" fontAlgn="t">
                        <a:buNone/>
                      </a:pPr>
                      <a:r>
                        <a:rPr lang="en-CA" sz="1200" u="none" strike="noStrike">
                          <a:effectLst/>
                        </a:rPr>
                        <a:t>300</a:t>
                      </a:r>
                      <a:endParaRPr lang="en-CA" sz="1200">
                        <a:effectLst/>
                      </a:endParaRPr>
                    </a:p>
                  </a:txBody>
                  <a:tcPr marL="95250" marR="95250" marT="47625" marB="47625"/>
                </a:tc>
                <a:tc>
                  <a:txBody>
                    <a:bodyPr/>
                    <a:lstStyle/>
                    <a:p>
                      <a:pPr algn="ctr" rtl="0" fontAlgn="t">
                        <a:buNone/>
                      </a:pPr>
                      <a:r>
                        <a:rPr lang="en-CA" sz="1200" u="none" strike="noStrike">
                          <a:effectLst/>
                        </a:rPr>
                        <a:t>174</a:t>
                      </a:r>
                      <a:endParaRPr lang="en-CA" sz="1200">
                        <a:effectLst/>
                      </a:endParaRPr>
                    </a:p>
                  </a:txBody>
                  <a:tcPr marL="95250" marR="95250" marT="47625" marB="47625"/>
                </a:tc>
                <a:tc>
                  <a:txBody>
                    <a:bodyPr/>
                    <a:lstStyle/>
                    <a:p>
                      <a:pPr algn="ctr" rtl="0" fontAlgn="t">
                        <a:buNone/>
                      </a:pPr>
                      <a:r>
                        <a:rPr lang="en-CA" sz="1200" u="none" strike="noStrike">
                          <a:effectLst/>
                        </a:rPr>
                        <a:t>139</a:t>
                      </a:r>
                      <a:endParaRPr lang="en-CA" sz="1200">
                        <a:effectLst/>
                      </a:endParaRPr>
                    </a:p>
                  </a:txBody>
                  <a:tcPr marL="95250" marR="95250" marT="47625" marB="47625"/>
                </a:tc>
                <a:tc>
                  <a:txBody>
                    <a:bodyPr/>
                    <a:lstStyle/>
                    <a:p>
                      <a:pPr algn="ctr" rtl="0" fontAlgn="t">
                        <a:buNone/>
                      </a:pPr>
                      <a:r>
                        <a:rPr lang="en-CA" sz="1200" u="none" strike="noStrike">
                          <a:effectLst/>
                        </a:rPr>
                        <a:t>1300</a:t>
                      </a:r>
                      <a:endParaRPr lang="en-CA" sz="1200">
                        <a:effectLst/>
                      </a:endParaRPr>
                    </a:p>
                  </a:txBody>
                  <a:tcPr marL="95250" marR="95250" marT="47625" marB="47625"/>
                </a:tc>
                <a:extLst>
                  <a:ext uri="{0D108BD9-81ED-4DB2-BD59-A6C34878D82A}">
                    <a16:rowId xmlns:a16="http://schemas.microsoft.com/office/drawing/2014/main" val="2701244322"/>
                  </a:ext>
                </a:extLst>
              </a:tr>
              <a:tr h="230864">
                <a:tc>
                  <a:txBody>
                    <a:bodyPr/>
                    <a:lstStyle/>
                    <a:p>
                      <a:pPr rtl="0" fontAlgn="t">
                        <a:buNone/>
                      </a:pPr>
                      <a:r>
                        <a:rPr lang="en-CA" sz="1200" u="none" strike="noStrike">
                          <a:effectLst/>
                        </a:rPr>
                        <a:t>Consensus</a:t>
                      </a:r>
                      <a:endParaRPr lang="en-CA" sz="1200">
                        <a:effectLst/>
                      </a:endParaRPr>
                    </a:p>
                  </a:txBody>
                  <a:tcPr marL="95250" marR="95250" marT="47625" marB="47625"/>
                </a:tc>
                <a:tc>
                  <a:txBody>
                    <a:bodyPr/>
                    <a:lstStyle/>
                    <a:p>
                      <a:pPr algn="ctr" rtl="0" fontAlgn="t">
                        <a:buNone/>
                      </a:pPr>
                      <a:r>
                        <a:rPr lang="en-CA" sz="1200" u="none" strike="noStrike">
                          <a:effectLst/>
                        </a:rPr>
                        <a:t>305</a:t>
                      </a:r>
                      <a:endParaRPr lang="en-CA" sz="1200">
                        <a:effectLst/>
                      </a:endParaRPr>
                    </a:p>
                  </a:txBody>
                  <a:tcPr marL="95250" marR="95250" marT="47625" marB="47625"/>
                </a:tc>
                <a:tc>
                  <a:txBody>
                    <a:bodyPr/>
                    <a:lstStyle/>
                    <a:p>
                      <a:pPr algn="ctr" rtl="0" fontAlgn="t">
                        <a:buNone/>
                      </a:pPr>
                      <a:r>
                        <a:rPr lang="en-CA" sz="1200" u="none" strike="noStrike">
                          <a:effectLst/>
                        </a:rPr>
                        <a:t>359</a:t>
                      </a:r>
                      <a:endParaRPr lang="en-CA" sz="1200">
                        <a:effectLst/>
                      </a:endParaRPr>
                    </a:p>
                  </a:txBody>
                  <a:tcPr marL="95250" marR="95250" marT="47625" marB="47625"/>
                </a:tc>
                <a:tc>
                  <a:txBody>
                    <a:bodyPr/>
                    <a:lstStyle/>
                    <a:p>
                      <a:pPr algn="ctr" rtl="0" fontAlgn="t">
                        <a:buNone/>
                      </a:pPr>
                      <a:r>
                        <a:rPr lang="en-CA" sz="1200" u="none" strike="noStrike" dirty="0">
                          <a:effectLst/>
                        </a:rPr>
                        <a:t>299</a:t>
                      </a:r>
                      <a:endParaRPr lang="en-CA" sz="1200" dirty="0">
                        <a:effectLst/>
                      </a:endParaRPr>
                    </a:p>
                  </a:txBody>
                  <a:tcPr marL="95250" marR="95250" marT="47625" marB="47625"/>
                </a:tc>
                <a:tc>
                  <a:txBody>
                    <a:bodyPr/>
                    <a:lstStyle/>
                    <a:p>
                      <a:pPr algn="ctr" rtl="0" fontAlgn="t">
                        <a:buNone/>
                      </a:pPr>
                      <a:r>
                        <a:rPr lang="en-CA" sz="1200" u="none" strike="noStrike">
                          <a:effectLst/>
                        </a:rPr>
                        <a:t>213</a:t>
                      </a:r>
                      <a:endParaRPr lang="en-CA" sz="1200">
                        <a:effectLst/>
                      </a:endParaRPr>
                    </a:p>
                  </a:txBody>
                  <a:tcPr marL="95250" marR="95250" marT="47625" marB="47625"/>
                </a:tc>
                <a:tc>
                  <a:txBody>
                    <a:bodyPr/>
                    <a:lstStyle/>
                    <a:p>
                      <a:pPr algn="ctr" rtl="0" fontAlgn="t">
                        <a:buNone/>
                      </a:pPr>
                      <a:r>
                        <a:rPr lang="en-CA" sz="1200" u="none" strike="noStrike">
                          <a:effectLst/>
                        </a:rPr>
                        <a:t>91</a:t>
                      </a:r>
                      <a:endParaRPr lang="en-CA" sz="1200">
                        <a:effectLst/>
                      </a:endParaRPr>
                    </a:p>
                  </a:txBody>
                  <a:tcPr marL="95250" marR="95250" marT="47625" marB="47625"/>
                </a:tc>
                <a:tc>
                  <a:txBody>
                    <a:bodyPr/>
                    <a:lstStyle/>
                    <a:p>
                      <a:pPr algn="ctr" rtl="0" fontAlgn="t">
                        <a:buNone/>
                      </a:pPr>
                      <a:r>
                        <a:rPr lang="en-CA" sz="1200" u="none" strike="noStrike" dirty="0">
                          <a:effectLst/>
                        </a:rPr>
                        <a:t>1267</a:t>
                      </a:r>
                      <a:endParaRPr lang="en-CA" sz="1200" dirty="0">
                        <a:effectLst/>
                      </a:endParaRPr>
                    </a:p>
                  </a:txBody>
                  <a:tcPr marL="95250" marR="95250" marT="47625" marB="47625"/>
                </a:tc>
                <a:extLst>
                  <a:ext uri="{0D108BD9-81ED-4DB2-BD59-A6C34878D82A}">
                    <a16:rowId xmlns:a16="http://schemas.microsoft.com/office/drawing/2014/main" val="1725633743"/>
                  </a:ext>
                </a:extLst>
              </a:tr>
            </a:tbl>
          </a:graphicData>
        </a:graphic>
      </p:graphicFrame>
      <p:sp>
        <p:nvSpPr>
          <p:cNvPr id="22" name="Right Triangle 21">
            <a:extLst>
              <a:ext uri="{FF2B5EF4-FFF2-40B4-BE49-F238E27FC236}">
                <a16:creationId xmlns:a16="http://schemas.microsoft.com/office/drawing/2014/main" id="{084314E4-24CD-D01B-20CF-6D112C33D91F}"/>
              </a:ext>
            </a:extLst>
          </p:cNvPr>
          <p:cNvSpPr/>
          <p:nvPr/>
        </p:nvSpPr>
        <p:spPr>
          <a:xfrm flipH="1">
            <a:off x="1657349" y="2521110"/>
            <a:ext cx="3986213" cy="359667"/>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200" dirty="0"/>
          </a:p>
        </p:txBody>
      </p:sp>
      <p:sp>
        <p:nvSpPr>
          <p:cNvPr id="23" name="TextBox 22">
            <a:extLst>
              <a:ext uri="{FF2B5EF4-FFF2-40B4-BE49-F238E27FC236}">
                <a16:creationId xmlns:a16="http://schemas.microsoft.com/office/drawing/2014/main" id="{FA622435-24A6-87F4-6979-0CE777D1F012}"/>
              </a:ext>
            </a:extLst>
          </p:cNvPr>
          <p:cNvSpPr txBox="1"/>
          <p:nvPr/>
        </p:nvSpPr>
        <p:spPr>
          <a:xfrm>
            <a:off x="4382159" y="2607241"/>
            <a:ext cx="2125345" cy="276999"/>
          </a:xfrm>
          <a:prstGeom prst="rect">
            <a:avLst/>
          </a:prstGeom>
          <a:noFill/>
        </p:spPr>
        <p:txBody>
          <a:bodyPr wrap="square" rtlCol="0">
            <a:spAutoFit/>
          </a:bodyPr>
          <a:lstStyle/>
          <a:p>
            <a:r>
              <a:rPr lang="en-US" sz="1200" dirty="0">
                <a:solidFill>
                  <a:schemeClr val="bg1"/>
                </a:solidFill>
              </a:rPr>
              <a:t>Drug Sensitivity</a:t>
            </a:r>
          </a:p>
        </p:txBody>
      </p:sp>
      <p:pic>
        <p:nvPicPr>
          <p:cNvPr id="2" name="Picture 1">
            <a:extLst>
              <a:ext uri="{FF2B5EF4-FFF2-40B4-BE49-F238E27FC236}">
                <a16:creationId xmlns:a16="http://schemas.microsoft.com/office/drawing/2014/main" id="{0A4E74CF-6271-435A-E5AC-3E7E1312EBDB}"/>
              </a:ext>
            </a:extLst>
          </p:cNvPr>
          <p:cNvPicPr>
            <a:picLocks noChangeAspect="1"/>
          </p:cNvPicPr>
          <p:nvPr/>
        </p:nvPicPr>
        <p:blipFill>
          <a:blip r:embed="rId12"/>
          <a:stretch>
            <a:fillRect/>
          </a:stretch>
        </p:blipFill>
        <p:spPr>
          <a:xfrm>
            <a:off x="137173" y="7598245"/>
            <a:ext cx="2510544" cy="1555204"/>
          </a:xfrm>
          <a:prstGeom prst="rect">
            <a:avLst/>
          </a:prstGeom>
        </p:spPr>
      </p:pic>
      <p:sp>
        <p:nvSpPr>
          <p:cNvPr id="3" name="TextBox 2">
            <a:extLst>
              <a:ext uri="{FF2B5EF4-FFF2-40B4-BE49-F238E27FC236}">
                <a16:creationId xmlns:a16="http://schemas.microsoft.com/office/drawing/2014/main" id="{8CD17415-71C2-3632-D1A3-0894ED4C4EFC}"/>
              </a:ext>
            </a:extLst>
          </p:cNvPr>
          <p:cNvSpPr txBox="1"/>
          <p:nvPr/>
        </p:nvSpPr>
        <p:spPr>
          <a:xfrm>
            <a:off x="51717" y="7444356"/>
            <a:ext cx="645459" cy="307777"/>
          </a:xfrm>
          <a:prstGeom prst="rect">
            <a:avLst/>
          </a:prstGeom>
          <a:noFill/>
        </p:spPr>
        <p:txBody>
          <a:bodyPr wrap="square" rtlCol="0">
            <a:spAutoFit/>
          </a:bodyPr>
          <a:lstStyle/>
          <a:p>
            <a:r>
              <a:rPr lang="en-US" sz="1400" b="1" dirty="0"/>
              <a:t>d</a:t>
            </a:r>
          </a:p>
        </p:txBody>
      </p:sp>
    </p:spTree>
    <p:extLst>
      <p:ext uri="{BB962C8B-B14F-4D97-AF65-F5344CB8AC3E}">
        <p14:creationId xmlns:p14="http://schemas.microsoft.com/office/powerpoint/2010/main" val="582956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8487CAC-511D-CB03-7927-90F639454575}"/>
              </a:ext>
            </a:extLst>
          </p:cNvPr>
          <p:cNvSpPr txBox="1"/>
          <p:nvPr/>
        </p:nvSpPr>
        <p:spPr>
          <a:xfrm>
            <a:off x="0" y="0"/>
            <a:ext cx="6858000" cy="1446550"/>
          </a:xfrm>
          <a:prstGeom prst="rect">
            <a:avLst/>
          </a:prstGeom>
          <a:noFill/>
        </p:spPr>
        <p:txBody>
          <a:bodyPr wrap="square" rtlCol="0">
            <a:spAutoFit/>
          </a:bodyPr>
          <a:lstStyle/>
          <a:p>
            <a:r>
              <a:rPr lang="en-US" sz="1100" b="1" dirty="0"/>
              <a:t>Supplemental Figure 2</a:t>
            </a:r>
            <a:r>
              <a:rPr lang="en-US" sz="1100" dirty="0"/>
              <a:t>. ResNet18 training curves across cross-validation folds (case study 2). </a:t>
            </a:r>
          </a:p>
          <a:p>
            <a:r>
              <a:rPr lang="en-US" sz="1100" dirty="0"/>
              <a:t>(a) Drug sensitivity categorization criteria provided to panel of experts. (b) Rating from expert 1-3, and the consensus (majority voting) for each drug category. (c) Training/validation cross-entropy loss (left axis) and validation balanced accuracy (right axis) across epochs for each of the five outer cross-validation folds (Fold 0–4) used in the image-based drug-response classification; the checkpoint with the best validation balanced accuracy (star) in each fold was reloaded and used for evaluation on that fold's held-out test partition. (d) </a:t>
            </a:r>
            <a:r>
              <a:rPr lang="en-CA" sz="1100" dirty="0"/>
              <a:t>Random Forest feature importance (mean absolute SHAP value, stacked by response category) for the top 10 of thirteen engineered response features, ranked by total mean absolute SHAP across categories.</a:t>
            </a:r>
            <a:endParaRPr lang="en-US" sz="1100" dirty="0"/>
          </a:p>
        </p:txBody>
      </p:sp>
    </p:spTree>
    <p:extLst>
      <p:ext uri="{BB962C8B-B14F-4D97-AF65-F5344CB8AC3E}">
        <p14:creationId xmlns:p14="http://schemas.microsoft.com/office/powerpoint/2010/main" val="1646304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369C63-E563-D5D5-F1EB-FC43D6C651DC}"/>
              </a:ext>
            </a:extLst>
          </p:cNvPr>
          <p:cNvPicPr>
            <a:picLocks noChangeAspect="1"/>
          </p:cNvPicPr>
          <p:nvPr/>
        </p:nvPicPr>
        <p:blipFill>
          <a:blip r:embed="rId2"/>
          <a:stretch>
            <a:fillRect/>
          </a:stretch>
        </p:blipFill>
        <p:spPr>
          <a:xfrm>
            <a:off x="3829509" y="7688422"/>
            <a:ext cx="1863463" cy="1449360"/>
          </a:xfrm>
          <a:prstGeom prst="rect">
            <a:avLst/>
          </a:prstGeom>
        </p:spPr>
      </p:pic>
      <p:pic>
        <p:nvPicPr>
          <p:cNvPr id="5" name="Picture 4">
            <a:extLst>
              <a:ext uri="{FF2B5EF4-FFF2-40B4-BE49-F238E27FC236}">
                <a16:creationId xmlns:a16="http://schemas.microsoft.com/office/drawing/2014/main" id="{63116F25-508C-D432-1466-99066D393D58}"/>
              </a:ext>
            </a:extLst>
          </p:cNvPr>
          <p:cNvPicPr>
            <a:picLocks noChangeAspect="1"/>
          </p:cNvPicPr>
          <p:nvPr/>
        </p:nvPicPr>
        <p:blipFill>
          <a:blip r:embed="rId3"/>
          <a:stretch>
            <a:fillRect/>
          </a:stretch>
        </p:blipFill>
        <p:spPr>
          <a:xfrm>
            <a:off x="3008845" y="21085"/>
            <a:ext cx="2251868" cy="1598548"/>
          </a:xfrm>
          <a:prstGeom prst="rect">
            <a:avLst/>
          </a:prstGeom>
        </p:spPr>
      </p:pic>
      <p:pic>
        <p:nvPicPr>
          <p:cNvPr id="6" name="Picture 5">
            <a:extLst>
              <a:ext uri="{FF2B5EF4-FFF2-40B4-BE49-F238E27FC236}">
                <a16:creationId xmlns:a16="http://schemas.microsoft.com/office/drawing/2014/main" id="{29522104-288F-EE5F-3ED0-5B9821024FAE}"/>
              </a:ext>
            </a:extLst>
          </p:cNvPr>
          <p:cNvPicPr>
            <a:picLocks noChangeAspect="1"/>
          </p:cNvPicPr>
          <p:nvPr/>
        </p:nvPicPr>
        <p:blipFill>
          <a:blip r:embed="rId4"/>
          <a:stretch>
            <a:fillRect/>
          </a:stretch>
        </p:blipFill>
        <p:spPr>
          <a:xfrm>
            <a:off x="248892" y="4586531"/>
            <a:ext cx="5315049" cy="1543512"/>
          </a:xfrm>
          <a:prstGeom prst="rect">
            <a:avLst/>
          </a:prstGeom>
        </p:spPr>
      </p:pic>
      <p:pic>
        <p:nvPicPr>
          <p:cNvPr id="7" name="Picture 6">
            <a:extLst>
              <a:ext uri="{FF2B5EF4-FFF2-40B4-BE49-F238E27FC236}">
                <a16:creationId xmlns:a16="http://schemas.microsoft.com/office/drawing/2014/main" id="{B3F2803B-F04A-651E-6922-075282C21FA9}"/>
              </a:ext>
            </a:extLst>
          </p:cNvPr>
          <p:cNvPicPr>
            <a:picLocks noChangeAspect="1"/>
          </p:cNvPicPr>
          <p:nvPr/>
        </p:nvPicPr>
        <p:blipFill>
          <a:blip r:embed="rId5"/>
          <a:stretch>
            <a:fillRect/>
          </a:stretch>
        </p:blipFill>
        <p:spPr>
          <a:xfrm>
            <a:off x="248892" y="1626092"/>
            <a:ext cx="5421429" cy="2919231"/>
          </a:xfrm>
          <a:prstGeom prst="rect">
            <a:avLst/>
          </a:prstGeom>
        </p:spPr>
      </p:pic>
      <p:sp>
        <p:nvSpPr>
          <p:cNvPr id="8" name="TextBox 7">
            <a:extLst>
              <a:ext uri="{FF2B5EF4-FFF2-40B4-BE49-F238E27FC236}">
                <a16:creationId xmlns:a16="http://schemas.microsoft.com/office/drawing/2014/main" id="{5C345B78-E408-1838-5642-23AD0C7E87A3}"/>
              </a:ext>
            </a:extLst>
          </p:cNvPr>
          <p:cNvSpPr txBox="1"/>
          <p:nvPr/>
        </p:nvSpPr>
        <p:spPr>
          <a:xfrm>
            <a:off x="-5081" y="12374"/>
            <a:ext cx="335081" cy="276999"/>
          </a:xfrm>
          <a:prstGeom prst="rect">
            <a:avLst/>
          </a:prstGeom>
          <a:noFill/>
        </p:spPr>
        <p:txBody>
          <a:bodyPr wrap="square" rtlCol="0">
            <a:spAutoFit/>
          </a:bodyPr>
          <a:lstStyle/>
          <a:p>
            <a:r>
              <a:rPr lang="en-US" sz="1200" b="1" dirty="0"/>
              <a:t>a</a:t>
            </a:r>
          </a:p>
        </p:txBody>
      </p:sp>
      <p:sp>
        <p:nvSpPr>
          <p:cNvPr id="9" name="TextBox 8">
            <a:extLst>
              <a:ext uri="{FF2B5EF4-FFF2-40B4-BE49-F238E27FC236}">
                <a16:creationId xmlns:a16="http://schemas.microsoft.com/office/drawing/2014/main" id="{8A92AB38-DCC9-8466-53BC-DDDE1DE08174}"/>
              </a:ext>
            </a:extLst>
          </p:cNvPr>
          <p:cNvSpPr txBox="1"/>
          <p:nvPr/>
        </p:nvSpPr>
        <p:spPr>
          <a:xfrm>
            <a:off x="0" y="1638425"/>
            <a:ext cx="335081" cy="276999"/>
          </a:xfrm>
          <a:prstGeom prst="rect">
            <a:avLst/>
          </a:prstGeom>
          <a:noFill/>
        </p:spPr>
        <p:txBody>
          <a:bodyPr wrap="square" rtlCol="0">
            <a:spAutoFit/>
          </a:bodyPr>
          <a:lstStyle/>
          <a:p>
            <a:r>
              <a:rPr lang="en-US" sz="1200" b="1" dirty="0"/>
              <a:t>b</a:t>
            </a:r>
          </a:p>
        </p:txBody>
      </p:sp>
      <p:sp>
        <p:nvSpPr>
          <p:cNvPr id="10" name="TextBox 9">
            <a:extLst>
              <a:ext uri="{FF2B5EF4-FFF2-40B4-BE49-F238E27FC236}">
                <a16:creationId xmlns:a16="http://schemas.microsoft.com/office/drawing/2014/main" id="{860A8031-85DB-E264-E64A-DD1C7A274046}"/>
              </a:ext>
            </a:extLst>
          </p:cNvPr>
          <p:cNvSpPr txBox="1"/>
          <p:nvPr/>
        </p:nvSpPr>
        <p:spPr>
          <a:xfrm>
            <a:off x="0" y="4512528"/>
            <a:ext cx="335081" cy="276999"/>
          </a:xfrm>
          <a:prstGeom prst="rect">
            <a:avLst/>
          </a:prstGeom>
          <a:noFill/>
        </p:spPr>
        <p:txBody>
          <a:bodyPr wrap="square" rtlCol="0">
            <a:spAutoFit/>
          </a:bodyPr>
          <a:lstStyle/>
          <a:p>
            <a:r>
              <a:rPr lang="en-US" sz="1200" b="1" dirty="0"/>
              <a:t>c</a:t>
            </a:r>
          </a:p>
        </p:txBody>
      </p:sp>
      <p:sp>
        <p:nvSpPr>
          <p:cNvPr id="11" name="TextBox 10">
            <a:extLst>
              <a:ext uri="{FF2B5EF4-FFF2-40B4-BE49-F238E27FC236}">
                <a16:creationId xmlns:a16="http://schemas.microsoft.com/office/drawing/2014/main" id="{1CD5136F-03C7-0BD8-594D-5F3F8F19BC74}"/>
              </a:ext>
            </a:extLst>
          </p:cNvPr>
          <p:cNvSpPr txBox="1"/>
          <p:nvPr/>
        </p:nvSpPr>
        <p:spPr>
          <a:xfrm>
            <a:off x="-5083" y="7686367"/>
            <a:ext cx="335081" cy="276999"/>
          </a:xfrm>
          <a:prstGeom prst="rect">
            <a:avLst/>
          </a:prstGeom>
          <a:noFill/>
        </p:spPr>
        <p:txBody>
          <a:bodyPr wrap="square" rtlCol="0">
            <a:spAutoFit/>
          </a:bodyPr>
          <a:lstStyle/>
          <a:p>
            <a:r>
              <a:rPr lang="en-US" sz="1200" b="1" dirty="0"/>
              <a:t>e</a:t>
            </a:r>
          </a:p>
        </p:txBody>
      </p:sp>
      <p:pic>
        <p:nvPicPr>
          <p:cNvPr id="12" name="Picture 11">
            <a:extLst>
              <a:ext uri="{FF2B5EF4-FFF2-40B4-BE49-F238E27FC236}">
                <a16:creationId xmlns:a16="http://schemas.microsoft.com/office/drawing/2014/main" id="{9D5A56D1-FFDB-46B9-B0C4-3BA0199BD8F4}"/>
              </a:ext>
            </a:extLst>
          </p:cNvPr>
          <p:cNvPicPr>
            <a:picLocks noChangeAspect="1"/>
          </p:cNvPicPr>
          <p:nvPr/>
        </p:nvPicPr>
        <p:blipFill>
          <a:blip r:embed="rId6"/>
          <a:stretch>
            <a:fillRect/>
          </a:stretch>
        </p:blipFill>
        <p:spPr>
          <a:xfrm>
            <a:off x="248892" y="6130043"/>
            <a:ext cx="3865490" cy="1543511"/>
          </a:xfrm>
          <a:prstGeom prst="rect">
            <a:avLst/>
          </a:prstGeom>
        </p:spPr>
      </p:pic>
      <p:pic>
        <p:nvPicPr>
          <p:cNvPr id="13" name="Picture 12">
            <a:extLst>
              <a:ext uri="{FF2B5EF4-FFF2-40B4-BE49-F238E27FC236}">
                <a16:creationId xmlns:a16="http://schemas.microsoft.com/office/drawing/2014/main" id="{A5CB7973-F2A1-9839-F543-4C574DA9C06D}"/>
              </a:ext>
            </a:extLst>
          </p:cNvPr>
          <p:cNvPicPr>
            <a:picLocks noChangeAspect="1"/>
          </p:cNvPicPr>
          <p:nvPr/>
        </p:nvPicPr>
        <p:blipFill>
          <a:blip r:embed="rId7"/>
          <a:stretch>
            <a:fillRect/>
          </a:stretch>
        </p:blipFill>
        <p:spPr>
          <a:xfrm>
            <a:off x="232813" y="21085"/>
            <a:ext cx="2101509" cy="1576132"/>
          </a:xfrm>
          <a:prstGeom prst="rect">
            <a:avLst/>
          </a:prstGeom>
        </p:spPr>
      </p:pic>
      <p:sp>
        <p:nvSpPr>
          <p:cNvPr id="14" name="TextBox 13">
            <a:extLst>
              <a:ext uri="{FF2B5EF4-FFF2-40B4-BE49-F238E27FC236}">
                <a16:creationId xmlns:a16="http://schemas.microsoft.com/office/drawing/2014/main" id="{E7976733-7CA4-6E06-3DD9-14FFAF8B7BE9}"/>
              </a:ext>
            </a:extLst>
          </p:cNvPr>
          <p:cNvSpPr txBox="1"/>
          <p:nvPr/>
        </p:nvSpPr>
        <p:spPr>
          <a:xfrm>
            <a:off x="-5082" y="6060316"/>
            <a:ext cx="335081" cy="276999"/>
          </a:xfrm>
          <a:prstGeom prst="rect">
            <a:avLst/>
          </a:prstGeom>
          <a:noFill/>
        </p:spPr>
        <p:txBody>
          <a:bodyPr wrap="square" rtlCol="0">
            <a:spAutoFit/>
          </a:bodyPr>
          <a:lstStyle/>
          <a:p>
            <a:r>
              <a:rPr lang="en-US" sz="1200" b="1" dirty="0"/>
              <a:t>d</a:t>
            </a:r>
          </a:p>
        </p:txBody>
      </p:sp>
      <p:pic>
        <p:nvPicPr>
          <p:cNvPr id="15" name="Picture 14">
            <a:extLst>
              <a:ext uri="{FF2B5EF4-FFF2-40B4-BE49-F238E27FC236}">
                <a16:creationId xmlns:a16="http://schemas.microsoft.com/office/drawing/2014/main" id="{F018AA5F-896E-0D2F-CD9C-A5ED992B5A07}"/>
              </a:ext>
            </a:extLst>
          </p:cNvPr>
          <p:cNvPicPr>
            <a:picLocks noChangeAspect="1"/>
          </p:cNvPicPr>
          <p:nvPr/>
        </p:nvPicPr>
        <p:blipFill>
          <a:blip r:embed="rId8"/>
          <a:stretch>
            <a:fillRect/>
          </a:stretch>
        </p:blipFill>
        <p:spPr>
          <a:xfrm>
            <a:off x="335080" y="7731925"/>
            <a:ext cx="1741760" cy="1390989"/>
          </a:xfrm>
          <a:prstGeom prst="rect">
            <a:avLst/>
          </a:prstGeom>
        </p:spPr>
      </p:pic>
      <p:sp>
        <p:nvSpPr>
          <p:cNvPr id="16" name="TextBox 15">
            <a:extLst>
              <a:ext uri="{FF2B5EF4-FFF2-40B4-BE49-F238E27FC236}">
                <a16:creationId xmlns:a16="http://schemas.microsoft.com/office/drawing/2014/main" id="{B86072E6-3CBA-F1D8-FB04-54E4D0721D2C}"/>
              </a:ext>
            </a:extLst>
          </p:cNvPr>
          <p:cNvSpPr txBox="1"/>
          <p:nvPr/>
        </p:nvSpPr>
        <p:spPr>
          <a:xfrm>
            <a:off x="3563314" y="7673554"/>
            <a:ext cx="335081" cy="276999"/>
          </a:xfrm>
          <a:prstGeom prst="rect">
            <a:avLst/>
          </a:prstGeom>
          <a:noFill/>
        </p:spPr>
        <p:txBody>
          <a:bodyPr wrap="square" rtlCol="0">
            <a:spAutoFit/>
          </a:bodyPr>
          <a:lstStyle/>
          <a:p>
            <a:r>
              <a:rPr lang="en-US" sz="1200" b="1" dirty="0"/>
              <a:t>f</a:t>
            </a:r>
          </a:p>
        </p:txBody>
      </p:sp>
    </p:spTree>
    <p:extLst>
      <p:ext uri="{BB962C8B-B14F-4D97-AF65-F5344CB8AC3E}">
        <p14:creationId xmlns:p14="http://schemas.microsoft.com/office/powerpoint/2010/main" val="3558137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1328783-D085-08DA-32C1-8A932AA4504E}"/>
              </a:ext>
            </a:extLst>
          </p:cNvPr>
          <p:cNvSpPr txBox="1"/>
          <p:nvPr/>
        </p:nvSpPr>
        <p:spPr>
          <a:xfrm>
            <a:off x="0" y="0"/>
            <a:ext cx="6858000" cy="3477875"/>
          </a:xfrm>
          <a:prstGeom prst="rect">
            <a:avLst/>
          </a:prstGeom>
          <a:noFill/>
        </p:spPr>
        <p:txBody>
          <a:bodyPr wrap="square" rtlCol="0">
            <a:spAutoFit/>
          </a:bodyPr>
          <a:lstStyle/>
          <a:p>
            <a:r>
              <a:rPr lang="en-CA" sz="1100" b="1" dirty="0"/>
              <a:t>Supplemental Figure 3</a:t>
            </a:r>
            <a:r>
              <a:rPr lang="en-CA" sz="1100" dirty="0"/>
              <a:t>. Cohort-comparability and robustness analyses for </a:t>
            </a:r>
            <a:r>
              <a:rPr lang="en-CA" sz="1100" dirty="0" err="1"/>
              <a:t>NeST</a:t>
            </a:r>
            <a:r>
              <a:rPr lang="en-CA" sz="1100" dirty="0"/>
              <a:t>-VNN cross-cohort validation (case study 3).</a:t>
            </a:r>
          </a:p>
          <a:p>
            <a:r>
              <a:rPr lang="en-CA" sz="1100" dirty="0"/>
              <a:t>(a) Per-model event burden across the full 718-gene </a:t>
            </a:r>
            <a:r>
              <a:rPr lang="en-CA" sz="1100" dirty="0" err="1"/>
              <a:t>NeST</a:t>
            </a:r>
            <a:r>
              <a:rPr lang="en-CA" sz="1100" dirty="0"/>
              <a:t>-VNN panel: number of mutation, copy-number-amplification (CNA), and copy-number-deletion (CND) events per model, UHN carboplatin vs. McGill cisplatin (left; two-sided Mann–Whitney U test; ****, p &lt; 0.0001; ns, not significant). Right, sensitivity check for the Mutation comparison: the same test repeated on only the 232 genes with recorded mutation data in both cohorts, alongside the original all-718-gene comparison (****, p = 3.8×10⁻¹¹; **, p = 4.2×10⁻³) — the cohort gene-coverage gap (Fig. 4c) inflates the difference but does not fully explain it. (b) For the McGill cisplatin (top) and UHN carboplatin (bottom) cohorts: distribution of raw, uncensored treatment-arm follow-up duration per batch (left); correlation between the uncensored treatment-arm slope and follow-up duration (two-sided Spearman r annotated; middle); and drift in median treatment-arm slope as a function of the candidate response-window cutoff, </a:t>
            </a:r>
            <a:r>
              <a:rPr lang="en-CA" sz="1100" dirty="0" err="1"/>
              <a:t>max.time</a:t>
            </a:r>
            <a:r>
              <a:rPr lang="en-CA" sz="1100" dirty="0"/>
              <a:t> (right). Dotted line, the 28-day cutoff used in the primary analysis. (c) Principal component analysis (PC1 vs. PC2) of binarized mutation, copy-number-amplification (CNA), and copy-number-deletion (CND) feature matrices, McGill cisplatin vs. UHN carboplatin (open circles, one replicate; filled circles, ≥2 replicates). (d) Control-arm growth-curve slope distribution (left) and empirical CDF with Kolmogorov–Smirnov statistic (right), McGill vs. UHN. (e) Treatment-arm growth-curve slope distribution, McGill cisplatin vs. UHN carboplatin; dashed line, the 0° growth/regression threshold used to define response in the primary analysis. (f) ROC curves for the pretrained 5-fold </a:t>
            </a:r>
            <a:r>
              <a:rPr lang="en-CA" sz="1100" dirty="0" err="1"/>
              <a:t>NeST</a:t>
            </a:r>
            <a:r>
              <a:rPr lang="en-CA" sz="1100" dirty="0"/>
              <a:t>-VNN ensemble (fold-averaged prediction) against sensitive/resistant status (</a:t>
            </a:r>
            <a:r>
              <a:rPr lang="en-CA" sz="1100" dirty="0" err="1"/>
              <a:t>slope.treatment</a:t>
            </a:r>
            <a:r>
              <a:rPr lang="en-CA" sz="1100" dirty="0"/>
              <a:t> &lt; 0), per cohort; AUROC annotated per curve. Related to Fig. 4a–e.</a:t>
            </a:r>
            <a:endParaRPr lang="en-US" sz="1100" dirty="0"/>
          </a:p>
        </p:txBody>
      </p:sp>
    </p:spTree>
    <p:extLst>
      <p:ext uri="{BB962C8B-B14F-4D97-AF65-F5344CB8AC3E}">
        <p14:creationId xmlns:p14="http://schemas.microsoft.com/office/powerpoint/2010/main" val="1497868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98A123-995B-E7B9-20A1-16645CB240A6}"/>
              </a:ext>
            </a:extLst>
          </p:cNvPr>
          <p:cNvPicPr>
            <a:picLocks noChangeAspect="1"/>
          </p:cNvPicPr>
          <p:nvPr/>
        </p:nvPicPr>
        <p:blipFill>
          <a:blip r:embed="rId2"/>
          <a:stretch>
            <a:fillRect/>
          </a:stretch>
        </p:blipFill>
        <p:spPr>
          <a:xfrm>
            <a:off x="255214" y="0"/>
            <a:ext cx="5440868" cy="1674113"/>
          </a:xfrm>
          <a:prstGeom prst="rect">
            <a:avLst/>
          </a:prstGeom>
        </p:spPr>
      </p:pic>
      <p:sp>
        <p:nvSpPr>
          <p:cNvPr id="6" name="TextBox 5">
            <a:extLst>
              <a:ext uri="{FF2B5EF4-FFF2-40B4-BE49-F238E27FC236}">
                <a16:creationId xmlns:a16="http://schemas.microsoft.com/office/drawing/2014/main" id="{FE67EB05-7359-2FD3-C3CF-AD4742367C71}"/>
              </a:ext>
            </a:extLst>
          </p:cNvPr>
          <p:cNvSpPr txBox="1"/>
          <p:nvPr/>
        </p:nvSpPr>
        <p:spPr>
          <a:xfrm>
            <a:off x="0" y="0"/>
            <a:ext cx="381837" cy="307777"/>
          </a:xfrm>
          <a:prstGeom prst="rect">
            <a:avLst/>
          </a:prstGeom>
          <a:noFill/>
        </p:spPr>
        <p:txBody>
          <a:bodyPr wrap="square" rtlCol="0">
            <a:spAutoFit/>
          </a:bodyPr>
          <a:lstStyle/>
          <a:p>
            <a:r>
              <a:rPr lang="en-US" sz="1400" b="1" dirty="0"/>
              <a:t>a</a:t>
            </a:r>
          </a:p>
        </p:txBody>
      </p:sp>
      <p:sp>
        <p:nvSpPr>
          <p:cNvPr id="7" name="TextBox 6">
            <a:extLst>
              <a:ext uri="{FF2B5EF4-FFF2-40B4-BE49-F238E27FC236}">
                <a16:creationId xmlns:a16="http://schemas.microsoft.com/office/drawing/2014/main" id="{C6242B6E-63B1-C166-7FB2-2EA5C6C8493E}"/>
              </a:ext>
            </a:extLst>
          </p:cNvPr>
          <p:cNvSpPr txBox="1"/>
          <p:nvPr/>
        </p:nvSpPr>
        <p:spPr>
          <a:xfrm>
            <a:off x="-1" y="1674113"/>
            <a:ext cx="381837" cy="307777"/>
          </a:xfrm>
          <a:prstGeom prst="rect">
            <a:avLst/>
          </a:prstGeom>
          <a:noFill/>
        </p:spPr>
        <p:txBody>
          <a:bodyPr wrap="square" rtlCol="0">
            <a:spAutoFit/>
          </a:bodyPr>
          <a:lstStyle/>
          <a:p>
            <a:r>
              <a:rPr lang="en-US" sz="1400" b="1" dirty="0"/>
              <a:t>b</a:t>
            </a:r>
          </a:p>
        </p:txBody>
      </p:sp>
      <p:sp>
        <p:nvSpPr>
          <p:cNvPr id="10" name="TextBox 9">
            <a:extLst>
              <a:ext uri="{FF2B5EF4-FFF2-40B4-BE49-F238E27FC236}">
                <a16:creationId xmlns:a16="http://schemas.microsoft.com/office/drawing/2014/main" id="{96F3B9F0-BFD7-7CEC-3862-13593C30E54D}"/>
              </a:ext>
            </a:extLst>
          </p:cNvPr>
          <p:cNvSpPr txBox="1"/>
          <p:nvPr/>
        </p:nvSpPr>
        <p:spPr>
          <a:xfrm>
            <a:off x="0" y="3124377"/>
            <a:ext cx="381837" cy="307777"/>
          </a:xfrm>
          <a:prstGeom prst="rect">
            <a:avLst/>
          </a:prstGeom>
          <a:noFill/>
        </p:spPr>
        <p:txBody>
          <a:bodyPr wrap="square" rtlCol="0">
            <a:spAutoFit/>
          </a:bodyPr>
          <a:lstStyle/>
          <a:p>
            <a:r>
              <a:rPr lang="en-US" sz="1400" b="1" dirty="0"/>
              <a:t>c</a:t>
            </a:r>
          </a:p>
        </p:txBody>
      </p:sp>
      <p:pic>
        <p:nvPicPr>
          <p:cNvPr id="12" name="Picture 11">
            <a:extLst>
              <a:ext uri="{FF2B5EF4-FFF2-40B4-BE49-F238E27FC236}">
                <a16:creationId xmlns:a16="http://schemas.microsoft.com/office/drawing/2014/main" id="{E0DBC5E8-9F62-842F-1AC6-866C7C9F7B37}"/>
              </a:ext>
            </a:extLst>
          </p:cNvPr>
          <p:cNvPicPr>
            <a:picLocks noChangeAspect="1"/>
          </p:cNvPicPr>
          <p:nvPr/>
        </p:nvPicPr>
        <p:blipFill>
          <a:blip r:embed="rId3"/>
          <a:srcRect l="48438" b="53873"/>
          <a:stretch>
            <a:fillRect/>
          </a:stretch>
        </p:blipFill>
        <p:spPr>
          <a:xfrm>
            <a:off x="255214" y="1821068"/>
            <a:ext cx="1950661" cy="1226422"/>
          </a:xfrm>
          <a:prstGeom prst="rect">
            <a:avLst/>
          </a:prstGeom>
        </p:spPr>
      </p:pic>
      <p:pic>
        <p:nvPicPr>
          <p:cNvPr id="13" name="Picture 12">
            <a:extLst>
              <a:ext uri="{FF2B5EF4-FFF2-40B4-BE49-F238E27FC236}">
                <a16:creationId xmlns:a16="http://schemas.microsoft.com/office/drawing/2014/main" id="{221601C5-009B-C3E2-E573-B99BC48D13FD}"/>
              </a:ext>
            </a:extLst>
          </p:cNvPr>
          <p:cNvPicPr>
            <a:picLocks noChangeAspect="1"/>
          </p:cNvPicPr>
          <p:nvPr/>
        </p:nvPicPr>
        <p:blipFill>
          <a:blip r:embed="rId3"/>
          <a:srcRect t="46070"/>
          <a:stretch>
            <a:fillRect/>
          </a:stretch>
        </p:blipFill>
        <p:spPr>
          <a:xfrm>
            <a:off x="2205875" y="1674113"/>
            <a:ext cx="3783106" cy="1433903"/>
          </a:xfrm>
          <a:prstGeom prst="rect">
            <a:avLst/>
          </a:prstGeom>
        </p:spPr>
      </p:pic>
      <p:sp>
        <p:nvSpPr>
          <p:cNvPr id="14" name="TextBox 13">
            <a:extLst>
              <a:ext uri="{FF2B5EF4-FFF2-40B4-BE49-F238E27FC236}">
                <a16:creationId xmlns:a16="http://schemas.microsoft.com/office/drawing/2014/main" id="{E1FEE6DE-5DAF-DBCC-9F30-71026F3C59D4}"/>
              </a:ext>
            </a:extLst>
          </p:cNvPr>
          <p:cNvSpPr txBox="1"/>
          <p:nvPr/>
        </p:nvSpPr>
        <p:spPr>
          <a:xfrm>
            <a:off x="-14229" y="5930872"/>
            <a:ext cx="6858000" cy="3308598"/>
          </a:xfrm>
          <a:prstGeom prst="rect">
            <a:avLst/>
          </a:prstGeom>
          <a:noFill/>
        </p:spPr>
        <p:txBody>
          <a:bodyPr wrap="square" rtlCol="0">
            <a:spAutoFit/>
          </a:bodyPr>
          <a:lstStyle/>
          <a:p>
            <a:r>
              <a:rPr lang="en-CA" sz="1100" b="1" dirty="0"/>
              <a:t>Supplemental Figure 4</a:t>
            </a:r>
            <a:r>
              <a:rPr lang="en-CA" sz="1100" dirty="0"/>
              <a:t>. Follow-up window selection and full pathway-enrichment detail for the paclitaxel case study (case study 4).</a:t>
            </a:r>
          </a:p>
          <a:p>
            <a:r>
              <a:rPr lang="en-CA" sz="1100" dirty="0"/>
              <a:t>(a) Justification for the </a:t>
            </a:r>
            <a:r>
              <a:rPr lang="en-CA" sz="1100" dirty="0" err="1"/>
              <a:t>max.time</a:t>
            </a:r>
            <a:r>
              <a:rPr lang="en-CA" sz="1100" dirty="0"/>
              <a:t> = 49-day follow-up window used to compute </a:t>
            </a:r>
            <a:r>
              <a:rPr lang="en-CA" sz="1100" dirty="0" err="1"/>
              <a:t>slope.treatment</a:t>
            </a:r>
            <a:r>
              <a:rPr lang="en-CA" sz="1100" dirty="0"/>
              <a:t>. Left, distribution of raw (uncensored) last-observed day across the 80 paclitaxel batches; dotted line marks the chosen </a:t>
            </a:r>
            <a:r>
              <a:rPr lang="en-CA" sz="1100" dirty="0" err="1"/>
              <a:t>max.time</a:t>
            </a:r>
            <a:r>
              <a:rPr lang="en-CA" sz="1100" dirty="0"/>
              <a:t> = 49-day cutoff. Middle, uncensored </a:t>
            </a:r>
            <a:r>
              <a:rPr lang="en-CA" sz="1100" dirty="0" err="1"/>
              <a:t>slope.treatment</a:t>
            </a:r>
            <a:r>
              <a:rPr lang="en-CA" sz="1100" dirty="0"/>
              <a:t> vs. last-observed day, showing a significant negative correlation (r = −0.64, p = 1.8×10⁻¹⁰) — batches followed longer trend toward more negative (regressing) slopes, so an uncapped follow-up window confounds duration with apparent response. Right, median </a:t>
            </a:r>
            <a:r>
              <a:rPr lang="en-CA" sz="1100" dirty="0" err="1"/>
              <a:t>slope.treatment</a:t>
            </a:r>
            <a:r>
              <a:rPr lang="en-CA" sz="1100" dirty="0"/>
              <a:t> among the retained sample as a function of candidate </a:t>
            </a:r>
            <a:r>
              <a:rPr lang="en-CA" sz="1100" dirty="0" err="1"/>
              <a:t>max.time</a:t>
            </a:r>
            <a:r>
              <a:rPr lang="en-CA" sz="1100" dirty="0"/>
              <a:t> cutoffs (14–56 days, the same sweep range used in case study 3); the deepest point (most negative median) occurs at day 49 (dotted line), the value chosen for the analysis. (b) Definition of the binary response endpoint used for classification. Left, number of PDX models called Resistant vs. Sensitive under the fixed </a:t>
            </a:r>
            <a:r>
              <a:rPr lang="en-CA" sz="1100" dirty="0" err="1"/>
              <a:t>slope.treatment</a:t>
            </a:r>
            <a:r>
              <a:rPr lang="en-CA" sz="1100" dirty="0"/>
              <a:t> &lt; 0° cutoff (n = 33 vs. 47). Middle, distribution of treatment-arm slope colored by the resulting binary call; dashed line, the 0° cutoff — the two groups separate by construction, since the label is defined directly from this threshold. Right, cross-tabulation against the categorical </a:t>
            </a:r>
            <a:r>
              <a:rPr lang="en-CA" sz="1100" dirty="0" err="1"/>
              <a:t>mRECIST</a:t>
            </a:r>
            <a:r>
              <a:rPr lang="en-CA" sz="1100" dirty="0"/>
              <a:t> call (PD/SD/PR/CR; PD and SD collapsed to Resistant, PR and CR to Sensitive for comparison); the two response definitions agree for 76.2% of models (61/80). (c) GSEA results against GO Biological Process, KEGG, and </a:t>
            </a:r>
            <a:r>
              <a:rPr lang="en-CA" sz="1100" dirty="0" err="1"/>
              <a:t>MSigDB</a:t>
            </a:r>
            <a:r>
              <a:rPr lang="en-CA" sz="1100" dirty="0"/>
              <a:t> Hallmark gene sets, ranked by </a:t>
            </a:r>
            <a:r>
              <a:rPr lang="en-CA" sz="1100" dirty="0" err="1"/>
              <a:t>limma</a:t>
            </a:r>
            <a:r>
              <a:rPr lang="en-CA" sz="1100" dirty="0"/>
              <a:t> moderated t-statistics (Sensitive vs. Resistant, fixed </a:t>
            </a:r>
            <a:r>
              <a:rPr lang="en-CA" sz="1100" dirty="0" err="1"/>
              <a:t>slope.treatment</a:t>
            </a:r>
            <a:r>
              <a:rPr lang="en-CA" sz="1100" dirty="0"/>
              <a:t>&lt;0 cutoff, full </a:t>
            </a:r>
            <a:r>
              <a:rPr lang="en-CA" sz="1100" dirty="0" err="1"/>
              <a:t>rna_all</a:t>
            </a:r>
            <a:r>
              <a:rPr lang="en-CA" sz="1100" dirty="0"/>
              <a:t> transcriptome). Positive NES: enriched in Sensitive models; negative NES: enriched in </a:t>
            </a:r>
            <a:r>
              <a:rPr lang="en-CA" sz="1100"/>
              <a:t>Resistant models (FDR q &lt; 0.05) .</a:t>
            </a:r>
            <a:endParaRPr lang="en-CA" sz="1100" dirty="0"/>
          </a:p>
        </p:txBody>
      </p:sp>
      <p:pic>
        <p:nvPicPr>
          <p:cNvPr id="3" name="Picture 2">
            <a:extLst>
              <a:ext uri="{FF2B5EF4-FFF2-40B4-BE49-F238E27FC236}">
                <a16:creationId xmlns:a16="http://schemas.microsoft.com/office/drawing/2014/main" id="{0E0CFC7A-79E4-95A9-59D0-E06126269010}"/>
              </a:ext>
            </a:extLst>
          </p:cNvPr>
          <p:cNvPicPr>
            <a:picLocks noChangeAspect="1"/>
          </p:cNvPicPr>
          <p:nvPr/>
        </p:nvPicPr>
        <p:blipFill>
          <a:blip r:embed="rId4"/>
          <a:stretch>
            <a:fillRect/>
          </a:stretch>
        </p:blipFill>
        <p:spPr>
          <a:xfrm>
            <a:off x="0" y="3471518"/>
            <a:ext cx="6858000" cy="2200963"/>
          </a:xfrm>
          <a:prstGeom prst="rect">
            <a:avLst/>
          </a:prstGeom>
        </p:spPr>
      </p:pic>
    </p:spTree>
    <p:extLst>
      <p:ext uri="{BB962C8B-B14F-4D97-AF65-F5344CB8AC3E}">
        <p14:creationId xmlns:p14="http://schemas.microsoft.com/office/powerpoint/2010/main" val="9764043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275</TotalTime>
  <Words>1298</Words>
  <Application>Microsoft Macintosh PowerPoint</Application>
  <PresentationFormat>Letter Paper (8.5x11 in)</PresentationFormat>
  <Paragraphs>67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Feng, Guanqiao</dc:creator>
  <cp:lastModifiedBy>Feng, Guanqiao</cp:lastModifiedBy>
  <cp:revision>34</cp:revision>
  <dcterms:created xsi:type="dcterms:W3CDTF">2026-07-31T19:36:31Z</dcterms:created>
  <dcterms:modified xsi:type="dcterms:W3CDTF">2026-10-02T15:26:09Z</dcterms:modified>
</cp:coreProperties>
</file>