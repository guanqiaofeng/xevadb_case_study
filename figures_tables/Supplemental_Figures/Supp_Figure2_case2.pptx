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89" d="100"/>
          <a:sy n="89" d="100"/>
        </p:scale>
        <p:origin x="3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5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7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9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3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2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8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7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6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2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9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4921A-2271-F649-B94C-D9F2E69CC631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6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9D6B595-FEDD-6972-3FF7-B6570BA50955}"/>
              </a:ext>
            </a:extLst>
          </p:cNvPr>
          <p:cNvSpPr/>
          <p:nvPr/>
        </p:nvSpPr>
        <p:spPr>
          <a:xfrm>
            <a:off x="-17889" y="472573"/>
            <a:ext cx="6875889" cy="23376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FFD272C-2F4A-8795-3978-F0262BAE1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8" y="5248730"/>
            <a:ext cx="2263342" cy="15088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69FE343-96B7-D434-0429-C30A03C2E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060" y="5258218"/>
            <a:ext cx="2263343" cy="150889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C8E19A7-61E0-E87A-1783-9DF8924AC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556" y="5300838"/>
            <a:ext cx="2263343" cy="150889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5B161CD-0BA3-DEE6-DE77-33B6688B2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6" y="6642846"/>
            <a:ext cx="2263343" cy="150889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003B5DF-8C2D-2980-4B55-6C5AAA102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5060" y="6642846"/>
            <a:ext cx="2263343" cy="150889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9701657-C862-AE98-2A37-2964465CA553}"/>
              </a:ext>
            </a:extLst>
          </p:cNvPr>
          <p:cNvGrpSpPr/>
          <p:nvPr/>
        </p:nvGrpSpPr>
        <p:grpSpPr>
          <a:xfrm>
            <a:off x="63116" y="602769"/>
            <a:ext cx="6205203" cy="1144066"/>
            <a:chOff x="598764" y="472573"/>
            <a:chExt cx="6205203" cy="1144066"/>
          </a:xfrm>
        </p:grpSpPr>
        <p:pic>
          <p:nvPicPr>
            <p:cNvPr id="38" name="Picture 37" descr="A diagram of a line and a line&#10;&#10;AI-generated content may be incorrect.">
              <a:extLst>
                <a:ext uri="{FF2B5EF4-FFF2-40B4-BE49-F238E27FC236}">
                  <a16:creationId xmlns:a16="http://schemas.microsoft.com/office/drawing/2014/main" id="{5663BBC1-9944-BADD-479C-D3D6BC07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8764" y="537139"/>
              <a:ext cx="1079500" cy="1079500"/>
            </a:xfrm>
            <a:prstGeom prst="rect">
              <a:avLst/>
            </a:prstGeom>
          </p:spPr>
        </p:pic>
        <p:pic>
          <p:nvPicPr>
            <p:cNvPr id="39" name="Picture 38" descr="A diagram of a line with arrows&#10;&#10;AI-generated content may be incorrect.">
              <a:extLst>
                <a:ext uri="{FF2B5EF4-FFF2-40B4-BE49-F238E27FC236}">
                  <a16:creationId xmlns:a16="http://schemas.microsoft.com/office/drawing/2014/main" id="{7D0BD0E4-2745-2486-E59C-AC1A74660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12814" y="537139"/>
              <a:ext cx="1079500" cy="1079500"/>
            </a:xfrm>
            <a:prstGeom prst="rect">
              <a:avLst/>
            </a:prstGeom>
          </p:spPr>
        </p:pic>
        <p:pic>
          <p:nvPicPr>
            <p:cNvPr id="40" name="Picture 39" descr="A diagram of a line with arrows&#10;&#10;AI-generated content may be incorrect.">
              <a:extLst>
                <a:ext uri="{FF2B5EF4-FFF2-40B4-BE49-F238E27FC236}">
                  <a16:creationId xmlns:a16="http://schemas.microsoft.com/office/drawing/2014/main" id="{4C168C57-B3DC-7685-662D-C272E3BB3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83365" y="518289"/>
              <a:ext cx="1079500" cy="1079500"/>
            </a:xfrm>
            <a:prstGeom prst="rect">
              <a:avLst/>
            </a:prstGeom>
          </p:spPr>
        </p:pic>
        <p:pic>
          <p:nvPicPr>
            <p:cNvPr id="41" name="Picture 40" descr="A diagram of a square with arrows&#10;&#10;AI-generated content may be incorrect.">
              <a:extLst>
                <a:ext uri="{FF2B5EF4-FFF2-40B4-BE49-F238E27FC236}">
                  <a16:creationId xmlns:a16="http://schemas.microsoft.com/office/drawing/2014/main" id="{B25003F4-DBBE-1A1D-2B31-C33AA7AF5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53916" y="479300"/>
              <a:ext cx="1079500" cy="1079500"/>
            </a:xfrm>
            <a:prstGeom prst="rect">
              <a:avLst/>
            </a:prstGeom>
          </p:spPr>
        </p:pic>
        <p:pic>
          <p:nvPicPr>
            <p:cNvPr id="42" name="Picture 41" descr="A diagram of a line with arrows&#10;&#10;AI-generated content may be incorrect.">
              <a:extLst>
                <a:ext uri="{FF2B5EF4-FFF2-40B4-BE49-F238E27FC236}">
                  <a16:creationId xmlns:a16="http://schemas.microsoft.com/office/drawing/2014/main" id="{222B32F2-25C8-851B-4FB2-F30C6BF6B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24467" y="472573"/>
              <a:ext cx="1079500" cy="1079500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64035D3-7CED-8FC8-178F-F7E4BE8FC013}"/>
              </a:ext>
            </a:extLst>
          </p:cNvPr>
          <p:cNvSpPr txBox="1"/>
          <p:nvPr/>
        </p:nvSpPr>
        <p:spPr>
          <a:xfrm>
            <a:off x="51718" y="1877452"/>
            <a:ext cx="1123230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/>
            <a:r>
              <a:rPr lang="en-CA" sz="1100" b="1" dirty="0"/>
              <a:t>Category 1</a:t>
            </a:r>
            <a:r>
              <a:rPr lang="en-CA" sz="1100" dirty="0"/>
              <a:t>: tumour growth </a:t>
            </a:r>
            <a:r>
              <a:rPr lang="en-CA" sz="1100" b="1" dirty="0"/>
              <a:t>similar to control</a:t>
            </a:r>
            <a:r>
              <a:rPr lang="en-CA" sz="1100" dirty="0"/>
              <a:t>.</a:t>
            </a:r>
          </a:p>
          <a:p>
            <a:pPr marL="0" lvl="2"/>
            <a:r>
              <a:rPr lang="en-CA" sz="1100" b="1" dirty="0"/>
              <a:t>Category 2</a:t>
            </a:r>
            <a:r>
              <a:rPr lang="en-CA" sz="1100" dirty="0"/>
              <a:t>: tumour growth is </a:t>
            </a:r>
            <a:r>
              <a:rPr lang="en-CA" sz="1100" b="1" dirty="0"/>
              <a:t>inhibited compared to control</a:t>
            </a:r>
            <a:r>
              <a:rPr lang="en-CA" sz="1100" dirty="0"/>
              <a:t>, but tumour is still </a:t>
            </a:r>
            <a:r>
              <a:rPr lang="en-CA" sz="1100" b="1" dirty="0"/>
              <a:t>enlarging</a:t>
            </a:r>
            <a:r>
              <a:rPr lang="en-CA" sz="1100" dirty="0"/>
              <a:t> compared to time 0.</a:t>
            </a:r>
          </a:p>
          <a:p>
            <a:pPr marL="0" lvl="2"/>
            <a:r>
              <a:rPr lang="en-CA" sz="1100" b="1" dirty="0"/>
              <a:t>Category 3</a:t>
            </a:r>
            <a:r>
              <a:rPr lang="en-CA" sz="1100" dirty="0"/>
              <a:t>: tumour growth is </a:t>
            </a:r>
            <a:r>
              <a:rPr lang="en-CA" sz="1100" b="1" dirty="0"/>
              <a:t>inhibited compared to control</a:t>
            </a:r>
            <a:r>
              <a:rPr lang="en-CA" sz="1100" dirty="0"/>
              <a:t>, and tumour volume stays </a:t>
            </a:r>
            <a:r>
              <a:rPr lang="en-CA" sz="1100" b="1" dirty="0"/>
              <a:t>stable</a:t>
            </a:r>
            <a:r>
              <a:rPr lang="en-CA" sz="1100" dirty="0"/>
              <a:t>.</a:t>
            </a:r>
          </a:p>
          <a:p>
            <a:pPr marL="0" lvl="2"/>
            <a:r>
              <a:rPr lang="en-CA" sz="1100" b="1" dirty="0"/>
              <a:t>Category 4</a:t>
            </a:r>
            <a:r>
              <a:rPr lang="en-CA" sz="1100" dirty="0"/>
              <a:t>: tumour growth is </a:t>
            </a:r>
            <a:r>
              <a:rPr lang="en-CA" sz="1100" b="1" dirty="0"/>
              <a:t>inhibited compared to control</a:t>
            </a:r>
            <a:r>
              <a:rPr lang="en-CA" sz="1100" dirty="0"/>
              <a:t>, and tumour volume is </a:t>
            </a:r>
            <a:r>
              <a:rPr lang="en-CA" sz="1100" b="1" dirty="0"/>
              <a:t>shrinking</a:t>
            </a:r>
            <a:r>
              <a:rPr lang="en-CA" sz="1100" dirty="0"/>
              <a:t>.</a:t>
            </a:r>
          </a:p>
          <a:p>
            <a:pPr marL="0" lvl="2"/>
            <a:r>
              <a:rPr lang="en-CA" sz="1100" b="1" dirty="0"/>
              <a:t>Category 5</a:t>
            </a:r>
            <a:r>
              <a:rPr lang="en-CA" sz="1100" dirty="0"/>
              <a:t>: tumour growth is </a:t>
            </a:r>
            <a:r>
              <a:rPr lang="en-CA" sz="1100" b="1" dirty="0"/>
              <a:t>inhibited compared to control</a:t>
            </a:r>
            <a:r>
              <a:rPr lang="en-CA" sz="1100" dirty="0"/>
              <a:t>, and tumour </a:t>
            </a:r>
            <a:r>
              <a:rPr lang="en-CA" sz="1100" b="1" dirty="0"/>
              <a:t>disappeared</a:t>
            </a:r>
            <a:r>
              <a:rPr lang="en-CA" sz="1100" dirty="0"/>
              <a:t> during treatment.</a:t>
            </a:r>
            <a:br>
              <a:rPr lang="en-CA" sz="1100" dirty="0"/>
            </a:br>
            <a:endParaRPr lang="en-US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DA15C7-87E7-D27C-2016-E443C860FAAF}"/>
              </a:ext>
            </a:extLst>
          </p:cNvPr>
          <p:cNvSpPr txBox="1"/>
          <p:nvPr/>
        </p:nvSpPr>
        <p:spPr>
          <a:xfrm>
            <a:off x="63116" y="5073552"/>
            <a:ext cx="64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CC7381-CD9B-53E4-B5CC-A144492FEA72}"/>
              </a:ext>
            </a:extLst>
          </p:cNvPr>
          <p:cNvSpPr txBox="1"/>
          <p:nvPr/>
        </p:nvSpPr>
        <p:spPr>
          <a:xfrm>
            <a:off x="51718" y="-7125"/>
            <a:ext cx="64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2FB957-4558-61DD-3EE3-35DE4441E5A2}"/>
              </a:ext>
            </a:extLst>
          </p:cNvPr>
          <p:cNvSpPr txBox="1"/>
          <p:nvPr/>
        </p:nvSpPr>
        <p:spPr>
          <a:xfrm>
            <a:off x="877484" y="205344"/>
            <a:ext cx="9134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Drug sensitivity categorization criteria provided to panel of experts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5A47D1-BF2A-FC0B-06EE-ED58D52DC9DF}"/>
              </a:ext>
            </a:extLst>
          </p:cNvPr>
          <p:cNvSpPr txBox="1"/>
          <p:nvPr/>
        </p:nvSpPr>
        <p:spPr>
          <a:xfrm>
            <a:off x="-42593" y="2870380"/>
            <a:ext cx="64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C9324BBA-4C77-6DA7-5E95-2E6A2C95D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4250"/>
              </p:ext>
            </p:extLst>
          </p:nvPr>
        </p:nvGraphicFramePr>
        <p:xfrm>
          <a:off x="500642" y="3545329"/>
          <a:ext cx="5838825" cy="1390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325">
                  <a:extLst>
                    <a:ext uri="{9D8B030D-6E8A-4147-A177-3AD203B41FA5}">
                      <a16:colId xmlns:a16="http://schemas.microsoft.com/office/drawing/2014/main" val="3786986377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338792818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3597018781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67899268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89379196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33686978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972452092"/>
                    </a:ext>
                  </a:extLst>
                </a:gridCol>
              </a:tblGrid>
              <a:tr h="25479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CA" sz="1200">
                          <a:effectLst/>
                        </a:rPr>
                        <a:t> 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Cat_1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Cat_2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Cat_3</a:t>
                      </a:r>
                      <a:endParaRPr lang="en-CA" sz="1200" dirty="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Cat_4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Cat_5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Total</a:t>
                      </a:r>
                      <a:endParaRPr lang="en-CA" sz="1200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383417880"/>
                  </a:ext>
                </a:extLst>
              </a:tr>
              <a:tr h="25479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Expert 1</a:t>
                      </a:r>
                      <a:endParaRPr lang="en-CA" sz="1200" dirty="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233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435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282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250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100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1300</a:t>
                      </a:r>
                      <a:endParaRPr lang="en-CA" sz="1200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1272847083"/>
                  </a:ext>
                </a:extLst>
              </a:tr>
              <a:tr h="25479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Expert 2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255</a:t>
                      </a:r>
                      <a:endParaRPr lang="en-CA" sz="1200" dirty="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423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362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233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24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1300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821578875"/>
                  </a:ext>
                </a:extLst>
              </a:tr>
              <a:tr h="25479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Expert 3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387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289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300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174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139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1300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701244322"/>
                  </a:ext>
                </a:extLst>
              </a:tr>
              <a:tr h="25479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Consensus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305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359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299</a:t>
                      </a:r>
                      <a:endParaRPr lang="en-CA" sz="1200" dirty="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213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91</a:t>
                      </a:r>
                      <a:endParaRPr lang="en-CA" sz="12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1267</a:t>
                      </a:r>
                      <a:endParaRPr lang="en-CA" sz="1200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1725633743"/>
                  </a:ext>
                </a:extLst>
              </a:tr>
            </a:tbl>
          </a:graphicData>
        </a:graphic>
      </p:graphicFrame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759CBD75-2EC9-32E6-F328-4BA9AAA7846C}"/>
              </a:ext>
            </a:extLst>
          </p:cNvPr>
          <p:cNvSpPr/>
          <p:nvPr/>
        </p:nvSpPr>
        <p:spPr>
          <a:xfrm flipH="1">
            <a:off x="1657349" y="3055046"/>
            <a:ext cx="3986213" cy="35966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611B14-0A52-BC49-2251-A842DEDFE865}"/>
              </a:ext>
            </a:extLst>
          </p:cNvPr>
          <p:cNvSpPr txBox="1"/>
          <p:nvPr/>
        </p:nvSpPr>
        <p:spPr>
          <a:xfrm>
            <a:off x="4382159" y="3141177"/>
            <a:ext cx="2125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Drug Sensitivity</a:t>
            </a:r>
          </a:p>
        </p:txBody>
      </p:sp>
    </p:spTree>
    <p:extLst>
      <p:ext uri="{BB962C8B-B14F-4D97-AF65-F5344CB8AC3E}">
        <p14:creationId xmlns:p14="http://schemas.microsoft.com/office/powerpoint/2010/main" val="11532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3026</TotalTime>
  <Words>144</Words>
  <Application>Microsoft Macintosh PowerPoint</Application>
  <PresentationFormat>Letter Paper (8.5x11 in)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12</cp:revision>
  <dcterms:created xsi:type="dcterms:W3CDTF">2026-07-29T17:54:54Z</dcterms:created>
  <dcterms:modified xsi:type="dcterms:W3CDTF">2026-09-08T14:23:41Z</dcterms:modified>
</cp:coreProperties>
</file>