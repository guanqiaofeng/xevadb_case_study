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12960350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5" d="100"/>
          <a:sy n="95" d="100"/>
        </p:scale>
        <p:origin x="1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26" y="1414125"/>
            <a:ext cx="11016298" cy="3008266"/>
          </a:xfrm>
        </p:spPr>
        <p:txBody>
          <a:bodyPr anchor="b"/>
          <a:lstStyle>
            <a:lvl1pPr algn="ctr">
              <a:defRPr sz="7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4538401"/>
            <a:ext cx="9720263" cy="2086184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72" indent="0" algn="ctr">
              <a:buNone/>
              <a:defRPr sz="2520"/>
            </a:lvl2pPr>
            <a:lvl3pPr marL="1152144" indent="0" algn="ctr">
              <a:buNone/>
              <a:defRPr sz="2268"/>
            </a:lvl3pPr>
            <a:lvl4pPr marL="1728216" indent="0" algn="ctr">
              <a:buNone/>
              <a:defRPr sz="2016"/>
            </a:lvl4pPr>
            <a:lvl5pPr marL="2304288" indent="0" algn="ctr">
              <a:buNone/>
              <a:defRPr sz="2016"/>
            </a:lvl5pPr>
            <a:lvl6pPr marL="2880360" indent="0" algn="ctr">
              <a:buNone/>
              <a:defRPr sz="2016"/>
            </a:lvl6pPr>
            <a:lvl7pPr marL="3456432" indent="0" algn="ctr">
              <a:buNone/>
              <a:defRPr sz="2016"/>
            </a:lvl7pPr>
            <a:lvl8pPr marL="4032504" indent="0" algn="ctr">
              <a:buNone/>
              <a:defRPr sz="2016"/>
            </a:lvl8pPr>
            <a:lvl9pPr marL="4608576" indent="0" algn="ctr">
              <a:buNone/>
              <a:defRPr sz="20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0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7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5" y="2154193"/>
            <a:ext cx="11178302" cy="3594317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5" y="5782513"/>
            <a:ext cx="11178302" cy="1890166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1pPr>
            <a:lvl2pPr marL="576072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2pPr>
            <a:lvl3pPr marL="115214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3pPr>
            <a:lvl4pPr marL="1728216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4pPr>
            <a:lvl5pPr marL="2304288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5pPr>
            <a:lvl6pPr marL="288036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6pPr>
            <a:lvl7pPr marL="3456432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7pPr>
            <a:lvl8pPr marL="4032504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8pPr>
            <a:lvl9pPr marL="4608576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3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2300203"/>
            <a:ext cx="5508149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2300203"/>
            <a:ext cx="5508149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7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460043"/>
            <a:ext cx="11178302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2118188"/>
            <a:ext cx="5482835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3156278"/>
            <a:ext cx="5482835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8" y="2118188"/>
            <a:ext cx="5509837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8" y="3156278"/>
            <a:ext cx="5509837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3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5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576051"/>
            <a:ext cx="4180050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244112"/>
            <a:ext cx="6561177" cy="6140542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592229"/>
            <a:ext cx="4180050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6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576051"/>
            <a:ext cx="4180050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244112"/>
            <a:ext cx="6561177" cy="6140542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72" indent="0">
              <a:buNone/>
              <a:defRPr sz="3528"/>
            </a:lvl2pPr>
            <a:lvl3pPr marL="1152144" indent="0">
              <a:buNone/>
              <a:defRPr sz="3024"/>
            </a:lvl3pPr>
            <a:lvl4pPr marL="1728216" indent="0">
              <a:buNone/>
              <a:defRPr sz="2520"/>
            </a:lvl4pPr>
            <a:lvl5pPr marL="2304288" indent="0">
              <a:buNone/>
              <a:defRPr sz="2520"/>
            </a:lvl5pPr>
            <a:lvl6pPr marL="2880360" indent="0">
              <a:buNone/>
              <a:defRPr sz="2520"/>
            </a:lvl6pPr>
            <a:lvl7pPr marL="3456432" indent="0">
              <a:buNone/>
              <a:defRPr sz="2520"/>
            </a:lvl7pPr>
            <a:lvl8pPr marL="4032504" indent="0">
              <a:buNone/>
              <a:defRPr sz="2520"/>
            </a:lvl8pPr>
            <a:lvl9pPr marL="4608576" indent="0">
              <a:buNone/>
              <a:defRPr sz="25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592229"/>
            <a:ext cx="4180050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1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6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460041"/>
            <a:ext cx="2794575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5" y="460041"/>
            <a:ext cx="8221722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6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460043"/>
            <a:ext cx="11178302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2300203"/>
            <a:ext cx="11178302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8008709"/>
            <a:ext cx="291607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4921A-2271-F649-B94C-D9F2E69CC631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8008709"/>
            <a:ext cx="4374118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8008709"/>
            <a:ext cx="291607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152144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1152144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10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25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324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396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46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61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9301E68-2658-FC28-9ED9-D6061D4528E1}"/>
              </a:ext>
            </a:extLst>
          </p:cNvPr>
          <p:cNvSpPr/>
          <p:nvPr/>
        </p:nvSpPr>
        <p:spPr>
          <a:xfrm>
            <a:off x="645459" y="472738"/>
            <a:ext cx="11833412" cy="23376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6D20F2-029E-DCFC-22C3-D28BB1D03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4" y="3088114"/>
            <a:ext cx="4244546" cy="28296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0AB600-93FB-DCD6-2AD8-6FFF6C580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31" y="3032531"/>
            <a:ext cx="4244546" cy="28296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282DE1-B4F2-5BA8-4C69-9CA0E7916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296" y="3088114"/>
            <a:ext cx="4244546" cy="2829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A55AB3-D076-2483-B832-4A77F7CAB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04" y="5811066"/>
            <a:ext cx="4244546" cy="28296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2755DE-40EC-46E2-6F43-00D4DAF66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731" y="5811065"/>
            <a:ext cx="4244546" cy="2829697"/>
          </a:xfrm>
          <a:prstGeom prst="rect">
            <a:avLst/>
          </a:prstGeom>
        </p:spPr>
      </p:pic>
      <p:pic>
        <p:nvPicPr>
          <p:cNvPr id="7" name="Picture 6" descr="A diagram of a line and a line&#10;&#10;AI-generated content may be incorrect.">
            <a:extLst>
              <a:ext uri="{FF2B5EF4-FFF2-40B4-BE49-F238E27FC236}">
                <a16:creationId xmlns:a16="http://schemas.microsoft.com/office/drawing/2014/main" id="{8C3ED990-5567-7F3C-6167-016C1DA1B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144" y="503035"/>
            <a:ext cx="1079500" cy="1079500"/>
          </a:xfrm>
          <a:prstGeom prst="rect">
            <a:avLst/>
          </a:prstGeom>
        </p:spPr>
      </p:pic>
      <p:pic>
        <p:nvPicPr>
          <p:cNvPr id="8" name="Picture 7" descr="A diagram of a line with arrows&#10;&#10;AI-generated content may be incorrect.">
            <a:extLst>
              <a:ext uri="{FF2B5EF4-FFF2-40B4-BE49-F238E27FC236}">
                <a16:creationId xmlns:a16="http://schemas.microsoft.com/office/drawing/2014/main" id="{D099AF8A-124C-4A43-5966-BF4CEBE4EE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5190" y="499076"/>
            <a:ext cx="1079500" cy="1079500"/>
          </a:xfrm>
          <a:prstGeom prst="rect">
            <a:avLst/>
          </a:prstGeom>
        </p:spPr>
      </p:pic>
      <p:pic>
        <p:nvPicPr>
          <p:cNvPr id="9" name="Picture 8" descr="A diagram of a line with arrows&#10;&#10;AI-generated content may be incorrect.">
            <a:extLst>
              <a:ext uri="{FF2B5EF4-FFF2-40B4-BE49-F238E27FC236}">
                <a16:creationId xmlns:a16="http://schemas.microsoft.com/office/drawing/2014/main" id="{8355A04D-36E1-D59D-C042-1EEB57D5B3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1824" y="499076"/>
            <a:ext cx="1079500" cy="1079500"/>
          </a:xfrm>
          <a:prstGeom prst="rect">
            <a:avLst/>
          </a:prstGeom>
        </p:spPr>
      </p:pic>
      <p:pic>
        <p:nvPicPr>
          <p:cNvPr id="10" name="Picture 9" descr="A diagram of a square with arrows&#10;&#10;AI-generated content may be incorrect.">
            <a:extLst>
              <a:ext uri="{FF2B5EF4-FFF2-40B4-BE49-F238E27FC236}">
                <a16:creationId xmlns:a16="http://schemas.microsoft.com/office/drawing/2014/main" id="{E243F042-E1F9-8571-3369-C2788C5EFB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58" y="499076"/>
            <a:ext cx="1079500" cy="1079500"/>
          </a:xfrm>
          <a:prstGeom prst="rect">
            <a:avLst/>
          </a:prstGeom>
        </p:spPr>
      </p:pic>
      <p:pic>
        <p:nvPicPr>
          <p:cNvPr id="11" name="Picture 10" descr="A diagram of a line with arrows&#10;&#10;AI-generated content may be incorrect.">
            <a:extLst>
              <a:ext uri="{FF2B5EF4-FFF2-40B4-BE49-F238E27FC236}">
                <a16:creationId xmlns:a16="http://schemas.microsoft.com/office/drawing/2014/main" id="{F0220976-C054-57B3-B203-A33D55E7E2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5092" y="499076"/>
            <a:ext cx="1079500" cy="1079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411B07-FD69-DE7E-6D2B-5375FD1890EB}"/>
              </a:ext>
            </a:extLst>
          </p:cNvPr>
          <p:cNvSpPr txBox="1"/>
          <p:nvPr/>
        </p:nvSpPr>
        <p:spPr>
          <a:xfrm>
            <a:off x="874597" y="1592023"/>
            <a:ext cx="112323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CA" sz="1400" b="1" dirty="0"/>
              <a:t>Category 1</a:t>
            </a:r>
            <a:r>
              <a:rPr lang="en-CA" sz="1400" dirty="0"/>
              <a:t>: tumour growth </a:t>
            </a:r>
            <a:r>
              <a:rPr lang="en-CA" sz="1400" b="1" dirty="0"/>
              <a:t>similar to control</a:t>
            </a:r>
            <a:r>
              <a:rPr lang="en-CA" sz="1400" dirty="0"/>
              <a:t>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CA" sz="1400" b="1" dirty="0"/>
              <a:t>Category 2</a:t>
            </a:r>
            <a:r>
              <a:rPr lang="en-CA" sz="1400" dirty="0"/>
              <a:t>: tumour growth is </a:t>
            </a:r>
            <a:r>
              <a:rPr lang="en-CA" sz="1400" b="1" dirty="0"/>
              <a:t>inhibited compared to control</a:t>
            </a:r>
            <a:r>
              <a:rPr lang="en-CA" sz="1400" dirty="0"/>
              <a:t>, but tumour is still </a:t>
            </a:r>
            <a:r>
              <a:rPr lang="en-CA" sz="1400" b="1" dirty="0"/>
              <a:t>enlarging</a:t>
            </a:r>
            <a:r>
              <a:rPr lang="en-CA" sz="1400" dirty="0"/>
              <a:t> compared to time 0.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CA" sz="1400" b="1" dirty="0"/>
              <a:t>Category 3</a:t>
            </a:r>
            <a:r>
              <a:rPr lang="en-CA" sz="1400" dirty="0"/>
              <a:t>: tumour growth is </a:t>
            </a:r>
            <a:r>
              <a:rPr lang="en-CA" sz="1400" b="1" dirty="0"/>
              <a:t>inhibited compared to control</a:t>
            </a:r>
            <a:r>
              <a:rPr lang="en-CA" sz="1400" dirty="0"/>
              <a:t>, and tumour volume stays </a:t>
            </a:r>
            <a:r>
              <a:rPr lang="en-CA" sz="1400" b="1" dirty="0"/>
              <a:t>stable</a:t>
            </a:r>
            <a:r>
              <a:rPr lang="en-CA" sz="1400" dirty="0"/>
              <a:t>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CA" sz="1400" b="1" dirty="0"/>
              <a:t>Category 4</a:t>
            </a:r>
            <a:r>
              <a:rPr lang="en-CA" sz="1400" dirty="0"/>
              <a:t>: tumour growth is </a:t>
            </a:r>
            <a:r>
              <a:rPr lang="en-CA" sz="1400" b="1" dirty="0"/>
              <a:t>inhibited compared to control</a:t>
            </a:r>
            <a:r>
              <a:rPr lang="en-CA" sz="1400" dirty="0"/>
              <a:t>, and tumour volume is </a:t>
            </a:r>
            <a:r>
              <a:rPr lang="en-CA" sz="1400" b="1" dirty="0"/>
              <a:t>shrinking</a:t>
            </a:r>
            <a:r>
              <a:rPr lang="en-CA" sz="1400" dirty="0"/>
              <a:t>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CA" sz="1400" b="1" dirty="0"/>
              <a:t>Category 5</a:t>
            </a:r>
            <a:r>
              <a:rPr lang="en-CA" sz="1400" dirty="0"/>
              <a:t>: tumour growth is </a:t>
            </a:r>
            <a:r>
              <a:rPr lang="en-CA" sz="1400" b="1" dirty="0"/>
              <a:t>inhibited compared to control</a:t>
            </a:r>
            <a:r>
              <a:rPr lang="en-CA" sz="1400" dirty="0"/>
              <a:t>, and tumour </a:t>
            </a:r>
            <a:r>
              <a:rPr lang="en-CA" sz="1400" b="1" dirty="0"/>
              <a:t>disappeared</a:t>
            </a:r>
            <a:r>
              <a:rPr lang="en-CA" sz="1400" dirty="0"/>
              <a:t> during treatment.</a:t>
            </a:r>
            <a:br>
              <a:rPr lang="en-CA" sz="1400" dirty="0"/>
            </a:b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81927-DCEA-91BA-B0D1-9518DE6D9AC6}"/>
              </a:ext>
            </a:extLst>
          </p:cNvPr>
          <p:cNvSpPr txBox="1"/>
          <p:nvPr/>
        </p:nvSpPr>
        <p:spPr>
          <a:xfrm>
            <a:off x="103436" y="3031498"/>
            <a:ext cx="64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B2921-2C22-BC2E-39D8-F901E91E7B0A}"/>
              </a:ext>
            </a:extLst>
          </p:cNvPr>
          <p:cNvSpPr txBox="1"/>
          <p:nvPr/>
        </p:nvSpPr>
        <p:spPr>
          <a:xfrm>
            <a:off x="51718" y="-7125"/>
            <a:ext cx="64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9C7928-EA86-7768-97ED-E355E65B01FE}"/>
              </a:ext>
            </a:extLst>
          </p:cNvPr>
          <p:cNvSpPr txBox="1"/>
          <p:nvPr/>
        </p:nvSpPr>
        <p:spPr>
          <a:xfrm>
            <a:off x="748895" y="107576"/>
            <a:ext cx="9134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Drug sensitivity categorization criteria </a:t>
            </a:r>
            <a:r>
              <a:rPr lang="en-US" dirty="0"/>
              <a:t>p</a:t>
            </a:r>
            <a:r>
              <a:rPr lang="en-US"/>
              <a:t>rovided to panel of experts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2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3011</TotalTime>
  <Words>93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8</cp:revision>
  <dcterms:created xsi:type="dcterms:W3CDTF">2026-07-29T17:54:54Z</dcterms:created>
  <dcterms:modified xsi:type="dcterms:W3CDTF">2026-08-07T16:26:23Z</dcterms:modified>
</cp:coreProperties>
</file>