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5119350" cy="5400675"/>
  <p:notesSz cx="6858000" cy="9144000"/>
  <p:embeddedFontLst>
    <p:embeddedFont>
      <p:font typeface="Play" pitchFamily="2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i553m8NdOJu3RJVRvvSDH2Dnf3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224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890588" y="1143000"/>
            <a:ext cx="8639176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8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890588" y="1143000"/>
            <a:ext cx="8639176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Figure 2. Systematic evaluation of NeST-VNN model generalizability and performance.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Case study workflow.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Oncoplot illustrating the mutational landscape of the University Health Network (UHN) carboplatin and McGill cisplatin datasets.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Distribution of drug responses across both cohorts based on modified Response Evaluation Criteria in Solid Tumors (mRECIST). CR, complete response; PR, partial response; SD, stable disease; PD, progressive disease.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Density comparison of 718 NeST-VNN features between datasets. Statistical significance was determined using a two-sided Mann–Whitney U test. **** p &lt; 0.0001; *** p &lt; 0.001; ** p &lt; 0.01; * p &lt; 0.05; ns, not significant.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Model transferability. Bar plot summarizing the mean Area Under the Receiver Operating Characteristic Curve (AUC) across fivefold cross-validation, demonstrating model robustness across institutional cohorts. </a:t>
            </a:r>
            <a:r>
              <a:rPr lang="en-CA" sz="1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f. </a:t>
            </a:r>
            <a:r>
              <a:rPr lang="en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NeST-VNN model performance. Receiver Operating Characteristic (ROC) curves and corresponding ensemble AUC values for the UHN carboplatin and McGill cisplatin validation sets. </a:t>
            </a: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889920" y="883861"/>
            <a:ext cx="11339513" cy="1880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61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889920" y="2836606"/>
            <a:ext cx="11339513" cy="130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/>
            </a:lvl1pPr>
            <a:lvl2pPr lvl="1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/>
            </a:lvl2pPr>
            <a:lvl3pPr lvl="2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/>
            </a:lvl3pPr>
            <a:lvl4pPr lvl="3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4pPr>
            <a:lvl5pPr lvl="4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5pPr>
            <a:lvl6pPr lvl="5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6pPr>
            <a:lvl7pPr lvl="6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7pPr>
            <a:lvl8pPr lvl="7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8pPr>
            <a:lvl9pPr lvl="8" algn="ctr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039457" y="287539"/>
            <a:ext cx="13040439" cy="10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039457" y="1437680"/>
            <a:ext cx="13040439" cy="3426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031583" y="1346419"/>
            <a:ext cx="13040439" cy="2246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6142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031583" y="3614203"/>
            <a:ext cx="13040439" cy="118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rgbClr val="757575"/>
              </a:buClr>
              <a:buSzPts val="2457"/>
              <a:buNone/>
              <a:defRPr sz="2457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2047"/>
              <a:buNone/>
              <a:defRPr sz="2047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842"/>
              <a:buNone/>
              <a:defRPr sz="1842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638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039457" y="287539"/>
            <a:ext cx="13040439" cy="10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039456" y="1437680"/>
            <a:ext cx="6425724" cy="3426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7654170" y="1437680"/>
            <a:ext cx="6425724" cy="3426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041427" y="287539"/>
            <a:ext cx="13040439" cy="10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041426" y="1323918"/>
            <a:ext cx="6396193" cy="64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 b="1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 b="1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 b="1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041426" y="1972749"/>
            <a:ext cx="6396193" cy="290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7654172" y="1323918"/>
            <a:ext cx="6427693" cy="64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2457" b="1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2047" b="1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842" b="1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7654172" y="1972749"/>
            <a:ext cx="6427693" cy="2901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039457" y="287539"/>
            <a:ext cx="13040439" cy="10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041426" y="360046"/>
            <a:ext cx="4876384" cy="126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27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6427694" y="777599"/>
            <a:ext cx="7654171" cy="3837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6626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3276"/>
              <a:buChar char="•"/>
              <a:defRPr sz="3276"/>
            </a:lvl1pPr>
            <a:lvl2pPr marL="914400" lvl="1" indent="-410591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866"/>
              <a:buChar char="•"/>
              <a:defRPr sz="2866"/>
            </a:lvl2pPr>
            <a:lvl3pPr marL="1371600" lvl="2" indent="-38462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Char char="•"/>
              <a:defRPr sz="2457"/>
            </a:lvl3pPr>
            <a:lvl4pPr marL="1828800" lvl="3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4pPr>
            <a:lvl5pPr marL="2286000" lvl="4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5pPr>
            <a:lvl6pPr marL="2743200" lvl="5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6pPr>
            <a:lvl7pPr marL="3200400" lvl="6" indent="-358585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7pPr>
            <a:lvl8pPr marL="3657600" lvl="7" indent="-358584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8pPr>
            <a:lvl9pPr marL="4114800" lvl="8" indent="-358584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2047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041426" y="1620204"/>
            <a:ext cx="4876384" cy="30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433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228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1041426" y="360046"/>
            <a:ext cx="4876384" cy="126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3276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6427694" y="777599"/>
            <a:ext cx="7654171" cy="383798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1041426" y="1620204"/>
            <a:ext cx="4876384" cy="300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638"/>
            </a:lvl1pPr>
            <a:lvl2pPr marL="914400" lvl="1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433"/>
            </a:lvl2pPr>
            <a:lvl3pPr marL="1371600" lvl="2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1228"/>
            </a:lvl3pPr>
            <a:lvl4pPr marL="1828800" lvl="3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4pPr>
            <a:lvl5pPr marL="2286000" lvl="4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5pPr>
            <a:lvl6pPr marL="2743200" lvl="5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6pPr>
            <a:lvl7pPr marL="3200400" lvl="6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7pPr>
            <a:lvl8pPr marL="3657600" lvl="7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8pPr>
            <a:lvl9pPr marL="4114800" lvl="8" indent="-2286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102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039457" y="287539"/>
            <a:ext cx="13040439" cy="10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5846336" y="-3369199"/>
            <a:ext cx="3426679" cy="13040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0161430" y="945892"/>
            <a:ext cx="4576823" cy="326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546714" y="-2219721"/>
            <a:ext cx="4576823" cy="959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039457" y="287539"/>
            <a:ext cx="13040439" cy="104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4"/>
              <a:buFont typeface="Play"/>
              <a:buNone/>
              <a:defRPr sz="450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039457" y="1437680"/>
            <a:ext cx="13040439" cy="3426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0591" algn="l" rtl="0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866"/>
              <a:buFont typeface="Arial"/>
              <a:buChar char="•"/>
              <a:defRPr sz="28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4620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Font typeface="Arial"/>
              <a:buChar char="•"/>
              <a:defRPr sz="24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8585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Font typeface="Arial"/>
              <a:buChar char="•"/>
              <a:defRPr sz="204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039457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5008285" y="5005627"/>
            <a:ext cx="5102780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0678042" y="5005627"/>
            <a:ext cx="3401854" cy="28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28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4A3C73E-E816-E8B2-6DC7-F15F1862A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2883" y="2755440"/>
            <a:ext cx="2940976" cy="242044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0905567-5F91-7CE8-767C-FBE5A8AF2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2883" y="77789"/>
            <a:ext cx="4528344" cy="2567446"/>
          </a:xfrm>
          <a:prstGeom prst="rect">
            <a:avLst/>
          </a:prstGeom>
        </p:spPr>
      </p:pic>
      <p:pic>
        <p:nvPicPr>
          <p:cNvPr id="30" name="Picture 29" descr="A diagram of a medical procedure&#10;&#10;AI-generated content may be incorrect.">
            <a:extLst>
              <a:ext uri="{FF2B5EF4-FFF2-40B4-BE49-F238E27FC236}">
                <a16:creationId xmlns:a16="http://schemas.microsoft.com/office/drawing/2014/main" id="{027199B7-3D8D-F614-4611-C10CED454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90" y="77789"/>
            <a:ext cx="3217106" cy="4947138"/>
          </a:xfrm>
          <a:prstGeom prst="rect">
            <a:avLst/>
          </a:prstGeom>
        </p:spPr>
      </p:pic>
      <p:sp>
        <p:nvSpPr>
          <p:cNvPr id="31" name="Google Shape;90;p1">
            <a:extLst>
              <a:ext uri="{FF2B5EF4-FFF2-40B4-BE49-F238E27FC236}">
                <a16:creationId xmlns:a16="http://schemas.microsoft.com/office/drawing/2014/main" id="{5ED5F0F6-5D37-AE8D-0D5F-AB31C40A75B1}"/>
              </a:ext>
            </a:extLst>
          </p:cNvPr>
          <p:cNvSpPr txBox="1"/>
          <p:nvPr/>
        </p:nvSpPr>
        <p:spPr>
          <a:xfrm>
            <a:off x="3494266" y="2201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b.</a:t>
            </a:r>
            <a:endParaRPr/>
          </a:p>
        </p:txBody>
      </p:sp>
      <p:sp>
        <p:nvSpPr>
          <p:cNvPr id="32" name="Google Shape;91;p1">
            <a:extLst>
              <a:ext uri="{FF2B5EF4-FFF2-40B4-BE49-F238E27FC236}">
                <a16:creationId xmlns:a16="http://schemas.microsoft.com/office/drawing/2014/main" id="{C3BE38E3-9E14-78A8-BCD6-74E72E621C55}"/>
              </a:ext>
            </a:extLst>
          </p:cNvPr>
          <p:cNvSpPr txBox="1"/>
          <p:nvPr/>
        </p:nvSpPr>
        <p:spPr>
          <a:xfrm>
            <a:off x="10311295" y="2201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</a:t>
            </a:r>
            <a:endParaRPr dirty="0"/>
          </a:p>
        </p:txBody>
      </p:sp>
      <p:sp>
        <p:nvSpPr>
          <p:cNvPr id="33" name="Google Shape;92;p1">
            <a:extLst>
              <a:ext uri="{FF2B5EF4-FFF2-40B4-BE49-F238E27FC236}">
                <a16:creationId xmlns:a16="http://schemas.microsoft.com/office/drawing/2014/main" id="{8C1144C6-983E-E97B-234D-C9F5C576A465}"/>
              </a:ext>
            </a:extLst>
          </p:cNvPr>
          <p:cNvSpPr txBox="1"/>
          <p:nvPr/>
        </p:nvSpPr>
        <p:spPr>
          <a:xfrm>
            <a:off x="30996" y="2201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a.</a:t>
            </a:r>
            <a:endParaRPr/>
          </a:p>
        </p:txBody>
      </p:sp>
      <p:sp>
        <p:nvSpPr>
          <p:cNvPr id="34" name="Google Shape;103;p1">
            <a:extLst>
              <a:ext uri="{FF2B5EF4-FFF2-40B4-BE49-F238E27FC236}">
                <a16:creationId xmlns:a16="http://schemas.microsoft.com/office/drawing/2014/main" id="{DC86EE2E-1C63-A3C2-0C57-59991CAD212F}"/>
              </a:ext>
            </a:extLst>
          </p:cNvPr>
          <p:cNvSpPr txBox="1"/>
          <p:nvPr/>
        </p:nvSpPr>
        <p:spPr>
          <a:xfrm>
            <a:off x="10311295" y="2665648"/>
            <a:ext cx="81554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d.</a:t>
            </a:r>
            <a:endParaRPr dirty="0">
              <a:solidFill>
                <a:schemeClr val="tx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2D00168-20A0-1456-B49F-86EA34F74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410" y="460433"/>
            <a:ext cx="6453344" cy="463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2853</TotalTime>
  <Words>197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Feng, Guanqiao</dc:creator>
  <cp:lastModifiedBy>Feng, Guanqiao</cp:lastModifiedBy>
  <cp:revision>8</cp:revision>
  <dcterms:created xsi:type="dcterms:W3CDTF">2026-03-16T14:13:34Z</dcterms:created>
  <dcterms:modified xsi:type="dcterms:W3CDTF">2026-06-24T13:53:46Z</dcterms:modified>
</cp:coreProperties>
</file>