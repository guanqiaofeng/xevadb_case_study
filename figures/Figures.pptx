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20"/>
    <p:restoredTop sz="96831"/>
  </p:normalViewPr>
  <p:slideViewPr>
    <p:cSldViewPr snapToGrid="0">
      <p:cViewPr>
        <p:scale>
          <a:sx n="219" d="100"/>
          <a:sy n="219" d="100"/>
        </p:scale>
        <p:origin x="1320" y="-5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B68C01-9811-BEFF-BB7A-6FB35935A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19" y="4049124"/>
            <a:ext cx="2646823" cy="27020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F8FA43-77D1-4C38-85EA-529CF25F4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48" y="2579668"/>
            <a:ext cx="6858000" cy="164729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84" y="6889704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733" r="2241" b="45635"/>
          <a:stretch>
            <a:fillRect/>
          </a:stretch>
        </p:blipFill>
        <p:spPr>
          <a:xfrm>
            <a:off x="73984" y="10082"/>
            <a:ext cx="6710032" cy="24660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7968" y="426693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3578789" y="4266939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535" t="4657" r="77756" b="72481"/>
          <a:stretch>
            <a:fillRect/>
          </a:stretch>
        </p:blipFill>
        <p:spPr>
          <a:xfrm>
            <a:off x="4837847" y="7028204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751205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0" y="2491087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4685241" y="6762943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B742F9-72BD-9F87-216A-7C4ED827E5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36172" y="4365460"/>
            <a:ext cx="2250093" cy="210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8B2B6-13D6-748A-BE48-05CDB075C733}"/>
              </a:ext>
            </a:extLst>
          </p:cNvPr>
          <p:cNvSpPr txBox="1"/>
          <p:nvPr/>
        </p:nvSpPr>
        <p:spPr>
          <a:xfrm>
            <a:off x="0" y="0"/>
            <a:ext cx="6858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1</a:t>
            </a:r>
            <a:r>
              <a:rPr lang="en-CA" sz="1050" dirty="0"/>
              <a:t>. Overview of </a:t>
            </a:r>
            <a:r>
              <a:rPr lang="en-CA" sz="1050" dirty="0" err="1"/>
              <a:t>XevaDB</a:t>
            </a:r>
            <a:r>
              <a:rPr lang="en-CA" sz="1050" dirty="0"/>
              <a:t>, a standardized longitudinal PDX pharmacogenomic resource.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Data curation and analysis pipeline. Raw longitudinal response, omics, and clinical metadata from four source cohorts (McGill Breast, UHN Breast, UHN Lung, PDXE pan-cancer) are curated into standardized </a:t>
            </a:r>
            <a:r>
              <a:rPr lang="en-CA" sz="1050" dirty="0" err="1"/>
              <a:t>XevaSets</a:t>
            </a:r>
            <a:r>
              <a:rPr lang="en-CA" sz="1050" dirty="0"/>
              <a:t> and integrated into </a:t>
            </a:r>
            <a:r>
              <a:rPr lang="en-CA" sz="1050" dirty="0" err="1"/>
              <a:t>XevaDB</a:t>
            </a:r>
            <a:r>
              <a:rPr lang="en-CA" sz="1050" dirty="0"/>
              <a:t>, which supports four downstream case studies: (1) growth-kinetics modeling from control-arm curves and RNA-seq, (2) image-based drug-response classification from standardized tumour-volume curves, (3) cell-line-to-PDX transfer learning using response metrics and mutation/CNV data, and (4) multi-omics prediction of paclitaxel response. (</a:t>
            </a:r>
            <a:r>
              <a:rPr lang="en-CA" sz="1050" b="1" dirty="0"/>
              <a:t>b</a:t>
            </a:r>
            <a:r>
              <a:rPr lang="en-CA" sz="1050" dirty="0"/>
              <a:t>) Summary counts across the four cohorts for patients (n=469), PDX models (n=715; parental and resistant models shown separately), matched omics profiles (RNA-seq/mutation/CNV; n=344/339/339), drugs (n=72), and treatment-control experiments (n=5,632). (</a:t>
            </a:r>
            <a:r>
              <a:rPr lang="en-CA" sz="1050" b="1" dirty="0"/>
              <a:t>c</a:t>
            </a:r>
            <a:r>
              <a:rPr lang="en-CA" sz="1050" dirty="0"/>
              <a:t>) Distribution of PDX models by cancer type (n=715 total across six tumour types), with each wedge group further broken down by contributing dataset (shown in the legend); slice groups are radially separated to indicate cancer type. (</a:t>
            </a:r>
            <a:r>
              <a:rPr lang="en-CA" sz="1050" b="1" dirty="0"/>
              <a:t>d</a:t>
            </a:r>
            <a:r>
              <a:rPr lang="en-CA" sz="1050" dirty="0"/>
              <a:t>) Drugs shared across more than one dataset (10 of 72 total drugs), shown as a dot-matrix across the four cohorts; connected dots indicate the same drug tested in multiple datasets. (</a:t>
            </a:r>
            <a:r>
              <a:rPr lang="en-CA" sz="1050" b="1" dirty="0"/>
              <a:t>e</a:t>
            </a:r>
            <a:r>
              <a:rPr lang="en-CA" sz="1050" dirty="0"/>
              <a:t>) Comparison of </a:t>
            </a:r>
            <a:r>
              <a:rPr lang="en-CA" sz="1050" dirty="0" err="1"/>
              <a:t>XevaDB</a:t>
            </a:r>
            <a:r>
              <a:rPr lang="en-CA" sz="1050" dirty="0"/>
              <a:t> with four existing PDX-related resources — PDX Finder/PDCM Finder (retired), </a:t>
            </a:r>
            <a:r>
              <a:rPr lang="en-CA" sz="1050" dirty="0" err="1"/>
              <a:t>EurOPDX</a:t>
            </a:r>
            <a:r>
              <a:rPr lang="en-CA" sz="1050" dirty="0"/>
              <a:t>, PDMR, and </a:t>
            </a:r>
            <a:r>
              <a:rPr lang="en-CA" sz="1050" dirty="0" err="1"/>
              <a:t>PDXNet</a:t>
            </a:r>
            <a:r>
              <a:rPr lang="en-CA" sz="1050" dirty="0"/>
              <a:t> — across five data-availability capabilities: model metadata, molecular profiles, drug response, longitudinal tumour volume, and analysis-ready dataset. Solid dots indicate full availability, semi-transparent dots indicate limited/partial availability, and the absence of a dot indicates the capability is not available. The organization or consortium responsible for each resource is shown below its name (EMBL-EBI, European Molecular Biology Laboratory–European Bioinformatics Institute; JAX, The Jackson Laboratory; NCI, National Cancer Institute; PMCC, Princess Margaret Cancer Centre). (</a:t>
            </a:r>
            <a:r>
              <a:rPr lang="en-CA" sz="1050" b="1" dirty="0"/>
              <a:t>f</a:t>
            </a:r>
            <a:r>
              <a:rPr lang="en-CA" sz="1050" dirty="0"/>
              <a:t>) </a:t>
            </a:r>
            <a:r>
              <a:rPr lang="en-CA" sz="1050" dirty="0" err="1"/>
              <a:t>XevaDB's</a:t>
            </a:r>
            <a:r>
              <a:rPr lang="en-CA" sz="1050" dirty="0"/>
              <a:t> internal data architecture. The </a:t>
            </a:r>
            <a:r>
              <a:rPr lang="en-CA" sz="1050" dirty="0" err="1"/>
              <a:t>XevaSet</a:t>
            </a:r>
            <a:r>
              <a:rPr lang="en-CA" sz="1050" dirty="0"/>
              <a:t> integrated object unifies model metadata, dataset information, omics profiles, drug annotation, omics-response mapping, longitudinal response, replicate design, and response metrics within a single standardized structure. 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0920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B26C55F-0999-2989-6FEE-14902BFAF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944" y="2271769"/>
            <a:ext cx="2305553" cy="155624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0" r="3238"/>
          <a:stretch>
            <a:fillRect/>
          </a:stretch>
        </p:blipFill>
        <p:spPr>
          <a:xfrm>
            <a:off x="0" y="76434"/>
            <a:ext cx="201265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071777"/>
            <a:ext cx="68580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</a:t>
            </a:r>
            <a:r>
              <a:rPr lang="en-CA" sz="1050" b="1" dirty="0"/>
              <a:t>b</a:t>
            </a:r>
            <a:r>
              <a:rPr lang="en-CA" sz="1050" dirty="0"/>
              <a:t>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</a:t>
            </a:r>
            <a:r>
              <a:rPr lang="en-CA" sz="1050" b="1" dirty="0"/>
              <a:t>c</a:t>
            </a:r>
            <a:r>
              <a:rPr lang="en-CA" sz="1050" dirty="0"/>
              <a:t>) Distribution of estimated doubling times across breast (n = 75) and lung (n = 27) PDX models (</a:t>
            </a:r>
            <a:r>
              <a:rPr lang="en-CA" sz="1050" dirty="0" err="1"/>
              <a:t>intetrated</a:t>
            </a:r>
            <a:r>
              <a:rPr lang="en-CA" sz="1050" dirty="0"/>
              <a:t> modeling datasets shown in a), with the fastest- and slowest-growing tertiles used to define the classification task highlighted (breast: n = 25/25; lung: n = 9/9). (</a:t>
            </a:r>
            <a:r>
              <a:rPr lang="en-CA" sz="1050" b="1" dirty="0"/>
              <a:t>d</a:t>
            </a:r>
            <a:r>
              <a:rPr lang="en-CA" sz="1050" dirty="0"/>
              <a:t>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Cross-cohort 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A31B3E-317D-8976-9A3F-A737AE27B0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6970" y="2284306"/>
            <a:ext cx="2108165" cy="14673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2934218-9889-DCBD-7F02-1F43D9AD5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761" y="171038"/>
            <a:ext cx="2177887" cy="13491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CEED3A-1028-E224-DB5D-CA502E1E4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629" y="22558"/>
            <a:ext cx="1979782" cy="1428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77EA64-1F7A-D555-B131-2FC55F15C3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"/>
            <a:ext cx="2541457" cy="3746002"/>
          </a:xfrm>
          <a:prstGeom prst="rect">
            <a:avLst/>
          </a:prstGeom>
        </p:spPr>
      </p:pic>
      <p:sp>
        <p:nvSpPr>
          <p:cNvPr id="9" name="Google Shape;91;p1">
            <a:extLst>
              <a:ext uri="{FF2B5EF4-FFF2-40B4-BE49-F238E27FC236}">
                <a16:creationId xmlns:a16="http://schemas.microsoft.com/office/drawing/2014/main" id="{8F24F3E5-6C8B-391F-3966-146E0E3F712E}"/>
              </a:ext>
            </a:extLst>
          </p:cNvPr>
          <p:cNvSpPr txBox="1"/>
          <p:nvPr/>
        </p:nvSpPr>
        <p:spPr>
          <a:xfrm>
            <a:off x="0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20" name="Google Shape;92;p1">
            <a:extLst>
              <a:ext uri="{FF2B5EF4-FFF2-40B4-BE49-F238E27FC236}">
                <a16:creationId xmlns:a16="http://schemas.microsoft.com/office/drawing/2014/main" id="{799FF95C-51A6-D79B-EBA5-540C0775C4CB}"/>
              </a:ext>
            </a:extLst>
          </p:cNvPr>
          <p:cNvSpPr txBox="1"/>
          <p:nvPr/>
        </p:nvSpPr>
        <p:spPr>
          <a:xfrm>
            <a:off x="2597112" y="152639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28" name="Google Shape;91;p1">
            <a:extLst>
              <a:ext uri="{FF2B5EF4-FFF2-40B4-BE49-F238E27FC236}">
                <a16:creationId xmlns:a16="http://schemas.microsoft.com/office/drawing/2014/main" id="{975DA3C4-C3AF-E721-5E4D-52AB384E7D73}"/>
              </a:ext>
            </a:extLst>
          </p:cNvPr>
          <p:cNvSpPr txBox="1"/>
          <p:nvPr/>
        </p:nvSpPr>
        <p:spPr>
          <a:xfrm>
            <a:off x="2541458" y="-2673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29" name="Google Shape;91;p1">
            <a:extLst>
              <a:ext uri="{FF2B5EF4-FFF2-40B4-BE49-F238E27FC236}">
                <a16:creationId xmlns:a16="http://schemas.microsoft.com/office/drawing/2014/main" id="{99E9DE9C-AABA-F507-9FDB-A9BFB99083C7}"/>
              </a:ext>
            </a:extLst>
          </p:cNvPr>
          <p:cNvSpPr txBox="1"/>
          <p:nvPr/>
        </p:nvSpPr>
        <p:spPr>
          <a:xfrm>
            <a:off x="4601492" y="-2673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30" name="Google Shape;92;p1">
            <a:extLst>
              <a:ext uri="{FF2B5EF4-FFF2-40B4-BE49-F238E27FC236}">
                <a16:creationId xmlns:a16="http://schemas.microsoft.com/office/drawing/2014/main" id="{CE212310-2235-ABF3-61A0-6581BF756A72}"/>
              </a:ext>
            </a:extLst>
          </p:cNvPr>
          <p:cNvSpPr txBox="1"/>
          <p:nvPr/>
        </p:nvSpPr>
        <p:spPr>
          <a:xfrm>
            <a:off x="2565402" y="2687028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8CF49E-28B9-B1D2-29BF-E490E7005DAD}"/>
              </a:ext>
            </a:extLst>
          </p:cNvPr>
          <p:cNvSpPr txBox="1"/>
          <p:nvPr/>
        </p:nvSpPr>
        <p:spPr>
          <a:xfrm>
            <a:off x="1" y="4113008"/>
            <a:ext cx="685799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3</a:t>
            </a:r>
            <a:r>
              <a:rPr lang="en-CA" sz="1050" dirty="0"/>
              <a:t>. Image-based deep learning captures non-linear drug-response dynamics.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two workflow: tumour-volume growth curves for model-drug batches from the PDXE pan-cancer cohort are rendered as standardized images, scored by a three-rater expert panel into five ordinal response categories, and used to train and compare an image-based ResNet18 classifier against a feature-based Random Forest classifier under matched 5-fold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Cross-validated performance (macro-averaged precision, recall, F1-score, and balanced accuracy) of ResNet18 versus Random Forest across 5 outer folds. (</a:t>
            </a:r>
            <a:r>
              <a:rPr lang="en-CA" sz="1050" b="1" dirty="0"/>
              <a:t>c</a:t>
            </a:r>
            <a:r>
              <a:rPr lang="en-CA" sz="1050" dirty="0"/>
              <a:t>) Random Forest feature importance (mean absolute SHAP value, stacked by response category) for the top 10 of thirteen engineered response features, ranked by total mean absolute SHAP across categories. (</a:t>
            </a:r>
            <a:r>
              <a:rPr lang="en-CA" sz="1050" b="1" dirty="0"/>
              <a:t>d</a:t>
            </a:r>
            <a:r>
              <a:rPr lang="en-CA" sz="1050" dirty="0"/>
              <a:t>) Pooled out-of-fold confusion matrices for ResNet18 and Random Forest across all 1,267 curves. (</a:t>
            </a:r>
            <a:r>
              <a:rPr lang="en-CA" sz="1050" b="1" dirty="0"/>
              <a:t>e</a:t>
            </a:r>
            <a:r>
              <a:rPr lang="en-CA" sz="1050" dirty="0"/>
              <a:t>) Representative Grad-CAM visualizations for one correctly classified, held-out example per response category.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285E2D-35EE-A0DD-F3A9-6C5CA44679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5229" y="1538007"/>
            <a:ext cx="2799299" cy="12585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252FD1-47D2-C840-9CF8-568974D7D5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3629" y="2896530"/>
            <a:ext cx="4214371" cy="1006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6BA1CA83-6FF7-D0A3-CB53-4DC6C41AC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881" y="267109"/>
            <a:ext cx="1977960" cy="1564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3" y="0"/>
            <a:ext cx="2294364" cy="3819441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438979" y="57330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438979" y="203467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235674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</a:t>
            </a:r>
            <a:r>
              <a:rPr lang="en-CA" sz="1050" b="1" dirty="0"/>
              <a:t>b</a:t>
            </a:r>
            <a:r>
              <a:rPr lang="en-CA" sz="1050" dirty="0"/>
              <a:t>) Number of models with exactly one versus two or more treatment-arm replicate mice, for each cohort/cohort definition. (</a:t>
            </a:r>
            <a:r>
              <a:rPr lang="en-CA" sz="1050" b="1" dirty="0"/>
              <a:t>c</a:t>
            </a:r>
            <a:r>
              <a:rPr lang="en-CA" sz="1050" dirty="0"/>
              <a:t>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</a:t>
            </a:r>
            <a:r>
              <a:rPr lang="en-CA" sz="1050" b="1" dirty="0"/>
              <a:t>d</a:t>
            </a:r>
            <a:r>
              <a:rPr lang="en-CA" sz="1050" dirty="0"/>
              <a:t>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(28-day window, primary) and uncapped (full observed duration) response-label definitions, for each of the three cohort definitions;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710147" y="6203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3409FBF-ACCD-33F0-0FEF-054D6916CF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8330" y="2357295"/>
            <a:ext cx="1914510" cy="153160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E71A799-838C-5778-F2ED-C57556A9C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473" y="2272225"/>
            <a:ext cx="2057527" cy="1496383"/>
          </a:xfrm>
          <a:prstGeom prst="rect">
            <a:avLst/>
          </a:prstGeom>
        </p:spPr>
      </p:pic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710147" y="204020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A29CE31-FBA0-845E-F9BD-0E827D359E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5145" y="279160"/>
            <a:ext cx="1977961" cy="1695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B3E395DD-975C-D459-CD5C-D4C2DD00F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989" y="2107548"/>
            <a:ext cx="3275139" cy="1840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C5099E-6400-812B-888E-60F57888AD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34"/>
          <a:stretch>
            <a:fillRect/>
          </a:stretch>
        </p:blipFill>
        <p:spPr>
          <a:xfrm>
            <a:off x="128019" y="71263"/>
            <a:ext cx="2085229" cy="3659165"/>
          </a:xfrm>
          <a:prstGeom prst="rect">
            <a:avLst/>
          </a:prstGeom>
        </p:spPr>
      </p:pic>
      <p:sp>
        <p:nvSpPr>
          <p:cNvPr id="5" name="Google Shape;92;p1">
            <a:extLst>
              <a:ext uri="{FF2B5EF4-FFF2-40B4-BE49-F238E27FC236}">
                <a16:creationId xmlns:a16="http://schemas.microsoft.com/office/drawing/2014/main" id="{2B07435F-59F1-BDCA-69B0-DB8CCA47DE9F}"/>
              </a:ext>
            </a:extLst>
          </p:cNvPr>
          <p:cNvSpPr txBox="1"/>
          <p:nvPr/>
        </p:nvSpPr>
        <p:spPr>
          <a:xfrm>
            <a:off x="-35264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31" name="Google Shape;91;p1">
            <a:extLst>
              <a:ext uri="{FF2B5EF4-FFF2-40B4-BE49-F238E27FC236}">
                <a16:creationId xmlns:a16="http://schemas.microsoft.com/office/drawing/2014/main" id="{5505695E-F5AE-9D8A-F41C-1179427E81A1}"/>
              </a:ext>
            </a:extLst>
          </p:cNvPr>
          <p:cNvSpPr txBox="1"/>
          <p:nvPr/>
        </p:nvSpPr>
        <p:spPr>
          <a:xfrm>
            <a:off x="4477438" y="-2117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F30618-51C9-1374-E709-89A28609F835}"/>
              </a:ext>
            </a:extLst>
          </p:cNvPr>
          <p:cNvSpPr txBox="1"/>
          <p:nvPr/>
        </p:nvSpPr>
        <p:spPr>
          <a:xfrm>
            <a:off x="0" y="4189942"/>
            <a:ext cx="6843269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5</a:t>
            </a:r>
            <a:r>
              <a:rPr lang="en-CA" sz="1050" dirty="0"/>
              <a:t>. </a:t>
            </a:r>
            <a:r>
              <a:rPr lang="en-CA" sz="1050" dirty="0" err="1"/>
              <a:t>XevaDB</a:t>
            </a:r>
            <a:r>
              <a:rPr lang="en-CA" sz="1050" dirty="0"/>
              <a:t>-based multi-omics prediction of paclitaxel response in breast cancer PDX models.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four workflow: drug-sensitivity metrics and RNA-seq/CNV/mutation profiles for the UHN breast paclitaxel cohort are extracted from </a:t>
            </a:r>
            <a:r>
              <a:rPr lang="en-CA" sz="1050" dirty="0" err="1"/>
              <a:t>XevaDB</a:t>
            </a:r>
            <a:r>
              <a:rPr lang="en-CA" sz="1050" dirty="0"/>
              <a:t> and assembled into single-omics, early-fusion, and late-fusion modeling datasets, evaluated by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Cross-validation AUROC of the random forest classifier across single-omics (RNA-only, CNV-only, mutation-only) and multi-omics (early fusion, late fusion) feature sets; boxes show median/IQR and whiskers across five repeats, diamonds mark the mean, dashed line marks chance (AUROC = 0.5). (</a:t>
            </a:r>
            <a:r>
              <a:rPr lang="en-CA" sz="1050" b="1" dirty="0"/>
              <a:t>c</a:t>
            </a:r>
            <a:r>
              <a:rPr lang="en-CA" sz="1050" dirty="0"/>
              <a:t>) Pre-ranked GSEA of the full RNA transcriptome against </a:t>
            </a:r>
            <a:r>
              <a:rPr lang="en-CA" sz="1050" dirty="0" err="1"/>
              <a:t>MSigDB</a:t>
            </a:r>
            <a:r>
              <a:rPr lang="en-CA" sz="1050" dirty="0"/>
              <a:t> Hallmark gene sets; significant pathways per direction shown (FDR q &lt; 0.05). Positive NES: enriched in Sensitive models; negative NES: enriched in Resistant models. (</a:t>
            </a:r>
            <a:r>
              <a:rPr lang="en-CA" sz="1050" b="1" dirty="0"/>
              <a:t>d</a:t>
            </a:r>
            <a:r>
              <a:rPr lang="en-CA" sz="1050" dirty="0"/>
              <a:t>) Cross-cohort comparison of transcriptomic programmes associated with paclitaxel response in UHN PDXs (n=67) and pathological complete response (</a:t>
            </a:r>
            <a:r>
              <a:rPr lang="en-CA" sz="1050" dirty="0" err="1"/>
              <a:t>pCR</a:t>
            </a:r>
            <a:r>
              <a:rPr lang="en-CA" sz="1050" dirty="0"/>
              <a:t>) in the I-SPY2 paclitaxel control arm (n=179 patients). Triangles, PDX normalized enrichment scores (NES) for </a:t>
            </a:r>
            <a:r>
              <a:rPr lang="en-CA" sz="1050" dirty="0" err="1"/>
              <a:t>MSigDB</a:t>
            </a:r>
            <a:r>
              <a:rPr lang="en-CA" sz="1050" dirty="0"/>
              <a:t> Hallmark pathways; circles, patient odds ratios (OR) for </a:t>
            </a:r>
            <a:r>
              <a:rPr lang="en-CA" sz="1050" dirty="0" err="1"/>
              <a:t>pCR</a:t>
            </a:r>
            <a:r>
              <a:rPr lang="en-CA" sz="1050" dirty="0"/>
              <a:t> per one-standard-deviation (1SD) increase in the corresponding predefined I-SPY2 signature, with 95% confidence intervals (refit from patient-level I-SPY2 data; see Methods). Markers are colored by their own direction of association (blue, Resistant; red, Sensitive), so a row is concordant when both markers share a color and discordant when they differ. Positive PDX NES indicates enrichment in sensitive PDXs, whereas patient OR values above 1 indicate higher odds of </a:t>
            </a:r>
            <a:r>
              <a:rPr lang="en-CA" sz="1050" dirty="0" err="1"/>
              <a:t>pCR</a:t>
            </a:r>
            <a:r>
              <a:rPr lang="en-CA" sz="1050" dirty="0"/>
              <a:t>. "Proliferation" reflects the median NES across two Hallmark gene sets significantly enriched in sensitive PDXs (E2F Targets, G2-M Checkpoint from b). Percentages indicate gene overlap between each I-SPY2 signature and its corresponding Hallmark gene set.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E19879E-C637-6FC2-038E-AF4475A98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8200" y="131391"/>
            <a:ext cx="2061647" cy="1549890"/>
          </a:xfrm>
          <a:prstGeom prst="rect">
            <a:avLst/>
          </a:prstGeom>
        </p:spPr>
      </p:pic>
      <p:sp>
        <p:nvSpPr>
          <p:cNvPr id="4" name="Google Shape;90;p1">
            <a:extLst>
              <a:ext uri="{FF2B5EF4-FFF2-40B4-BE49-F238E27FC236}">
                <a16:creationId xmlns:a16="http://schemas.microsoft.com/office/drawing/2014/main" id="{47019256-A2AB-9B69-9C12-F4B377E90B6C}"/>
              </a:ext>
            </a:extLst>
          </p:cNvPr>
          <p:cNvSpPr txBox="1"/>
          <p:nvPr/>
        </p:nvSpPr>
        <p:spPr>
          <a:xfrm>
            <a:off x="2184020" y="-21637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6" name="Google Shape;91;p1">
            <a:extLst>
              <a:ext uri="{FF2B5EF4-FFF2-40B4-BE49-F238E27FC236}">
                <a16:creationId xmlns:a16="http://schemas.microsoft.com/office/drawing/2014/main" id="{F2DAA45E-F8B3-3AAD-23A5-1A2523806084}"/>
              </a:ext>
            </a:extLst>
          </p:cNvPr>
          <p:cNvSpPr txBox="1"/>
          <p:nvPr/>
        </p:nvSpPr>
        <p:spPr>
          <a:xfrm>
            <a:off x="2184020" y="1949869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946857-8F4B-007D-4D7B-BC3C7830B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7824" y="301719"/>
            <a:ext cx="2285446" cy="123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39247</TotalTime>
  <Words>1818</Words>
  <Application>Microsoft Macintosh PowerPoint</Application>
  <PresentationFormat>Letter Paper (8.5x11 in)</PresentationFormat>
  <Paragraphs>44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87</cp:revision>
  <dcterms:created xsi:type="dcterms:W3CDTF">2026-08-11T17:37:51Z</dcterms:created>
  <dcterms:modified xsi:type="dcterms:W3CDTF">2026-09-29T17:48:08Z</dcterms:modified>
</cp:coreProperties>
</file>