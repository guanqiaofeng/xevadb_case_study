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17"/>
    <p:restoredTop sz="96831"/>
  </p:normalViewPr>
  <p:slideViewPr>
    <p:cSldViewPr snapToGrid="0">
      <p:cViewPr>
        <p:scale>
          <a:sx n="150" d="100"/>
          <a:sy n="150" d="100"/>
        </p:scale>
        <p:origin x="2280" y="-2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413B5-0B87-F94B-BE91-80666EE91F3B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E0F12-3282-BC4F-91CD-054CAEAC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5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1pPr>
    <a:lvl2pPr marL="338694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2pPr>
    <a:lvl3pPr marL="677388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3pPr>
    <a:lvl4pPr marL="1016081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4pPr>
    <a:lvl5pPr marL="1354775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5pPr>
    <a:lvl6pPr marL="1693469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6pPr>
    <a:lvl7pPr marL="2032163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7pPr>
    <a:lvl8pPr marL="2370856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8pPr>
    <a:lvl9pPr marL="2709550" algn="l" defTabSz="677388" rtl="0" eaLnBrk="1" latinLnBrk="0" hangingPunct="1">
      <a:defRPr sz="88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E0F12-3282-BC4F-91CD-054CAEACFF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8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3. Systematic evaluation of </a:t>
            </a:r>
            <a:r>
              <a:rPr lang="en-CA" sz="12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generalizability and performance.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Case study workflow.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Oncoplot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illustrating the mutational landscape of the University Health Network (UHN) carboplatin and McGill cisplatin datasets.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Distribution of drug responses across both cohorts based on modified Response Evaluation Criteria in Solid Tumors (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mRECIST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CR, complete response; PR, partial response; SD, stable disease; PD, progressive disease.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Density comparison of 718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features between datasets. Statistical significance was determined using a two-sided Mann–Whitney U test. **** p &lt; 0.0001; *** p &lt; 0.001; ** p &lt; 0.01; * p &lt; 0.05; ns, not significant.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Model transferability. Bar plot summarizing the mean Area Under the Receiver Operating Characteristic Curve (AUC) across fivefold cross-validation, demonstrating model robustness across institutional cohorts.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f.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performance. Receiver Operating Characteristic (ROC) curves and corresponding ensemble AUC values for the UHN carboplatin and McGill cisplatin validation sets. 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2. Systematic evaluation of </a:t>
            </a:r>
            <a:r>
              <a:rPr lang="en-CA" sz="12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generalizability and performance.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Case study workflow.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Oncoplot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illustrating the mutational landscape of the University Health Network (UHN) carboplatin and McGill cisplatin datasets.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Distribution of drug responses across both cohorts based on modified Response Evaluation Criteria in Solid Tumors (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mRECIST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CR, complete response; PR, partial response; SD, stable disease; PD, progressive disease.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Density comparison of 718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features between datasets. Statistical significance was determined using a two-sided Mann–Whitney U test. **** p &lt; 0.0001; *** p &lt; 0.001; ** p &lt; 0.01; * p &lt; 0.05; ns, not significant.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Model transferability. Bar plot summarizing the mean Area Under the Receiver Operating Characteristic Curve (AUC) across fivefold cross-validation, demonstrating model robustness across institutional cohorts. </a:t>
            </a: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f. </a:t>
            </a:r>
            <a:r>
              <a:rPr lang="en-CA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</a:t>
            </a:r>
            <a:r>
              <a:rPr lang="en-CA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-VNN model performance. Receiver Operating Characteristic (ROC) curves and corresponding ensemble AUC values for the UHN carboplatin and McGill cisplatin validation sets. 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24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2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2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4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16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2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5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9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4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2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772C7-2EE0-484B-9C95-05369BBBE097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3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5DDEB47D-23CC-AA6A-1642-9B491377E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4" y="6889704"/>
            <a:ext cx="4402364" cy="183650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795C96A-A96C-2F9E-3A65-B354C0CCDB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33" r="2241" b="45635"/>
          <a:stretch>
            <a:fillRect/>
          </a:stretch>
        </p:blipFill>
        <p:spPr>
          <a:xfrm>
            <a:off x="73984" y="10082"/>
            <a:ext cx="6710032" cy="246606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E6BC976-01DC-B902-E3EC-8002E21A85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507" b="-233"/>
          <a:stretch>
            <a:fillRect/>
          </a:stretch>
        </p:blipFill>
        <p:spPr>
          <a:xfrm>
            <a:off x="361713" y="4301489"/>
            <a:ext cx="2713542" cy="24302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9485F66-022C-2CC8-3988-1B005D4EEB2A}"/>
              </a:ext>
            </a:extLst>
          </p:cNvPr>
          <p:cNvSpPr txBox="1"/>
          <p:nvPr/>
        </p:nvSpPr>
        <p:spPr>
          <a:xfrm>
            <a:off x="-748" y="8509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2E5B0B-3B32-37F8-AFAB-E9396D68EFE4}"/>
              </a:ext>
            </a:extLst>
          </p:cNvPr>
          <p:cNvSpPr txBox="1"/>
          <p:nvPr/>
        </p:nvSpPr>
        <p:spPr>
          <a:xfrm>
            <a:off x="7968" y="4266939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DAF72F-76AB-C86D-211F-18E9AEF08F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95" y="2527209"/>
            <a:ext cx="6813305" cy="16365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2633BCC-DACB-FDD9-B056-F60C3F421A11}"/>
              </a:ext>
            </a:extLst>
          </p:cNvPr>
          <p:cNvSpPr txBox="1"/>
          <p:nvPr/>
        </p:nvSpPr>
        <p:spPr>
          <a:xfrm>
            <a:off x="3578789" y="4266939"/>
            <a:ext cx="518984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838A446-927F-EEEB-0156-35F825DE31F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35" t="4657" r="77756" b="72481"/>
          <a:stretch>
            <a:fillRect/>
          </a:stretch>
        </p:blipFill>
        <p:spPr>
          <a:xfrm>
            <a:off x="4837847" y="7028204"/>
            <a:ext cx="2003219" cy="170346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4D54F8B-2B0E-0731-AA74-B0EA0D8B944A}"/>
              </a:ext>
            </a:extLst>
          </p:cNvPr>
          <p:cNvSpPr txBox="1"/>
          <p:nvPr/>
        </p:nvSpPr>
        <p:spPr>
          <a:xfrm>
            <a:off x="-748" y="6751205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F8E6FB-1EFE-5F9F-48FA-EF52F6C7BF63}"/>
              </a:ext>
            </a:extLst>
          </p:cNvPr>
          <p:cNvSpPr txBox="1"/>
          <p:nvPr/>
        </p:nvSpPr>
        <p:spPr>
          <a:xfrm>
            <a:off x="0" y="2491087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51D0BE6-1C6D-66EE-0FA9-EA15267672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8281" y="4177620"/>
            <a:ext cx="2391550" cy="244279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2291AB61-BA14-B6F2-C28C-5547D4D44F3B}"/>
              </a:ext>
            </a:extLst>
          </p:cNvPr>
          <p:cNvSpPr txBox="1"/>
          <p:nvPr/>
        </p:nvSpPr>
        <p:spPr>
          <a:xfrm>
            <a:off x="4685241" y="6762943"/>
            <a:ext cx="51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40590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98B2B6-13D6-748A-BE48-05CDB075C733}"/>
              </a:ext>
            </a:extLst>
          </p:cNvPr>
          <p:cNvSpPr txBox="1"/>
          <p:nvPr/>
        </p:nvSpPr>
        <p:spPr>
          <a:xfrm>
            <a:off x="0" y="0"/>
            <a:ext cx="685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b="1" dirty="0"/>
              <a:t>Figure 1</a:t>
            </a:r>
            <a:r>
              <a:rPr lang="en-CA" sz="1050" dirty="0"/>
              <a:t>. Overview of </a:t>
            </a:r>
            <a:r>
              <a:rPr lang="en-CA" sz="1050" dirty="0" err="1"/>
              <a:t>XevaDB</a:t>
            </a:r>
            <a:r>
              <a:rPr lang="en-CA" sz="1050" dirty="0"/>
              <a:t>, a standardized longitudinal PDX pharmacogenomic resource.</a:t>
            </a:r>
          </a:p>
          <a:p>
            <a:r>
              <a:rPr lang="en-CA" sz="1050" dirty="0"/>
              <a:t>(</a:t>
            </a:r>
            <a:r>
              <a:rPr lang="en-CA" sz="1050" b="1" dirty="0"/>
              <a:t>a</a:t>
            </a:r>
            <a:r>
              <a:rPr lang="en-CA" sz="1050" dirty="0"/>
              <a:t>) Comparison of </a:t>
            </a:r>
            <a:r>
              <a:rPr lang="en-CA" sz="1050" dirty="0" err="1"/>
              <a:t>XevaDB</a:t>
            </a:r>
            <a:r>
              <a:rPr lang="en-CA" sz="1050" dirty="0"/>
              <a:t> with four existing PDX-related resources — PDX Finder/PDCM Finder (retired), </a:t>
            </a:r>
            <a:r>
              <a:rPr lang="en-CA" sz="1050" dirty="0" err="1"/>
              <a:t>EurOPDX</a:t>
            </a:r>
            <a:r>
              <a:rPr lang="en-CA" sz="1050" dirty="0"/>
              <a:t>, PDMR, and </a:t>
            </a:r>
            <a:r>
              <a:rPr lang="en-CA" sz="1050" dirty="0" err="1"/>
              <a:t>PDXNet</a:t>
            </a:r>
            <a:r>
              <a:rPr lang="en-CA" sz="1050" dirty="0"/>
              <a:t> — across five data-availability capabilities: model metadata, molecular profiles, drug response, longitudinal tumour volume, and analysis-ready dataset. Solid dots indicate full availability, semi-transparent dots indicate limited/partial availability, and the absence of a dot indicates the capability is not available. The organization or consortium responsible for each resource is shown below its name (EMBL-EBI, European Molecular Biology Laboratory–European Bioinformatics Institute; JAX, The Jackson Laboratory; NCI, National Cancer Institute; PMCC, Princess Margaret Cancer Centre). (</a:t>
            </a:r>
            <a:r>
              <a:rPr lang="en-CA" sz="1050" b="1" dirty="0"/>
              <a:t>b</a:t>
            </a:r>
            <a:r>
              <a:rPr lang="en-CA" sz="1050" dirty="0"/>
              <a:t>) </a:t>
            </a:r>
            <a:r>
              <a:rPr lang="en-CA" sz="1050" dirty="0" err="1"/>
              <a:t>XevaDB's</a:t>
            </a:r>
            <a:r>
              <a:rPr lang="en-CA" sz="1050" dirty="0"/>
              <a:t> internal data architecture. The </a:t>
            </a:r>
            <a:r>
              <a:rPr lang="en-CA" sz="1050" dirty="0" err="1"/>
              <a:t>XevaSet</a:t>
            </a:r>
            <a:r>
              <a:rPr lang="en-CA" sz="1050" dirty="0"/>
              <a:t> integrated object unifies model metadata, dataset information, omics profiles, drug annotation, omics-response mapping, longitudinal response, replicate design, and response metrics within a single standardized structure. (</a:t>
            </a:r>
            <a:r>
              <a:rPr lang="en-CA" sz="1050" b="1" dirty="0"/>
              <a:t>c</a:t>
            </a:r>
            <a:r>
              <a:rPr lang="en-CA" sz="1050" dirty="0"/>
              <a:t>) Data curation and analysis pipeline. Raw longitudinal response, omics, and clinical metadata from four source cohorts (McGill Breast, UHN Breast, UHN Lung, PDXE pan-cancer) are curated into standardized </a:t>
            </a:r>
            <a:r>
              <a:rPr lang="en-CA" sz="1050" dirty="0" err="1"/>
              <a:t>XevaSets</a:t>
            </a:r>
            <a:r>
              <a:rPr lang="en-CA" sz="1050" dirty="0"/>
              <a:t> and integrated into </a:t>
            </a:r>
            <a:r>
              <a:rPr lang="en-CA" sz="1050" dirty="0" err="1"/>
              <a:t>XevaDB</a:t>
            </a:r>
            <a:r>
              <a:rPr lang="en-CA" sz="1050" dirty="0"/>
              <a:t>, which supports four downstream case studies: (1) growth-kinetics modeling from control-arm curves and RNA-seq, (2) image-based drug-response classification from standardized tumour-volume curves, (3) cell-line-to-PDX transfer learning using response metrics and mutation/CNV data, and (4) multi-omics prediction of paclitaxel response. (</a:t>
            </a:r>
            <a:r>
              <a:rPr lang="en-CA" sz="1050" b="1" dirty="0"/>
              <a:t>d</a:t>
            </a:r>
            <a:r>
              <a:rPr lang="en-CA" sz="1050" dirty="0"/>
              <a:t>) Summary counts across the four cohorts for patients (n=469), PDX models (n=715; parental and resistant models shown separately), matched omics profiles (RNA-seq/mutation/CNV; n=344/339/339), drugs (n=72), and treatment-control experiments (n=5,632). (</a:t>
            </a:r>
            <a:r>
              <a:rPr lang="en-CA" sz="1050" b="1" dirty="0"/>
              <a:t>e</a:t>
            </a:r>
            <a:r>
              <a:rPr lang="en-CA" sz="1050" dirty="0"/>
              <a:t>) Distribution of PDX models by cancer type (n=715 total across six tumour types), with each wedge group further broken down by contributing dataset (shown in the legend); slice groups are radially separated to indicate cancer type. (</a:t>
            </a:r>
            <a:r>
              <a:rPr lang="en-CA" sz="1050" b="1" dirty="0"/>
              <a:t>f</a:t>
            </a:r>
            <a:r>
              <a:rPr lang="en-CA" sz="1050" dirty="0"/>
              <a:t>) Drugs shared across more than one dataset (10 of 72 total drugs), shown as a dot-matrix across the four cohorts; connected dots indicate the same drug tested in multiple datasets.</a:t>
            </a:r>
          </a:p>
          <a:p>
            <a:br>
              <a:rPr lang="en-CA" sz="1050" dirty="0"/>
            </a:b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20920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06FEC50F-EF92-20F5-CD4C-167CE985A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618" y="21842"/>
            <a:ext cx="2796382" cy="102402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056619A-1995-C1C3-B0FD-12E606CCD1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40" r="3238"/>
          <a:stretch>
            <a:fillRect/>
          </a:stretch>
        </p:blipFill>
        <p:spPr>
          <a:xfrm>
            <a:off x="0" y="76434"/>
            <a:ext cx="2012653" cy="3552124"/>
          </a:xfrm>
          <a:prstGeom prst="rect">
            <a:avLst/>
          </a:prstGeom>
        </p:spPr>
      </p:pic>
      <p:sp>
        <p:nvSpPr>
          <p:cNvPr id="23" name="Google Shape;93;p1">
            <a:extLst>
              <a:ext uri="{FF2B5EF4-FFF2-40B4-BE49-F238E27FC236}">
                <a16:creationId xmlns:a16="http://schemas.microsoft.com/office/drawing/2014/main" id="{89D3D9B4-E0E7-614F-141F-4F0F353F5FEF}"/>
              </a:ext>
            </a:extLst>
          </p:cNvPr>
          <p:cNvSpPr txBox="1"/>
          <p:nvPr/>
        </p:nvSpPr>
        <p:spPr>
          <a:xfrm>
            <a:off x="0" y="-3004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a</a:t>
            </a:r>
            <a:endParaRPr sz="1200" b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0E6B068-1E9B-A276-354B-7A5C1B202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544" y="1045869"/>
            <a:ext cx="2781456" cy="101856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A9D1A02-9E6F-7891-BD70-4CC94F58AD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1688" y="78486"/>
            <a:ext cx="1559175" cy="2119322"/>
          </a:xfrm>
          <a:prstGeom prst="rect">
            <a:avLst/>
          </a:prstGeom>
        </p:spPr>
      </p:pic>
      <p:sp>
        <p:nvSpPr>
          <p:cNvPr id="40" name="Google Shape;93;p1">
            <a:extLst>
              <a:ext uri="{FF2B5EF4-FFF2-40B4-BE49-F238E27FC236}">
                <a16:creationId xmlns:a16="http://schemas.microsoft.com/office/drawing/2014/main" id="{04AF3426-4E22-EAD2-FC76-3BFA937B5A13}"/>
              </a:ext>
            </a:extLst>
          </p:cNvPr>
          <p:cNvSpPr txBox="1"/>
          <p:nvPr/>
        </p:nvSpPr>
        <p:spPr>
          <a:xfrm>
            <a:off x="1977682" y="0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b</a:t>
            </a:r>
            <a:endParaRPr sz="1200" b="1" dirty="0"/>
          </a:p>
        </p:txBody>
      </p:sp>
      <p:sp>
        <p:nvSpPr>
          <p:cNvPr id="41" name="Google Shape;93;p1">
            <a:extLst>
              <a:ext uri="{FF2B5EF4-FFF2-40B4-BE49-F238E27FC236}">
                <a16:creationId xmlns:a16="http://schemas.microsoft.com/office/drawing/2014/main" id="{A5AFC892-CA4C-37D4-E3F7-B639D548EF8A}"/>
              </a:ext>
            </a:extLst>
          </p:cNvPr>
          <p:cNvSpPr txBox="1"/>
          <p:nvPr/>
        </p:nvSpPr>
        <p:spPr>
          <a:xfrm>
            <a:off x="3805824" y="0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c</a:t>
            </a:r>
            <a:endParaRPr sz="1200" b="1" dirty="0"/>
          </a:p>
        </p:txBody>
      </p:sp>
      <p:sp>
        <p:nvSpPr>
          <p:cNvPr id="42" name="Google Shape;93;p1">
            <a:extLst>
              <a:ext uri="{FF2B5EF4-FFF2-40B4-BE49-F238E27FC236}">
                <a16:creationId xmlns:a16="http://schemas.microsoft.com/office/drawing/2014/main" id="{B75F7EF8-A70D-FDC6-8006-9F3773889A95}"/>
              </a:ext>
            </a:extLst>
          </p:cNvPr>
          <p:cNvSpPr txBox="1"/>
          <p:nvPr/>
        </p:nvSpPr>
        <p:spPr>
          <a:xfrm>
            <a:off x="2012653" y="2161124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d</a:t>
            </a:r>
            <a:endParaRPr sz="1200" b="1" dirty="0"/>
          </a:p>
        </p:txBody>
      </p:sp>
      <p:sp>
        <p:nvSpPr>
          <p:cNvPr id="43" name="Google Shape;93;p1">
            <a:extLst>
              <a:ext uri="{FF2B5EF4-FFF2-40B4-BE49-F238E27FC236}">
                <a16:creationId xmlns:a16="http://schemas.microsoft.com/office/drawing/2014/main" id="{A3EB12CC-7E97-04A9-A03C-EF150A32E40A}"/>
              </a:ext>
            </a:extLst>
          </p:cNvPr>
          <p:cNvSpPr txBox="1"/>
          <p:nvPr/>
        </p:nvSpPr>
        <p:spPr>
          <a:xfrm>
            <a:off x="4315135" y="2161124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e</a:t>
            </a:r>
            <a:endParaRPr sz="1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D162CA-1078-97C5-6F83-1ED4F28E2186}"/>
              </a:ext>
            </a:extLst>
          </p:cNvPr>
          <p:cNvSpPr txBox="1"/>
          <p:nvPr/>
        </p:nvSpPr>
        <p:spPr>
          <a:xfrm>
            <a:off x="0" y="4071777"/>
            <a:ext cx="685800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b="1" dirty="0"/>
              <a:t>Figure 2</a:t>
            </a:r>
            <a:r>
              <a:rPr lang="en-CA" sz="1050" dirty="0"/>
              <a:t>. Transcriptomic modeling of intrinsic PDX growth kinetics.</a:t>
            </a:r>
          </a:p>
          <a:p>
            <a:r>
              <a:rPr lang="en-CA" sz="1050" dirty="0"/>
              <a:t>(</a:t>
            </a:r>
            <a:r>
              <a:rPr lang="en-CA" sz="1050" b="1" dirty="0"/>
              <a:t>a</a:t>
            </a:r>
            <a:r>
              <a:rPr lang="en-CA" sz="1050" dirty="0"/>
              <a:t>) Case study one workflow: control-arm longitudinal tumour-volume curves and matched RNA-seq from breast and lung PDX cohorts are used to estimate model-level doubling time, modeled by </a:t>
            </a:r>
            <a:r>
              <a:rPr lang="en-CA" sz="1050" dirty="0" err="1"/>
              <a:t>ElasticNet</a:t>
            </a:r>
            <a:r>
              <a:rPr lang="en-CA" sz="1050" dirty="0"/>
              <a:t>, Random Forest, and Lassoed Forest classifiers under repeated cross-validation. (</a:t>
            </a:r>
            <a:r>
              <a:rPr lang="en-CA" sz="1050" b="1" dirty="0"/>
              <a:t>b</a:t>
            </a:r>
            <a:r>
              <a:rPr lang="en-CA" sz="1050" dirty="0"/>
              <a:t>) Representative doubling-time estimation for one control-arm mouse (REF001.H2O.m9): raw tumour-volume trajectory (top; points within the 35-day fitting window in blue, excluded points in gray) and the corresponding exponential-growth fit (ln(tumour volume) vs. time, bottom), with goodness-of-fit (R² = 0.91) and doubling time (DT = 20.7 days) annotated. (</a:t>
            </a:r>
            <a:r>
              <a:rPr lang="en-CA" sz="1050" b="1" dirty="0"/>
              <a:t>c</a:t>
            </a:r>
            <a:r>
              <a:rPr lang="en-CA" sz="1050" dirty="0"/>
              <a:t>) Distribution of estimated doubling times across breast (n = 75) and lung (n = 27) PDX models (</a:t>
            </a:r>
            <a:r>
              <a:rPr lang="en-CA" sz="1050" dirty="0" err="1"/>
              <a:t>intetrated</a:t>
            </a:r>
            <a:r>
              <a:rPr lang="en-CA" sz="1050" dirty="0"/>
              <a:t> modeling datasets shown in a), with the fastest- and slowest-growing tertiles used to define the classification task highlighted (breast: n = 25/25; lung: n = 9/9). (</a:t>
            </a:r>
            <a:r>
              <a:rPr lang="en-CA" sz="1050" b="1" dirty="0"/>
              <a:t>d</a:t>
            </a:r>
            <a:r>
              <a:rPr lang="en-CA" sz="1050" dirty="0"/>
              <a:t>) Cross-validated AUROC of </a:t>
            </a:r>
            <a:r>
              <a:rPr lang="en-CA" sz="1050" dirty="0" err="1"/>
              <a:t>ElasticNet</a:t>
            </a:r>
            <a:r>
              <a:rPr lang="en-CA" sz="1050" dirty="0"/>
              <a:t>, Random Forest, and Lassoed Forest classifiers distinguishing fast- from slow-growing models, breast and lung; dashed line, chance performance. (</a:t>
            </a:r>
            <a:r>
              <a:rPr lang="en-CA" sz="1050" b="1" dirty="0"/>
              <a:t>e</a:t>
            </a:r>
            <a:r>
              <a:rPr lang="en-CA" sz="1050" dirty="0"/>
              <a:t>) Cross-cohort comparison of Hallmark gene-set enrichment (GSEA NES) associated with fast- vs. slow-growing tumours in the breast and lung cohorts.</a:t>
            </a:r>
          </a:p>
          <a:p>
            <a:br>
              <a:rPr lang="en-CA" sz="1050" dirty="0"/>
            </a:br>
            <a:endParaRPr lang="en-US" sz="10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515F0-C59D-AEFC-714B-5A7E121D53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3882" y="2240743"/>
            <a:ext cx="2108165" cy="14673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F188DF-45BC-5690-1931-15E3A7F828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877" y="2227296"/>
            <a:ext cx="2027028" cy="15466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934218-9889-DCBD-7F02-1F43D9AD5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132" y="255874"/>
            <a:ext cx="2189868" cy="13565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CEED3A-1028-E224-DB5D-CA502E1E4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581" y="157038"/>
            <a:ext cx="1880427" cy="1356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77EA64-1F7A-D555-B131-2FC55F15C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1"/>
            <a:ext cx="2541457" cy="3746002"/>
          </a:xfrm>
          <a:prstGeom prst="rect">
            <a:avLst/>
          </a:prstGeom>
        </p:spPr>
      </p:pic>
      <p:sp>
        <p:nvSpPr>
          <p:cNvPr id="9" name="Google Shape;91;p1">
            <a:extLst>
              <a:ext uri="{FF2B5EF4-FFF2-40B4-BE49-F238E27FC236}">
                <a16:creationId xmlns:a16="http://schemas.microsoft.com/office/drawing/2014/main" id="{8F24F3E5-6C8B-391F-3966-146E0E3F712E}"/>
              </a:ext>
            </a:extLst>
          </p:cNvPr>
          <p:cNvSpPr txBox="1"/>
          <p:nvPr/>
        </p:nvSpPr>
        <p:spPr>
          <a:xfrm>
            <a:off x="0" y="0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200" b="1" dirty="0"/>
          </a:p>
        </p:txBody>
      </p:sp>
      <p:sp>
        <p:nvSpPr>
          <p:cNvPr id="20" name="Google Shape;92;p1">
            <a:extLst>
              <a:ext uri="{FF2B5EF4-FFF2-40B4-BE49-F238E27FC236}">
                <a16:creationId xmlns:a16="http://schemas.microsoft.com/office/drawing/2014/main" id="{799FF95C-51A6-D79B-EBA5-540C0775C4CB}"/>
              </a:ext>
            </a:extLst>
          </p:cNvPr>
          <p:cNvSpPr txBox="1"/>
          <p:nvPr/>
        </p:nvSpPr>
        <p:spPr>
          <a:xfrm>
            <a:off x="2597112" y="1526393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d</a:t>
            </a:r>
            <a:endParaRPr sz="1200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3043B48-2988-DF19-EF64-19C34C1BA1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8508" y="2833514"/>
            <a:ext cx="4209492" cy="98991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54C3D8E-9910-7BC9-D5FF-38D981718D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3188" y="1596880"/>
            <a:ext cx="2504245" cy="1125900"/>
          </a:xfrm>
          <a:prstGeom prst="rect">
            <a:avLst/>
          </a:prstGeom>
        </p:spPr>
      </p:pic>
      <p:sp>
        <p:nvSpPr>
          <p:cNvPr id="28" name="Google Shape;91;p1">
            <a:extLst>
              <a:ext uri="{FF2B5EF4-FFF2-40B4-BE49-F238E27FC236}">
                <a16:creationId xmlns:a16="http://schemas.microsoft.com/office/drawing/2014/main" id="{975DA3C4-C3AF-E721-5E4D-52AB384E7D73}"/>
              </a:ext>
            </a:extLst>
          </p:cNvPr>
          <p:cNvSpPr txBox="1"/>
          <p:nvPr/>
        </p:nvSpPr>
        <p:spPr>
          <a:xfrm>
            <a:off x="2583736" y="0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b</a:t>
            </a:r>
            <a:endParaRPr sz="1200" b="1" dirty="0"/>
          </a:p>
        </p:txBody>
      </p:sp>
      <p:sp>
        <p:nvSpPr>
          <p:cNvPr id="29" name="Google Shape;91;p1">
            <a:extLst>
              <a:ext uri="{FF2B5EF4-FFF2-40B4-BE49-F238E27FC236}">
                <a16:creationId xmlns:a16="http://schemas.microsoft.com/office/drawing/2014/main" id="{99E9DE9C-AABA-F507-9FDB-A9BFB99083C7}"/>
              </a:ext>
            </a:extLst>
          </p:cNvPr>
          <p:cNvSpPr txBox="1"/>
          <p:nvPr/>
        </p:nvSpPr>
        <p:spPr>
          <a:xfrm>
            <a:off x="4700168" y="0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c</a:t>
            </a:r>
            <a:endParaRPr sz="1200" b="1" dirty="0"/>
          </a:p>
        </p:txBody>
      </p:sp>
      <p:sp>
        <p:nvSpPr>
          <p:cNvPr id="30" name="Google Shape;92;p1">
            <a:extLst>
              <a:ext uri="{FF2B5EF4-FFF2-40B4-BE49-F238E27FC236}">
                <a16:creationId xmlns:a16="http://schemas.microsoft.com/office/drawing/2014/main" id="{CE212310-2235-ABF3-61A0-6581BF756A72}"/>
              </a:ext>
            </a:extLst>
          </p:cNvPr>
          <p:cNvSpPr txBox="1"/>
          <p:nvPr/>
        </p:nvSpPr>
        <p:spPr>
          <a:xfrm>
            <a:off x="2565402" y="2687028"/>
            <a:ext cx="66726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</a:rPr>
              <a:t>e</a:t>
            </a:r>
            <a:endParaRPr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8CF49E-28B9-B1D2-29BF-E490E7005DAD}"/>
              </a:ext>
            </a:extLst>
          </p:cNvPr>
          <p:cNvSpPr txBox="1"/>
          <p:nvPr/>
        </p:nvSpPr>
        <p:spPr>
          <a:xfrm>
            <a:off x="1" y="4113008"/>
            <a:ext cx="685799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b="1" dirty="0"/>
              <a:t>Figure 3</a:t>
            </a:r>
            <a:r>
              <a:rPr lang="en-CA" sz="1050" dirty="0"/>
              <a:t>. Image-based deep learning captures non-linear drug-response dynamics.</a:t>
            </a:r>
          </a:p>
          <a:p>
            <a:r>
              <a:rPr lang="en-CA" sz="1050" dirty="0"/>
              <a:t>(</a:t>
            </a:r>
            <a:r>
              <a:rPr lang="en-CA" sz="1050" b="1" dirty="0"/>
              <a:t>a</a:t>
            </a:r>
            <a:r>
              <a:rPr lang="en-CA" sz="1050" dirty="0"/>
              <a:t>) Case study two workflow: tumour-volume growth curves for model-drug batches from the PDXE pan-cancer cohort are rendered as standardized images, scored by a three-rater expert panel into five ordinal response categories, and used to train and compare an image-based ResNet18 classifier against a feature-based Random Forest classifier under matched 5-fold cross-validation. (</a:t>
            </a:r>
            <a:r>
              <a:rPr lang="en-CA" sz="1050" b="1" dirty="0"/>
              <a:t>b</a:t>
            </a:r>
            <a:r>
              <a:rPr lang="en-CA" sz="1050" dirty="0"/>
              <a:t>) Cross-validated performance (macro-averaged precision, recall, F1-score, and balanced accuracy) of ResNet18 versus Random Forest across 5 outer folds. (</a:t>
            </a:r>
            <a:r>
              <a:rPr lang="en-CA" sz="1050" b="1" dirty="0"/>
              <a:t>c</a:t>
            </a:r>
            <a:r>
              <a:rPr lang="en-CA" sz="1050" dirty="0"/>
              <a:t>) Random Forest feature importance (mean absolute SHAP value, stacked by response category) for the top 10 of thirteen engineered response features, ranked by total mean absolute SHAP across categories. (</a:t>
            </a:r>
            <a:r>
              <a:rPr lang="en-CA" sz="1050" b="1" dirty="0"/>
              <a:t>d</a:t>
            </a:r>
            <a:r>
              <a:rPr lang="en-CA" sz="1050" dirty="0"/>
              <a:t>) Pooled out-of-fold confusion matrices for ResNet18 and Random Forest across all 1,267 curves. (</a:t>
            </a:r>
            <a:r>
              <a:rPr lang="en-CA" sz="1050" b="1" dirty="0"/>
              <a:t>e</a:t>
            </a:r>
            <a:r>
              <a:rPr lang="en-CA" sz="1050" dirty="0"/>
              <a:t>) Representative Grad-CAM visualizations for one correctly classified, held-out example per response category.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383F4E-82EE-4026-4581-BB6D78E04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497" y="327467"/>
            <a:ext cx="1823388" cy="1562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504FB4-106E-BC82-E040-2FAC00159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3" y="0"/>
            <a:ext cx="2294364" cy="3819441"/>
          </a:xfrm>
          <a:prstGeom prst="rect">
            <a:avLst/>
          </a:prstGeom>
        </p:spPr>
      </p:pic>
      <p:sp>
        <p:nvSpPr>
          <p:cNvPr id="8" name="Google Shape;90;p1">
            <a:extLst>
              <a:ext uri="{FF2B5EF4-FFF2-40B4-BE49-F238E27FC236}">
                <a16:creationId xmlns:a16="http://schemas.microsoft.com/office/drawing/2014/main" id="{51B8AC2F-3FD5-4E93-941C-FBD70EB6B55F}"/>
              </a:ext>
            </a:extLst>
          </p:cNvPr>
          <p:cNvSpPr txBox="1"/>
          <p:nvPr/>
        </p:nvSpPr>
        <p:spPr>
          <a:xfrm>
            <a:off x="2225009" y="92896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200" b="1" dirty="0"/>
          </a:p>
        </p:txBody>
      </p:sp>
      <p:sp>
        <p:nvSpPr>
          <p:cNvPr id="14" name="Google Shape;92;p1">
            <a:extLst>
              <a:ext uri="{FF2B5EF4-FFF2-40B4-BE49-F238E27FC236}">
                <a16:creationId xmlns:a16="http://schemas.microsoft.com/office/drawing/2014/main" id="{92B8B93A-6656-8E21-3F20-7053E5EDCD7F}"/>
              </a:ext>
            </a:extLst>
          </p:cNvPr>
          <p:cNvSpPr txBox="1"/>
          <p:nvPr/>
        </p:nvSpPr>
        <p:spPr>
          <a:xfrm>
            <a:off x="30996" y="2201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2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0282F68-1768-1088-EF23-8AC94EC9CF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022" y="189502"/>
            <a:ext cx="1975338" cy="15629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C6A910-5E28-C73D-011D-B7DD466201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9025" y="2390063"/>
            <a:ext cx="1975339" cy="1580272"/>
          </a:xfrm>
          <a:prstGeom prst="rect">
            <a:avLst/>
          </a:prstGeom>
        </p:spPr>
      </p:pic>
      <p:sp>
        <p:nvSpPr>
          <p:cNvPr id="16" name="Google Shape;103;p1">
            <a:extLst>
              <a:ext uri="{FF2B5EF4-FFF2-40B4-BE49-F238E27FC236}">
                <a16:creationId xmlns:a16="http://schemas.microsoft.com/office/drawing/2014/main" id="{DD32B8EE-40E7-7449-E188-E5CDB0209A42}"/>
              </a:ext>
            </a:extLst>
          </p:cNvPr>
          <p:cNvSpPr txBox="1"/>
          <p:nvPr/>
        </p:nvSpPr>
        <p:spPr>
          <a:xfrm>
            <a:off x="2225009" y="2119022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200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A182DFD-3C09-F84C-6454-878DCA8F5E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760" y="2286375"/>
            <a:ext cx="2243178" cy="1631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E53C61-A5CB-8D45-98D9-473226B45D20}"/>
              </a:ext>
            </a:extLst>
          </p:cNvPr>
          <p:cNvSpPr txBox="1"/>
          <p:nvPr/>
        </p:nvSpPr>
        <p:spPr>
          <a:xfrm>
            <a:off x="30996" y="4235674"/>
            <a:ext cx="682700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b="1" dirty="0"/>
              <a:t>Figure 4</a:t>
            </a:r>
            <a:r>
              <a:rPr lang="en-CA" sz="1050" dirty="0"/>
              <a:t>. Cross-platform validation of </a:t>
            </a:r>
            <a:r>
              <a:rPr lang="en-CA" sz="1050" dirty="0" err="1"/>
              <a:t>NeST</a:t>
            </a:r>
            <a:r>
              <a:rPr lang="en-CA" sz="1050" dirty="0"/>
              <a:t>-VNN on independent PDX cohorts.</a:t>
            </a:r>
          </a:p>
          <a:p>
            <a:r>
              <a:rPr lang="en-CA" sz="1050" dirty="0"/>
              <a:t>(</a:t>
            </a:r>
            <a:r>
              <a:rPr lang="en-CA" sz="1050" b="1" dirty="0"/>
              <a:t>a</a:t>
            </a:r>
            <a:r>
              <a:rPr lang="en-CA" sz="1050" dirty="0"/>
              <a:t>) Case study three workflow: drug-response, mutation, and copy-number data from the McGill (cisplatin, n = 29) and UHN (carboplatin; complete cohort n = 68, replicate-supported "strict" cohort n = 36) breast PDX cohorts are used as external input to a cell-line-pretrained </a:t>
            </a:r>
            <a:r>
              <a:rPr lang="en-CA" sz="1050" dirty="0" err="1"/>
              <a:t>NeST</a:t>
            </a:r>
            <a:r>
              <a:rPr lang="en-CA" sz="1050" dirty="0"/>
              <a:t>-VNN ensemble, validated against a growth-curve response label. (</a:t>
            </a:r>
            <a:r>
              <a:rPr lang="en-CA" sz="1050" b="1" dirty="0"/>
              <a:t>b</a:t>
            </a:r>
            <a:r>
              <a:rPr lang="en-CA" sz="1050" dirty="0"/>
              <a:t>) Number of models with exactly one versus two or more treatment-arm replicate mice, for each cohort/cohort definition. (</a:t>
            </a:r>
            <a:r>
              <a:rPr lang="en-CA" sz="1050" b="1" dirty="0"/>
              <a:t>c</a:t>
            </a:r>
            <a:r>
              <a:rPr lang="en-CA" sz="1050" dirty="0"/>
              <a:t>) Fraction of the 718-gene </a:t>
            </a:r>
            <a:r>
              <a:rPr lang="en-CA" sz="1050" dirty="0" err="1"/>
              <a:t>NeST</a:t>
            </a:r>
            <a:r>
              <a:rPr lang="en-CA" sz="1050" dirty="0"/>
              <a:t>-VNN input panel with recorded mutation and copy-number (CNV) calls in each cohort's raw molecular profiles. (</a:t>
            </a:r>
            <a:r>
              <a:rPr lang="en-CA" sz="1050" b="1" dirty="0"/>
              <a:t>d</a:t>
            </a:r>
            <a:r>
              <a:rPr lang="en-CA" sz="1050" dirty="0"/>
              <a:t>) Bootstrap 95% confidence intervals for </a:t>
            </a:r>
            <a:r>
              <a:rPr lang="en-CA" sz="1050" dirty="0" err="1"/>
              <a:t>NeST</a:t>
            </a:r>
            <a:r>
              <a:rPr lang="en-CA" sz="1050" dirty="0"/>
              <a:t>-VNN's AUROC under the capped (28 day window, primary) and uncapped (full observed duration) response-label definitions, for each of the three cohort definitions; dashed line, chance performance. (</a:t>
            </a:r>
            <a:r>
              <a:rPr lang="en-CA" sz="1050" b="1" dirty="0"/>
              <a:t>e</a:t>
            </a:r>
            <a:r>
              <a:rPr lang="en-CA" sz="1050" dirty="0"/>
              <a:t>) </a:t>
            </a:r>
            <a:r>
              <a:rPr lang="en-CA" sz="1050" dirty="0" err="1"/>
              <a:t>NeST</a:t>
            </a:r>
            <a:r>
              <a:rPr lang="en-CA" sz="1050" dirty="0"/>
              <a:t>-VNN performance across alternative response definitions. AUROC was evaluated across cohort-specific treatment-arm slope percentile cutoffs, with models below each cutoff classified as sensitive. Lines represent the McGill cisplatin, UHN carboplatin complete and UHN carboplatin strict cohorts, shaded regions indicate bootstrap 95% confidence intervals, and the dotted line indicates chance performance (AUROC = 0.5).</a:t>
            </a:r>
            <a:br>
              <a:rPr lang="en-CA" sz="1050" dirty="0"/>
            </a:br>
            <a:endParaRPr lang="en-US" sz="1050" dirty="0"/>
          </a:p>
        </p:txBody>
      </p:sp>
      <p:sp>
        <p:nvSpPr>
          <p:cNvPr id="15" name="Google Shape;103;p1">
            <a:extLst>
              <a:ext uri="{FF2B5EF4-FFF2-40B4-BE49-F238E27FC236}">
                <a16:creationId xmlns:a16="http://schemas.microsoft.com/office/drawing/2014/main" id="{4A86B9F1-B0DE-C267-FEC6-76C0AE25A302}"/>
              </a:ext>
            </a:extLst>
          </p:cNvPr>
          <p:cNvSpPr txBox="1"/>
          <p:nvPr/>
        </p:nvSpPr>
        <p:spPr>
          <a:xfrm>
            <a:off x="4419022" y="2146502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</a:rPr>
              <a:t>e</a:t>
            </a:r>
            <a:endParaRPr sz="1200" b="1" dirty="0"/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61B01E8B-4C87-B8A7-227C-36E2D2D97A5A}"/>
              </a:ext>
            </a:extLst>
          </p:cNvPr>
          <p:cNvSpPr txBox="1"/>
          <p:nvPr/>
        </p:nvSpPr>
        <p:spPr>
          <a:xfrm>
            <a:off x="4419022" y="-2124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</a:rPr>
              <a:t>c</a:t>
            </a:r>
            <a:endParaRPr sz="12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C5099E-6400-812B-888E-60F57888AD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4"/>
          <a:stretch>
            <a:fillRect/>
          </a:stretch>
        </p:blipFill>
        <p:spPr>
          <a:xfrm>
            <a:off x="128019" y="71263"/>
            <a:ext cx="2085229" cy="3659165"/>
          </a:xfrm>
          <a:prstGeom prst="rect">
            <a:avLst/>
          </a:prstGeom>
        </p:spPr>
      </p:pic>
      <p:sp>
        <p:nvSpPr>
          <p:cNvPr id="5" name="Google Shape;92;p1">
            <a:extLst>
              <a:ext uri="{FF2B5EF4-FFF2-40B4-BE49-F238E27FC236}">
                <a16:creationId xmlns:a16="http://schemas.microsoft.com/office/drawing/2014/main" id="{2B07435F-59F1-BDCA-69B0-DB8CCA47DE9F}"/>
              </a:ext>
            </a:extLst>
          </p:cNvPr>
          <p:cNvSpPr txBox="1"/>
          <p:nvPr/>
        </p:nvSpPr>
        <p:spPr>
          <a:xfrm>
            <a:off x="-35264" y="2201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200" b="1" dirty="0"/>
          </a:p>
        </p:txBody>
      </p:sp>
      <p:sp>
        <p:nvSpPr>
          <p:cNvPr id="31" name="Google Shape;91;p1">
            <a:extLst>
              <a:ext uri="{FF2B5EF4-FFF2-40B4-BE49-F238E27FC236}">
                <a16:creationId xmlns:a16="http://schemas.microsoft.com/office/drawing/2014/main" id="{5505695E-F5AE-9D8A-F41C-1179427E81A1}"/>
              </a:ext>
            </a:extLst>
          </p:cNvPr>
          <p:cNvSpPr txBox="1"/>
          <p:nvPr/>
        </p:nvSpPr>
        <p:spPr>
          <a:xfrm>
            <a:off x="4330154" y="-1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</a:rPr>
              <a:t>c</a:t>
            </a:r>
            <a:endParaRPr sz="1200" b="1" dirty="0"/>
          </a:p>
        </p:txBody>
      </p:sp>
      <p:sp>
        <p:nvSpPr>
          <p:cNvPr id="6" name="Google Shape;91;p1">
            <a:extLst>
              <a:ext uri="{FF2B5EF4-FFF2-40B4-BE49-F238E27FC236}">
                <a16:creationId xmlns:a16="http://schemas.microsoft.com/office/drawing/2014/main" id="{F2DAA45E-F8B3-3AAD-23A5-1A2523806084}"/>
              </a:ext>
            </a:extLst>
          </p:cNvPr>
          <p:cNvSpPr txBox="1"/>
          <p:nvPr/>
        </p:nvSpPr>
        <p:spPr>
          <a:xfrm>
            <a:off x="2184020" y="2098724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dirty="0">
                <a:solidFill>
                  <a:schemeClr val="dk1"/>
                </a:solidFill>
              </a:rPr>
              <a:t>d</a:t>
            </a:r>
            <a:endParaRPr sz="1200" b="1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403F0BB-4362-4CA8-46E7-AA1ADD556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254" y="106800"/>
            <a:ext cx="1708764" cy="1703068"/>
          </a:xfrm>
          <a:prstGeom prst="rect">
            <a:avLst/>
          </a:prstGeom>
        </p:spPr>
      </p:pic>
      <p:sp>
        <p:nvSpPr>
          <p:cNvPr id="4" name="Google Shape;90;p1">
            <a:extLst>
              <a:ext uri="{FF2B5EF4-FFF2-40B4-BE49-F238E27FC236}">
                <a16:creationId xmlns:a16="http://schemas.microsoft.com/office/drawing/2014/main" id="{47019256-A2AB-9B69-9C12-F4B377E90B6C}"/>
              </a:ext>
            </a:extLst>
          </p:cNvPr>
          <p:cNvSpPr txBox="1"/>
          <p:nvPr/>
        </p:nvSpPr>
        <p:spPr>
          <a:xfrm>
            <a:off x="2184020" y="0"/>
            <a:ext cx="8155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F30618-51C9-1374-E709-89A28609F835}"/>
              </a:ext>
            </a:extLst>
          </p:cNvPr>
          <p:cNvSpPr txBox="1"/>
          <p:nvPr/>
        </p:nvSpPr>
        <p:spPr>
          <a:xfrm>
            <a:off x="0" y="4189942"/>
            <a:ext cx="6843269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b="1" dirty="0"/>
              <a:t>Figure 5</a:t>
            </a:r>
            <a:r>
              <a:rPr lang="en-CA" sz="1050" dirty="0"/>
              <a:t>. </a:t>
            </a:r>
            <a:r>
              <a:rPr lang="en-CA" sz="1050" dirty="0" err="1"/>
              <a:t>XevaDB</a:t>
            </a:r>
            <a:r>
              <a:rPr lang="en-CA" sz="1050" dirty="0"/>
              <a:t>-based multi-omics prediction of paclitaxel response in breast cancer PDX models.</a:t>
            </a:r>
          </a:p>
          <a:p>
            <a:r>
              <a:rPr lang="en-CA" sz="1050" dirty="0"/>
              <a:t>(</a:t>
            </a:r>
            <a:r>
              <a:rPr lang="en-CA" sz="1050" b="1" dirty="0"/>
              <a:t>a</a:t>
            </a:r>
            <a:r>
              <a:rPr lang="en-CA" sz="1050" dirty="0"/>
              <a:t>) Case study four workflow: drug-sensitivity metrics and RNA-seq/CNV/mutation profiles for the UHN breast paclitaxel cohort are extracted from </a:t>
            </a:r>
            <a:r>
              <a:rPr lang="en-CA" sz="1050" dirty="0" err="1"/>
              <a:t>XevaDB</a:t>
            </a:r>
            <a:r>
              <a:rPr lang="en-CA" sz="1050" dirty="0"/>
              <a:t> and assembled into single-omics, early-fusion, and late-fusion modeling datasets, evaluated by cross-validation. (</a:t>
            </a:r>
            <a:r>
              <a:rPr lang="en-CA" sz="1050" b="1" dirty="0"/>
              <a:t>b</a:t>
            </a:r>
            <a:r>
              <a:rPr lang="en-CA" sz="1050" dirty="0"/>
              <a:t>) Cross-validation AUROC of the random forest classifier across single-omics (RNA-only, CNV-only, mutation-only) and multi-omics (early fusion, late fusion) feature sets; boxes show median/IQR and whiskers across repeated CV folds, diamonds mark the mean, dashed line marks chance (AUROC = 0.5). (</a:t>
            </a:r>
            <a:r>
              <a:rPr lang="en-CA" sz="1050" b="1" dirty="0"/>
              <a:t>c</a:t>
            </a:r>
            <a:r>
              <a:rPr lang="en-CA" sz="1050" dirty="0"/>
              <a:t>) Pre-ranked GSEA of the full RNA transcriptome against </a:t>
            </a:r>
            <a:r>
              <a:rPr lang="en-CA" sz="1050" dirty="0" err="1"/>
              <a:t>MSigDB</a:t>
            </a:r>
            <a:r>
              <a:rPr lang="en-CA" sz="1050" dirty="0"/>
              <a:t> Hallmark gene sets; top 3 significant pathways per direction shown (FDR q &lt; 0.05). Positive NES: enriched in Sensitive models; negative NES: enriched in Resistant models. (</a:t>
            </a:r>
            <a:r>
              <a:rPr lang="en-CA" sz="1050" b="1" dirty="0"/>
              <a:t>d</a:t>
            </a:r>
            <a:r>
              <a:rPr lang="en-CA" sz="1050" dirty="0"/>
              <a:t>) Cross-cohort comparison of transcriptomic programmes associated with paclitaxel response in UHN PDXs (n=67) and pathological complete response (</a:t>
            </a:r>
            <a:r>
              <a:rPr lang="en-CA" sz="1050" dirty="0" err="1"/>
              <a:t>pCR</a:t>
            </a:r>
            <a:r>
              <a:rPr lang="en-CA" sz="1050" dirty="0"/>
              <a:t>) in the I-SPY2 paclitaxel control arm (n=179 patients). Triangles, PDX normalized enrichment scores (NES) for </a:t>
            </a:r>
            <a:r>
              <a:rPr lang="en-CA" sz="1050" dirty="0" err="1"/>
              <a:t>MSigDB</a:t>
            </a:r>
            <a:r>
              <a:rPr lang="en-CA" sz="1050" dirty="0"/>
              <a:t> Hallmark pathways; circles, patient odds ratios (OR) for </a:t>
            </a:r>
            <a:r>
              <a:rPr lang="en-CA" sz="1050" dirty="0" err="1"/>
              <a:t>pCR</a:t>
            </a:r>
            <a:r>
              <a:rPr lang="en-CA" sz="1050" dirty="0"/>
              <a:t> per one-standard-deviation (1SD) increase in the corresponding predefined I-SPY2 signature, with 95% confidence intervals (refit from patient-level I-SPY2 data; see Methods). Markers are colored by their own direction of association (blue, Resistant; red, Sensitive), so a row is concordant when both markers share a color and discordant when they differ. Positive PDX NES indicates enrichment in sensitive PDXs, whereas patient OR values above 1 indicate higher odds of </a:t>
            </a:r>
            <a:r>
              <a:rPr lang="en-CA" sz="1050" dirty="0" err="1"/>
              <a:t>pCR</a:t>
            </a:r>
            <a:r>
              <a:rPr lang="en-CA" sz="1050" dirty="0"/>
              <a:t>. "Proliferation" reflects the median NES across five Hallmark gene sets significantly enriched in sensitive PDXs (E2F Targets, G2-M Checkpoint). Percentages indicate gene overlap between each I-SPY2 signature and its corresponding Hallmark gene set.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F35AEE-29E0-ACFA-6E2C-46D953CE6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869" y="2098724"/>
            <a:ext cx="3303134" cy="17341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5F7579-3B36-49B1-3672-8FEA75B0CF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1165" y="299786"/>
            <a:ext cx="2179134" cy="1330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34684</TotalTime>
  <Words>1820</Words>
  <Application>Microsoft Macintosh PowerPoint</Application>
  <PresentationFormat>Letter Paper (8.5x11 in)</PresentationFormat>
  <Paragraphs>44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61</cp:revision>
  <dcterms:created xsi:type="dcterms:W3CDTF">2026-08-11T17:37:51Z</dcterms:created>
  <dcterms:modified xsi:type="dcterms:W3CDTF">2026-09-23T19:56:18Z</dcterms:modified>
</cp:coreProperties>
</file>