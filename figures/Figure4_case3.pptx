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6858000" cy="9144000" type="letter"/>
  <p:notesSz cx="6858000" cy="9144000"/>
  <p:embeddedFontLst>
    <p:embeddedFont>
      <p:font typeface="Play" pitchFamily="2" charset="0"/>
      <p:regular r:id="rId4"/>
      <p:bold r:id="rId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8" roundtripDataSignature="AMtx7mi553m8NdOJu3RJVRvvSDH2Dnf3K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51"/>
    <p:restoredTop sz="94589"/>
  </p:normalViewPr>
  <p:slideViewPr>
    <p:cSldViewPr snapToGrid="0">
      <p:cViewPr>
        <p:scale>
          <a:sx n="168" d="100"/>
          <a:sy n="168" d="100"/>
        </p:scale>
        <p:origin x="1856" y="-13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customschemas.google.com/relationships/presentationmetadata" Target="metadata"/><Relationship Id="rId3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5" Type="http://schemas.openxmlformats.org/officeDocument/2006/relationships/font" Target="fonts/font2.fntdata"/><Relationship Id="rId10" Type="http://schemas.openxmlformats.org/officeDocument/2006/relationships/viewProps" Target="viewProps.xml"/><Relationship Id="rId4" Type="http://schemas.openxmlformats.org/officeDocument/2006/relationships/font" Target="fonts/font1.fntdata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2271713" y="1143000"/>
            <a:ext cx="2314575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CA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71713" y="1143000"/>
            <a:ext cx="2314575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Figure 3. Systematic evaluation of </a:t>
            </a:r>
            <a:r>
              <a:rPr lang="en-CA" sz="1200" b="1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NeST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-VNN model generalizability and performance.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a.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Case study workflow.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b.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CA" sz="12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Oncoplot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illustrating the mutational landscape of the University Health Network (UHN) carboplatin and McGill cisplatin datasets.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c.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Distribution of drug responses across both cohorts based on modified Response Evaluation Criteria in Solid Tumors (</a:t>
            </a:r>
            <a:r>
              <a:rPr lang="en-CA" sz="12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mRECIST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). CR, complete response; PR, partial response; SD, stable disease; PD, progressive disease.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d.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Density comparison of 718 </a:t>
            </a:r>
            <a:r>
              <a:rPr lang="en-CA" sz="12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NeST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-VNN features between datasets. Statistical significance was determined using a two-sided Mann–Whitney U test. **** p &lt; 0.0001; *** p &lt; 0.001; ** p &lt; 0.01; * p &lt; 0.05; ns, not significant.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 Model transferability. Bar plot summarizing the mean Area Under the Receiver Operating Characteristic Curve (AUC) across fivefold cross-validation, demonstrating model robustness across institutional cohorts.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f. </a:t>
            </a:r>
            <a:r>
              <a:rPr lang="en-CA" sz="12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NeST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-VNN model performance. Receiver Operating Characteristic (ROC) curves and corresponding ensemble AUC values for the UHN carboplatin and McGill cisplatin validation sets. </a:t>
            </a:r>
            <a:endParaRPr dirty="0"/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CA"/>
              <a:t>1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857250" y="1496484"/>
            <a:ext cx="5143500" cy="3183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142"/>
              <a:buFont typeface="Play"/>
              <a:buNone/>
              <a:defRPr sz="2544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857250" y="4802717"/>
            <a:ext cx="5143500" cy="22076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424"/>
              </a:spcBef>
              <a:spcAft>
                <a:spcPts val="0"/>
              </a:spcAft>
              <a:buClr>
                <a:schemeClr val="dk1"/>
              </a:buClr>
              <a:buSzPts val="2457"/>
              <a:buNone/>
              <a:defRPr sz="1018"/>
            </a:lvl1pPr>
            <a:lvl2pPr lvl="1" algn="ctr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2047"/>
              <a:buNone/>
              <a:defRPr sz="848"/>
            </a:lvl2pPr>
            <a:lvl3pPr lvl="2" algn="ctr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1842"/>
              <a:buNone/>
              <a:defRPr sz="763"/>
            </a:lvl3pPr>
            <a:lvl4pPr lvl="3" algn="ctr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678"/>
            </a:lvl4pPr>
            <a:lvl5pPr lvl="4" algn="ctr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678"/>
            </a:lvl5pPr>
            <a:lvl6pPr lvl="5" algn="ctr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678"/>
            </a:lvl6pPr>
            <a:lvl7pPr lvl="6" algn="ctr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678"/>
            </a:lvl7pPr>
            <a:lvl8pPr lvl="7" algn="ctr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678"/>
            </a:lvl8pPr>
            <a:lvl9pPr lvl="8" algn="ctr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678"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71488" y="8475134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2271713" y="8475134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4843463" y="8475134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CA" smtClean="0"/>
              <a:pPr/>
              <a:t>‹#›</a:t>
            </a:fld>
            <a:endParaRPr lang="en-CA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71488" y="486835"/>
            <a:ext cx="5915025" cy="1767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71488" y="2434167"/>
            <a:ext cx="5915025" cy="5801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189372" lvl="0" indent="-142029" algn="l">
              <a:lnSpc>
                <a:spcPct val="90000"/>
              </a:lnSpc>
              <a:spcBef>
                <a:spcPts val="42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378744" lvl="1" indent="-142029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568117" lvl="2" indent="-142029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757489" lvl="3" indent="-142029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946861" lvl="4" indent="-142029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136233" lvl="5" indent="-142029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1325606" lvl="6" indent="-142029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1514978" lvl="7" indent="-142029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1704350" lvl="8" indent="-142029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71488" y="8475134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2271713" y="8475134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4843463" y="8475134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CA" smtClean="0"/>
              <a:pPr/>
              <a:t>‹#›</a:t>
            </a:fld>
            <a:endParaRPr lang="en-CA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467916" y="2279652"/>
            <a:ext cx="5915025" cy="38036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142"/>
              <a:buFont typeface="Play"/>
              <a:buNone/>
              <a:defRPr sz="2544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467916" y="6119285"/>
            <a:ext cx="5915025" cy="2000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189372" lvl="0" indent="-94686" algn="l">
              <a:lnSpc>
                <a:spcPct val="90000"/>
              </a:lnSpc>
              <a:spcBef>
                <a:spcPts val="424"/>
              </a:spcBef>
              <a:spcAft>
                <a:spcPts val="0"/>
              </a:spcAft>
              <a:buClr>
                <a:srgbClr val="757575"/>
              </a:buClr>
              <a:buSzPts val="2457"/>
              <a:buNone/>
              <a:defRPr sz="1018">
                <a:solidFill>
                  <a:srgbClr val="757575"/>
                </a:solidFill>
              </a:defRPr>
            </a:lvl1pPr>
            <a:lvl2pPr marL="378744" lvl="1" indent="-94686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rgbClr val="757575"/>
              </a:buClr>
              <a:buSzPts val="2047"/>
              <a:buNone/>
              <a:defRPr sz="848">
                <a:solidFill>
                  <a:srgbClr val="757575"/>
                </a:solidFill>
              </a:defRPr>
            </a:lvl2pPr>
            <a:lvl3pPr marL="568117" lvl="2" indent="-94686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rgbClr val="757575"/>
              </a:buClr>
              <a:buSzPts val="1842"/>
              <a:buNone/>
              <a:defRPr sz="763">
                <a:solidFill>
                  <a:srgbClr val="757575"/>
                </a:solidFill>
              </a:defRPr>
            </a:lvl3pPr>
            <a:lvl4pPr marL="757489" lvl="3" indent="-94686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rgbClr val="757575"/>
              </a:buClr>
              <a:buSzPts val="1638"/>
              <a:buNone/>
              <a:defRPr sz="678">
                <a:solidFill>
                  <a:srgbClr val="757575"/>
                </a:solidFill>
              </a:defRPr>
            </a:lvl4pPr>
            <a:lvl5pPr marL="946861" lvl="4" indent="-94686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rgbClr val="757575"/>
              </a:buClr>
              <a:buSzPts val="1638"/>
              <a:buNone/>
              <a:defRPr sz="678">
                <a:solidFill>
                  <a:srgbClr val="757575"/>
                </a:solidFill>
              </a:defRPr>
            </a:lvl5pPr>
            <a:lvl6pPr marL="1136233" lvl="5" indent="-94686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rgbClr val="757575"/>
              </a:buClr>
              <a:buSzPts val="1638"/>
              <a:buNone/>
              <a:defRPr sz="678">
                <a:solidFill>
                  <a:srgbClr val="757575"/>
                </a:solidFill>
              </a:defRPr>
            </a:lvl6pPr>
            <a:lvl7pPr marL="1325606" lvl="6" indent="-94686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rgbClr val="757575"/>
              </a:buClr>
              <a:buSzPts val="1638"/>
              <a:buNone/>
              <a:defRPr sz="678">
                <a:solidFill>
                  <a:srgbClr val="757575"/>
                </a:solidFill>
              </a:defRPr>
            </a:lvl7pPr>
            <a:lvl8pPr marL="1514978" lvl="7" indent="-94686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rgbClr val="757575"/>
              </a:buClr>
              <a:buSzPts val="1638"/>
              <a:buNone/>
              <a:defRPr sz="678">
                <a:solidFill>
                  <a:srgbClr val="757575"/>
                </a:solidFill>
              </a:defRPr>
            </a:lvl8pPr>
            <a:lvl9pPr marL="1704350" lvl="8" indent="-94686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rgbClr val="757575"/>
              </a:buClr>
              <a:buSzPts val="1638"/>
              <a:buNone/>
              <a:defRPr sz="678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71488" y="8475134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2271713" y="8475134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4843463" y="8475134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CA" smtClean="0"/>
              <a:pPr/>
              <a:t>‹#›</a:t>
            </a:fld>
            <a:endParaRPr lang="en-CA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71488" y="486835"/>
            <a:ext cx="5915025" cy="1767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71488" y="2434167"/>
            <a:ext cx="2914650" cy="5801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189372" lvl="0" indent="-142029" algn="l">
              <a:lnSpc>
                <a:spcPct val="90000"/>
              </a:lnSpc>
              <a:spcBef>
                <a:spcPts val="42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378744" lvl="1" indent="-142029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568117" lvl="2" indent="-142029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757489" lvl="3" indent="-142029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946861" lvl="4" indent="-142029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136233" lvl="5" indent="-142029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1325606" lvl="6" indent="-142029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1514978" lvl="7" indent="-142029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1704350" lvl="8" indent="-142029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3471862" y="2434167"/>
            <a:ext cx="2914650" cy="5801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189372" lvl="0" indent="-142029" algn="l">
              <a:lnSpc>
                <a:spcPct val="90000"/>
              </a:lnSpc>
              <a:spcBef>
                <a:spcPts val="42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378744" lvl="1" indent="-142029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568117" lvl="2" indent="-142029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757489" lvl="3" indent="-142029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946861" lvl="4" indent="-142029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136233" lvl="5" indent="-142029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1325606" lvl="6" indent="-142029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1514978" lvl="7" indent="-142029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1704350" lvl="8" indent="-142029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71488" y="8475134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2271713" y="8475134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4843463" y="8475134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CA" smtClean="0"/>
              <a:pPr/>
              <a:t>‹#›</a:t>
            </a:fld>
            <a:endParaRPr lang="en-CA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72381" y="486835"/>
            <a:ext cx="5915025" cy="1767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72381" y="2241551"/>
            <a:ext cx="2901255" cy="10985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189372" lvl="0" indent="-94686" algn="l">
              <a:lnSpc>
                <a:spcPct val="90000"/>
              </a:lnSpc>
              <a:spcBef>
                <a:spcPts val="424"/>
              </a:spcBef>
              <a:spcAft>
                <a:spcPts val="0"/>
              </a:spcAft>
              <a:buClr>
                <a:schemeClr val="dk1"/>
              </a:buClr>
              <a:buSzPts val="2457"/>
              <a:buNone/>
              <a:defRPr sz="1018" b="1"/>
            </a:lvl1pPr>
            <a:lvl2pPr marL="378744" lvl="1" indent="-94686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2047"/>
              <a:buNone/>
              <a:defRPr sz="848" b="1"/>
            </a:lvl2pPr>
            <a:lvl3pPr marL="568117" lvl="2" indent="-94686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1842"/>
              <a:buNone/>
              <a:defRPr sz="763" b="1"/>
            </a:lvl3pPr>
            <a:lvl4pPr marL="757489" lvl="3" indent="-94686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678" b="1"/>
            </a:lvl4pPr>
            <a:lvl5pPr marL="946861" lvl="4" indent="-94686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678" b="1"/>
            </a:lvl5pPr>
            <a:lvl6pPr marL="1136233" lvl="5" indent="-94686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678" b="1"/>
            </a:lvl6pPr>
            <a:lvl7pPr marL="1325606" lvl="6" indent="-94686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678" b="1"/>
            </a:lvl7pPr>
            <a:lvl8pPr marL="1514978" lvl="7" indent="-94686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678" b="1"/>
            </a:lvl8pPr>
            <a:lvl9pPr marL="1704350" lvl="8" indent="-94686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678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72381" y="3340101"/>
            <a:ext cx="2901255" cy="4912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189372" lvl="0" indent="-142029" algn="l">
              <a:lnSpc>
                <a:spcPct val="90000"/>
              </a:lnSpc>
              <a:spcBef>
                <a:spcPts val="42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378744" lvl="1" indent="-142029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568117" lvl="2" indent="-142029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757489" lvl="3" indent="-142029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946861" lvl="4" indent="-142029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136233" lvl="5" indent="-142029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1325606" lvl="6" indent="-142029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1514978" lvl="7" indent="-142029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1704350" lvl="8" indent="-142029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3471863" y="2241551"/>
            <a:ext cx="2915543" cy="10985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189372" lvl="0" indent="-94686" algn="l">
              <a:lnSpc>
                <a:spcPct val="90000"/>
              </a:lnSpc>
              <a:spcBef>
                <a:spcPts val="424"/>
              </a:spcBef>
              <a:spcAft>
                <a:spcPts val="0"/>
              </a:spcAft>
              <a:buClr>
                <a:schemeClr val="dk1"/>
              </a:buClr>
              <a:buSzPts val="2457"/>
              <a:buNone/>
              <a:defRPr sz="1018" b="1"/>
            </a:lvl1pPr>
            <a:lvl2pPr marL="378744" lvl="1" indent="-94686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2047"/>
              <a:buNone/>
              <a:defRPr sz="848" b="1"/>
            </a:lvl2pPr>
            <a:lvl3pPr marL="568117" lvl="2" indent="-94686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1842"/>
              <a:buNone/>
              <a:defRPr sz="763" b="1"/>
            </a:lvl3pPr>
            <a:lvl4pPr marL="757489" lvl="3" indent="-94686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678" b="1"/>
            </a:lvl4pPr>
            <a:lvl5pPr marL="946861" lvl="4" indent="-94686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678" b="1"/>
            </a:lvl5pPr>
            <a:lvl6pPr marL="1136233" lvl="5" indent="-94686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678" b="1"/>
            </a:lvl6pPr>
            <a:lvl7pPr marL="1325606" lvl="6" indent="-94686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678" b="1"/>
            </a:lvl7pPr>
            <a:lvl8pPr marL="1514978" lvl="7" indent="-94686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678" b="1"/>
            </a:lvl8pPr>
            <a:lvl9pPr marL="1704350" lvl="8" indent="-94686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678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3471863" y="3340101"/>
            <a:ext cx="2915543" cy="4912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189372" lvl="0" indent="-142029" algn="l">
              <a:lnSpc>
                <a:spcPct val="90000"/>
              </a:lnSpc>
              <a:spcBef>
                <a:spcPts val="42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378744" lvl="1" indent="-142029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568117" lvl="2" indent="-142029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757489" lvl="3" indent="-142029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946861" lvl="4" indent="-142029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136233" lvl="5" indent="-142029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1325606" lvl="6" indent="-142029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1514978" lvl="7" indent="-142029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1704350" lvl="8" indent="-142029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71488" y="8475134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2271713" y="8475134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4843463" y="8475134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CA" smtClean="0"/>
              <a:pPr/>
              <a:t>‹#›</a:t>
            </a:fld>
            <a:endParaRPr lang="en-CA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71488" y="486835"/>
            <a:ext cx="5915025" cy="1767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71488" y="8475134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2271713" y="8475134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4843463" y="8475134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CA" smtClean="0"/>
              <a:pPr/>
              <a:t>‹#›</a:t>
            </a:fld>
            <a:endParaRPr lang="en-CA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dt" idx="10"/>
          </p:nvPr>
        </p:nvSpPr>
        <p:spPr>
          <a:xfrm>
            <a:off x="471488" y="8475134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ftr" idx="11"/>
          </p:nvPr>
        </p:nvSpPr>
        <p:spPr>
          <a:xfrm>
            <a:off x="2271713" y="8475134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sldNum" idx="12"/>
          </p:nvPr>
        </p:nvSpPr>
        <p:spPr>
          <a:xfrm>
            <a:off x="4843463" y="8475134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CA" smtClean="0"/>
              <a:pPr/>
              <a:t>‹#›</a:t>
            </a:fld>
            <a:endParaRPr lang="en-CA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0"/>
          <p:cNvSpPr txBox="1">
            <a:spLocks noGrp="1"/>
          </p:cNvSpPr>
          <p:nvPr>
            <p:ph type="title"/>
          </p:nvPr>
        </p:nvSpPr>
        <p:spPr>
          <a:xfrm>
            <a:off x="472381" y="609600"/>
            <a:ext cx="2211883" cy="21336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76"/>
              <a:buFont typeface="Play"/>
              <a:buNone/>
              <a:defRPr sz="1357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body" idx="1"/>
          </p:nvPr>
        </p:nvSpPr>
        <p:spPr>
          <a:xfrm>
            <a:off x="2915543" y="1316568"/>
            <a:ext cx="3471863" cy="64981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189372" lvl="0" indent="-180850" algn="l">
              <a:lnSpc>
                <a:spcPct val="90000"/>
              </a:lnSpc>
              <a:spcBef>
                <a:spcPts val="424"/>
              </a:spcBef>
              <a:spcAft>
                <a:spcPts val="0"/>
              </a:spcAft>
              <a:buClr>
                <a:schemeClr val="dk1"/>
              </a:buClr>
              <a:buSzPts val="3276"/>
              <a:buChar char="•"/>
              <a:defRPr sz="1357"/>
            </a:lvl1pPr>
            <a:lvl2pPr marL="378744" lvl="1" indent="-170067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2866"/>
              <a:buChar char="•"/>
              <a:defRPr sz="1187"/>
            </a:lvl2pPr>
            <a:lvl3pPr marL="568117" lvl="2" indent="-159310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2457"/>
              <a:buChar char="•"/>
              <a:defRPr sz="1018"/>
            </a:lvl3pPr>
            <a:lvl4pPr marL="757489" lvl="3" indent="-148526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2047"/>
              <a:buChar char="•"/>
              <a:defRPr sz="848"/>
            </a:lvl4pPr>
            <a:lvl5pPr marL="946861" lvl="4" indent="-148526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2047"/>
              <a:buChar char="•"/>
              <a:defRPr sz="848"/>
            </a:lvl5pPr>
            <a:lvl6pPr marL="1136233" lvl="5" indent="-148526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2047"/>
              <a:buChar char="•"/>
              <a:defRPr sz="848"/>
            </a:lvl6pPr>
            <a:lvl7pPr marL="1325606" lvl="6" indent="-148526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2047"/>
              <a:buChar char="•"/>
              <a:defRPr sz="848"/>
            </a:lvl7pPr>
            <a:lvl8pPr marL="1514978" lvl="7" indent="-148525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2047"/>
              <a:buChar char="•"/>
              <a:defRPr sz="848"/>
            </a:lvl8pPr>
            <a:lvl9pPr marL="1704350" lvl="8" indent="-148525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2047"/>
              <a:buChar char="•"/>
              <a:defRPr sz="848"/>
            </a:lvl9pPr>
          </a:lstStyle>
          <a:p>
            <a:endParaRPr/>
          </a:p>
        </p:txBody>
      </p:sp>
      <p:sp>
        <p:nvSpPr>
          <p:cNvPr id="61" name="Google Shape;61;p10"/>
          <p:cNvSpPr txBox="1">
            <a:spLocks noGrp="1"/>
          </p:cNvSpPr>
          <p:nvPr>
            <p:ph type="body" idx="2"/>
          </p:nvPr>
        </p:nvSpPr>
        <p:spPr>
          <a:xfrm>
            <a:off x="472381" y="2743199"/>
            <a:ext cx="2211883" cy="50821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189372" lvl="0" indent="-94686" algn="l">
              <a:lnSpc>
                <a:spcPct val="90000"/>
              </a:lnSpc>
              <a:spcBef>
                <a:spcPts val="424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678"/>
            </a:lvl1pPr>
            <a:lvl2pPr marL="378744" lvl="1" indent="-94686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1433"/>
              <a:buNone/>
              <a:defRPr sz="594"/>
            </a:lvl2pPr>
            <a:lvl3pPr marL="568117" lvl="2" indent="-94686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1228"/>
              <a:buNone/>
              <a:defRPr sz="509"/>
            </a:lvl3pPr>
            <a:lvl4pPr marL="757489" lvl="3" indent="-94686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1024"/>
              <a:buNone/>
              <a:defRPr sz="424"/>
            </a:lvl4pPr>
            <a:lvl5pPr marL="946861" lvl="4" indent="-94686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1024"/>
              <a:buNone/>
              <a:defRPr sz="424"/>
            </a:lvl5pPr>
            <a:lvl6pPr marL="1136233" lvl="5" indent="-94686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1024"/>
              <a:buNone/>
              <a:defRPr sz="424"/>
            </a:lvl6pPr>
            <a:lvl7pPr marL="1325606" lvl="6" indent="-94686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1024"/>
              <a:buNone/>
              <a:defRPr sz="424"/>
            </a:lvl7pPr>
            <a:lvl8pPr marL="1514978" lvl="7" indent="-94686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1024"/>
              <a:buNone/>
              <a:defRPr sz="424"/>
            </a:lvl8pPr>
            <a:lvl9pPr marL="1704350" lvl="8" indent="-94686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1024"/>
              <a:buNone/>
              <a:defRPr sz="424"/>
            </a:lvl9pPr>
          </a:lstStyle>
          <a:p>
            <a:endParaRPr/>
          </a:p>
        </p:txBody>
      </p:sp>
      <p:sp>
        <p:nvSpPr>
          <p:cNvPr id="62" name="Google Shape;62;p10"/>
          <p:cNvSpPr txBox="1">
            <a:spLocks noGrp="1"/>
          </p:cNvSpPr>
          <p:nvPr>
            <p:ph type="dt" idx="10"/>
          </p:nvPr>
        </p:nvSpPr>
        <p:spPr>
          <a:xfrm>
            <a:off x="471488" y="8475134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 txBox="1">
            <a:spLocks noGrp="1"/>
          </p:cNvSpPr>
          <p:nvPr>
            <p:ph type="ftr" idx="11"/>
          </p:nvPr>
        </p:nvSpPr>
        <p:spPr>
          <a:xfrm>
            <a:off x="2271713" y="8475134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0"/>
          <p:cNvSpPr txBox="1">
            <a:spLocks noGrp="1"/>
          </p:cNvSpPr>
          <p:nvPr>
            <p:ph type="sldNum" idx="12"/>
          </p:nvPr>
        </p:nvSpPr>
        <p:spPr>
          <a:xfrm>
            <a:off x="4843463" y="8475134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CA" smtClean="0"/>
              <a:pPr/>
              <a:t>‹#›</a:t>
            </a:fld>
            <a:endParaRPr lang="en-CA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1"/>
          <p:cNvSpPr txBox="1">
            <a:spLocks noGrp="1"/>
          </p:cNvSpPr>
          <p:nvPr>
            <p:ph type="title"/>
          </p:nvPr>
        </p:nvSpPr>
        <p:spPr>
          <a:xfrm>
            <a:off x="472381" y="609600"/>
            <a:ext cx="2211883" cy="21336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76"/>
              <a:buFont typeface="Play"/>
              <a:buNone/>
              <a:defRPr sz="1357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>
            <a:spLocks noGrp="1"/>
          </p:cNvSpPr>
          <p:nvPr>
            <p:ph type="pic" idx="2"/>
          </p:nvPr>
        </p:nvSpPr>
        <p:spPr>
          <a:xfrm>
            <a:off x="2915543" y="1316568"/>
            <a:ext cx="3471863" cy="6498167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1"/>
          <p:cNvSpPr txBox="1">
            <a:spLocks noGrp="1"/>
          </p:cNvSpPr>
          <p:nvPr>
            <p:ph type="body" idx="1"/>
          </p:nvPr>
        </p:nvSpPr>
        <p:spPr>
          <a:xfrm>
            <a:off x="472381" y="2743199"/>
            <a:ext cx="2211883" cy="50821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189372" lvl="0" indent="-94686" algn="l">
              <a:lnSpc>
                <a:spcPct val="90000"/>
              </a:lnSpc>
              <a:spcBef>
                <a:spcPts val="424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678"/>
            </a:lvl1pPr>
            <a:lvl2pPr marL="378744" lvl="1" indent="-94686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1433"/>
              <a:buNone/>
              <a:defRPr sz="594"/>
            </a:lvl2pPr>
            <a:lvl3pPr marL="568117" lvl="2" indent="-94686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1228"/>
              <a:buNone/>
              <a:defRPr sz="509"/>
            </a:lvl3pPr>
            <a:lvl4pPr marL="757489" lvl="3" indent="-94686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1024"/>
              <a:buNone/>
              <a:defRPr sz="424"/>
            </a:lvl4pPr>
            <a:lvl5pPr marL="946861" lvl="4" indent="-94686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1024"/>
              <a:buNone/>
              <a:defRPr sz="424"/>
            </a:lvl5pPr>
            <a:lvl6pPr marL="1136233" lvl="5" indent="-94686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1024"/>
              <a:buNone/>
              <a:defRPr sz="424"/>
            </a:lvl6pPr>
            <a:lvl7pPr marL="1325606" lvl="6" indent="-94686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1024"/>
              <a:buNone/>
              <a:defRPr sz="424"/>
            </a:lvl7pPr>
            <a:lvl8pPr marL="1514978" lvl="7" indent="-94686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1024"/>
              <a:buNone/>
              <a:defRPr sz="424"/>
            </a:lvl8pPr>
            <a:lvl9pPr marL="1704350" lvl="8" indent="-94686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1024"/>
              <a:buNone/>
              <a:defRPr sz="424"/>
            </a:lvl9pPr>
          </a:lstStyle>
          <a:p>
            <a:endParaRPr/>
          </a:p>
        </p:txBody>
      </p:sp>
      <p:sp>
        <p:nvSpPr>
          <p:cNvPr id="69" name="Google Shape;69;p11"/>
          <p:cNvSpPr txBox="1">
            <a:spLocks noGrp="1"/>
          </p:cNvSpPr>
          <p:nvPr>
            <p:ph type="dt" idx="10"/>
          </p:nvPr>
        </p:nvSpPr>
        <p:spPr>
          <a:xfrm>
            <a:off x="471488" y="8475134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ftr" idx="11"/>
          </p:nvPr>
        </p:nvSpPr>
        <p:spPr>
          <a:xfrm>
            <a:off x="2271713" y="8475134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sldNum" idx="12"/>
          </p:nvPr>
        </p:nvSpPr>
        <p:spPr>
          <a:xfrm>
            <a:off x="4843463" y="8475134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CA" smtClean="0"/>
              <a:pPr/>
              <a:t>‹#›</a:t>
            </a:fld>
            <a:endParaRPr lang="en-CA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2"/>
          <p:cNvSpPr txBox="1">
            <a:spLocks noGrp="1"/>
          </p:cNvSpPr>
          <p:nvPr>
            <p:ph type="title"/>
          </p:nvPr>
        </p:nvSpPr>
        <p:spPr>
          <a:xfrm>
            <a:off x="471488" y="486835"/>
            <a:ext cx="5915025" cy="1767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2"/>
          <p:cNvSpPr txBox="1">
            <a:spLocks noGrp="1"/>
          </p:cNvSpPr>
          <p:nvPr>
            <p:ph type="body" idx="1"/>
          </p:nvPr>
        </p:nvSpPr>
        <p:spPr>
          <a:xfrm rot="5400000">
            <a:off x="528108" y="2377547"/>
            <a:ext cx="5801784" cy="5915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189372" lvl="0" indent="-142029" algn="l">
              <a:lnSpc>
                <a:spcPct val="90000"/>
              </a:lnSpc>
              <a:spcBef>
                <a:spcPts val="42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378744" lvl="1" indent="-142029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568117" lvl="2" indent="-142029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757489" lvl="3" indent="-142029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946861" lvl="4" indent="-142029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136233" lvl="5" indent="-142029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1325606" lvl="6" indent="-142029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1514978" lvl="7" indent="-142029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1704350" lvl="8" indent="-142029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2"/>
          <p:cNvSpPr txBox="1">
            <a:spLocks noGrp="1"/>
          </p:cNvSpPr>
          <p:nvPr>
            <p:ph type="dt" idx="10"/>
          </p:nvPr>
        </p:nvSpPr>
        <p:spPr>
          <a:xfrm>
            <a:off x="471488" y="8475134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ftr" idx="11"/>
          </p:nvPr>
        </p:nvSpPr>
        <p:spPr>
          <a:xfrm>
            <a:off x="2271713" y="8475134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sldNum" idx="12"/>
          </p:nvPr>
        </p:nvSpPr>
        <p:spPr>
          <a:xfrm>
            <a:off x="4843463" y="8475134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CA" smtClean="0"/>
              <a:pPr/>
              <a:t>‹#›</a:t>
            </a:fld>
            <a:endParaRPr lang="en-CA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3"/>
          <p:cNvSpPr txBox="1">
            <a:spLocks noGrp="1"/>
          </p:cNvSpPr>
          <p:nvPr>
            <p:ph type="title"/>
          </p:nvPr>
        </p:nvSpPr>
        <p:spPr>
          <a:xfrm rot="5400000">
            <a:off x="1772576" y="3622014"/>
            <a:ext cx="7749117" cy="14787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3"/>
          <p:cNvSpPr txBox="1">
            <a:spLocks noGrp="1"/>
          </p:cNvSpPr>
          <p:nvPr>
            <p:ph type="body" idx="1"/>
          </p:nvPr>
        </p:nvSpPr>
        <p:spPr>
          <a:xfrm rot="5400000">
            <a:off x="-1227799" y="2186121"/>
            <a:ext cx="7749117" cy="43505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189372" lvl="0" indent="-142029" algn="l">
              <a:lnSpc>
                <a:spcPct val="90000"/>
              </a:lnSpc>
              <a:spcBef>
                <a:spcPts val="42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378744" lvl="1" indent="-142029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568117" lvl="2" indent="-142029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757489" lvl="3" indent="-142029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946861" lvl="4" indent="-142029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136233" lvl="5" indent="-142029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1325606" lvl="6" indent="-142029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1514978" lvl="7" indent="-142029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1704350" lvl="8" indent="-142029" algn="l">
              <a:lnSpc>
                <a:spcPct val="90000"/>
              </a:lnSpc>
              <a:spcBef>
                <a:spcPts val="2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3"/>
          <p:cNvSpPr txBox="1">
            <a:spLocks noGrp="1"/>
          </p:cNvSpPr>
          <p:nvPr>
            <p:ph type="dt" idx="10"/>
          </p:nvPr>
        </p:nvSpPr>
        <p:spPr>
          <a:xfrm>
            <a:off x="471488" y="8475134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3"/>
          <p:cNvSpPr txBox="1">
            <a:spLocks noGrp="1"/>
          </p:cNvSpPr>
          <p:nvPr>
            <p:ph type="ftr" idx="11"/>
          </p:nvPr>
        </p:nvSpPr>
        <p:spPr>
          <a:xfrm>
            <a:off x="2271713" y="8475134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3"/>
          <p:cNvSpPr txBox="1">
            <a:spLocks noGrp="1"/>
          </p:cNvSpPr>
          <p:nvPr>
            <p:ph type="sldNum" idx="12"/>
          </p:nvPr>
        </p:nvSpPr>
        <p:spPr>
          <a:xfrm>
            <a:off x="4843463" y="8475134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CA" smtClean="0"/>
              <a:pPr/>
              <a:t>‹#›</a:t>
            </a:fld>
            <a:endParaRPr lang="en-CA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title"/>
          </p:nvPr>
        </p:nvSpPr>
        <p:spPr>
          <a:xfrm>
            <a:off x="471488" y="486835"/>
            <a:ext cx="5915025" cy="1767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4"/>
              <a:buFont typeface="Play"/>
              <a:buNone/>
              <a:defRPr sz="4504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body" idx="1"/>
          </p:nvPr>
        </p:nvSpPr>
        <p:spPr>
          <a:xfrm>
            <a:off x="471488" y="2434167"/>
            <a:ext cx="5915025" cy="5801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10591" algn="l" rtl="0">
              <a:lnSpc>
                <a:spcPct val="90000"/>
              </a:lnSpc>
              <a:spcBef>
                <a:spcPts val="1024"/>
              </a:spcBef>
              <a:spcAft>
                <a:spcPts val="0"/>
              </a:spcAft>
              <a:buClr>
                <a:schemeClr val="dk1"/>
              </a:buClr>
              <a:buSzPts val="2866"/>
              <a:buFont typeface="Arial"/>
              <a:buChar char="•"/>
              <a:defRPr sz="2866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4620" algn="l" rtl="0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2457"/>
              <a:buFont typeface="Arial"/>
              <a:buChar char="•"/>
              <a:defRPr sz="245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8585" algn="l" rtl="0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2047"/>
              <a:buFont typeface="Arial"/>
              <a:buChar char="•"/>
              <a:defRPr sz="204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5567" algn="l" rtl="0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42"/>
              <a:buFont typeface="Arial"/>
              <a:buChar char="•"/>
              <a:defRPr sz="1842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5567" algn="l" rtl="0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42"/>
              <a:buFont typeface="Arial"/>
              <a:buChar char="•"/>
              <a:defRPr sz="1842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5567" algn="l" rtl="0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42"/>
              <a:buFont typeface="Arial"/>
              <a:buChar char="•"/>
              <a:defRPr sz="1842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5567" algn="l" rtl="0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42"/>
              <a:buFont typeface="Arial"/>
              <a:buChar char="•"/>
              <a:defRPr sz="1842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5567" algn="l" rtl="0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42"/>
              <a:buFont typeface="Arial"/>
              <a:buChar char="•"/>
              <a:defRPr sz="1842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5567" algn="l" rtl="0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42"/>
              <a:buFont typeface="Arial"/>
              <a:buChar char="•"/>
              <a:defRPr sz="1842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71488" y="8475134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509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46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46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46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46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46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46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46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46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2271713" y="8475134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509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46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46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46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46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46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46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46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46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4843463" y="8475134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509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509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509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509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509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509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509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509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509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CA" smtClean="0"/>
              <a:pPr/>
              <a:t>‹#›</a:t>
            </a:fld>
            <a:endParaRPr lang="en-CA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5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5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5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5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5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5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5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5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5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5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5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5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5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5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5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5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5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5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5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5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5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5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5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5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5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5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58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C383F4E-82EE-4026-4581-BB6D78E049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4972" y="208343"/>
            <a:ext cx="1823388" cy="156290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3504FB4-106E-BC82-E040-2FAC001593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3578" y="43241"/>
            <a:ext cx="2024944" cy="3370936"/>
          </a:xfrm>
          <a:prstGeom prst="rect">
            <a:avLst/>
          </a:prstGeom>
        </p:spPr>
      </p:pic>
      <p:sp>
        <p:nvSpPr>
          <p:cNvPr id="8" name="Google Shape;90;p1">
            <a:extLst>
              <a:ext uri="{FF2B5EF4-FFF2-40B4-BE49-F238E27FC236}">
                <a16:creationId xmlns:a16="http://schemas.microsoft.com/office/drawing/2014/main" id="{51B8AC2F-3FD5-4E93-941C-FBD70EB6B55F}"/>
              </a:ext>
            </a:extLst>
          </p:cNvPr>
          <p:cNvSpPr txBox="1"/>
          <p:nvPr/>
        </p:nvSpPr>
        <p:spPr>
          <a:xfrm>
            <a:off x="2225009" y="2201"/>
            <a:ext cx="815546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2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  <a:endParaRPr sz="1200" b="1" dirty="0"/>
          </a:p>
        </p:txBody>
      </p:sp>
      <p:sp>
        <p:nvSpPr>
          <p:cNvPr id="10" name="Google Shape;91;p1">
            <a:extLst>
              <a:ext uri="{FF2B5EF4-FFF2-40B4-BE49-F238E27FC236}">
                <a16:creationId xmlns:a16="http://schemas.microsoft.com/office/drawing/2014/main" id="{61B01E8B-4C87-B8A7-227C-36E2D2D97A5A}"/>
              </a:ext>
            </a:extLst>
          </p:cNvPr>
          <p:cNvSpPr txBox="1"/>
          <p:nvPr/>
        </p:nvSpPr>
        <p:spPr>
          <a:xfrm>
            <a:off x="4198360" y="-16171"/>
            <a:ext cx="815546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200" b="1" dirty="0">
                <a:solidFill>
                  <a:schemeClr val="dk1"/>
                </a:solidFill>
              </a:rPr>
              <a:t>c</a:t>
            </a:r>
            <a:endParaRPr sz="1200" b="1" dirty="0"/>
          </a:p>
        </p:txBody>
      </p:sp>
      <p:sp>
        <p:nvSpPr>
          <p:cNvPr id="14" name="Google Shape;92;p1">
            <a:extLst>
              <a:ext uri="{FF2B5EF4-FFF2-40B4-BE49-F238E27FC236}">
                <a16:creationId xmlns:a16="http://schemas.microsoft.com/office/drawing/2014/main" id="{92B8B93A-6656-8E21-3F20-7053E5EDCD7F}"/>
              </a:ext>
            </a:extLst>
          </p:cNvPr>
          <p:cNvSpPr txBox="1"/>
          <p:nvPr/>
        </p:nvSpPr>
        <p:spPr>
          <a:xfrm>
            <a:off x="30996" y="2201"/>
            <a:ext cx="815546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  <a:endParaRPr sz="1200" b="1" dirty="0"/>
          </a:p>
        </p:txBody>
      </p:sp>
      <p:sp>
        <p:nvSpPr>
          <p:cNvPr id="15" name="Google Shape;103;p1">
            <a:extLst>
              <a:ext uri="{FF2B5EF4-FFF2-40B4-BE49-F238E27FC236}">
                <a16:creationId xmlns:a16="http://schemas.microsoft.com/office/drawing/2014/main" id="{4A86B9F1-B0DE-C267-FEC6-76C0AE25A302}"/>
              </a:ext>
            </a:extLst>
          </p:cNvPr>
          <p:cNvSpPr txBox="1"/>
          <p:nvPr/>
        </p:nvSpPr>
        <p:spPr>
          <a:xfrm>
            <a:off x="4262755" y="1741755"/>
            <a:ext cx="815546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200" b="1" dirty="0">
                <a:solidFill>
                  <a:schemeClr val="dk1"/>
                </a:solidFill>
              </a:rPr>
              <a:t>e</a:t>
            </a:r>
            <a:endParaRPr sz="1200" b="1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90282F68-1768-1088-EF23-8AC94EC9CF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0088" y="24259"/>
            <a:ext cx="1975338" cy="1562904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34C6A910-5E28-C73D-011D-B7DD4662019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34749" y="2018714"/>
            <a:ext cx="1975339" cy="1580272"/>
          </a:xfrm>
          <a:prstGeom prst="rect">
            <a:avLst/>
          </a:prstGeom>
        </p:spPr>
      </p:pic>
      <p:sp>
        <p:nvSpPr>
          <p:cNvPr id="16" name="Google Shape;103;p1">
            <a:extLst>
              <a:ext uri="{FF2B5EF4-FFF2-40B4-BE49-F238E27FC236}">
                <a16:creationId xmlns:a16="http://schemas.microsoft.com/office/drawing/2014/main" id="{DD32B8EE-40E7-7449-E188-E5CDB0209A42}"/>
              </a:ext>
            </a:extLst>
          </p:cNvPr>
          <p:cNvSpPr txBox="1"/>
          <p:nvPr/>
        </p:nvSpPr>
        <p:spPr>
          <a:xfrm>
            <a:off x="2208522" y="1745712"/>
            <a:ext cx="815546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  <a:endParaRPr sz="1200" b="1" dirty="0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3A182DFD-3C09-F84C-6454-878DCA8F5E8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20747" y="1842523"/>
            <a:ext cx="2243178" cy="163140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DE53C61-A5CB-8D45-98D9-473226B45D20}"/>
              </a:ext>
            </a:extLst>
          </p:cNvPr>
          <p:cNvSpPr txBox="1"/>
          <p:nvPr/>
        </p:nvSpPr>
        <p:spPr>
          <a:xfrm>
            <a:off x="30996" y="4057650"/>
            <a:ext cx="6827004" cy="23544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050" b="1" dirty="0"/>
              <a:t>Figure 4</a:t>
            </a:r>
            <a:r>
              <a:rPr lang="en-CA" sz="1050" dirty="0"/>
              <a:t>. Cross-platform validation of </a:t>
            </a:r>
            <a:r>
              <a:rPr lang="en-CA" sz="1050" dirty="0" err="1"/>
              <a:t>NeST</a:t>
            </a:r>
            <a:r>
              <a:rPr lang="en-CA" sz="1050" dirty="0"/>
              <a:t>-VNN on independent PDX cohorts.</a:t>
            </a:r>
          </a:p>
          <a:p>
            <a:r>
              <a:rPr lang="en-CA" sz="1050" dirty="0"/>
              <a:t>(a) Case study three workflow: drug-response, mutation, and copy-number data from the McGill (cisplatin, n = 29) and UHN (carboplatin; complete cohort n = 68, replicate-supported "strict" cohort n = 36) breast PDX cohorts are used as external input to a cell-line-pretrained </a:t>
            </a:r>
            <a:r>
              <a:rPr lang="en-CA" sz="1050" dirty="0" err="1"/>
              <a:t>NeST</a:t>
            </a:r>
            <a:r>
              <a:rPr lang="en-CA" sz="1050" dirty="0"/>
              <a:t>-VNN ensemble, validated against a growth-curve response label. (b) Number of models with exactly one versus two or more treatment-arm replicate mice, for each cohort/cohort definition. (c) Fraction of the 718-gene </a:t>
            </a:r>
            <a:r>
              <a:rPr lang="en-CA" sz="1050" dirty="0" err="1"/>
              <a:t>NeST</a:t>
            </a:r>
            <a:r>
              <a:rPr lang="en-CA" sz="1050" dirty="0"/>
              <a:t>-VNN input panel with recorded mutation and copy-number (CNV) calls in each cohort's raw molecular profiles. (d) Bootstrap 95% confidence intervals for </a:t>
            </a:r>
            <a:r>
              <a:rPr lang="en-CA" sz="1050" dirty="0" err="1"/>
              <a:t>NeST</a:t>
            </a:r>
            <a:r>
              <a:rPr lang="en-CA" sz="1050" dirty="0"/>
              <a:t>-VNN's AUROC under the capped (28 day window, primary) and uncapped (full observed duration) response-label definitions, for each of the three cohort definitions; dashed line, chance performance. (e) </a:t>
            </a:r>
            <a:r>
              <a:rPr lang="en-CA" sz="1050" dirty="0" err="1"/>
              <a:t>NeST</a:t>
            </a:r>
            <a:r>
              <a:rPr lang="en-CA" sz="1050" dirty="0"/>
              <a:t>-VNN performance across alternative response definitions. AUROC was evaluated across cohort-specific treatment-arm slope percentile cutoffs, with models below each cutoff classified as sensitive. Lines represent the McGill cisplatin, UHN carboplatin complete and UHN carboplatin strict cohorts, shaded regions indicate bootstrap 95% confidence intervals, and the dotted line indicates chance performance (AUROC = 0.5).</a:t>
            </a:r>
            <a:br>
              <a:rPr lang="en-CA" sz="1050" dirty="0"/>
            </a:b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7627</TotalTime>
  <Words>433</Words>
  <Application>Microsoft Macintosh PowerPoint</Application>
  <PresentationFormat>Letter Paper (8.5x11 in)</PresentationFormat>
  <Paragraphs>9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Play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Feng, Guanqiao</dc:creator>
  <cp:lastModifiedBy>Feng, Guanqiao</cp:lastModifiedBy>
  <cp:revision>29</cp:revision>
  <dcterms:created xsi:type="dcterms:W3CDTF">2026-03-16T14:13:34Z</dcterms:created>
  <dcterms:modified xsi:type="dcterms:W3CDTF">2026-09-04T20:02:15Z</dcterms:modified>
</cp:coreProperties>
</file>