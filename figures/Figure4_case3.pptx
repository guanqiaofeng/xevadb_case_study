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</p:sldIdLst>
  <p:sldSz cy="7019925" cx="16559200"/>
  <p:notesSz cx="6858000" cy="9144000"/>
  <p:embeddedFontLst>
    <p:embeddedFont>
      <p:font typeface="Play"/>
      <p:regular r:id="rId6"/>
      <p:bold r:id="rId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8" roundtripDataSignature="AMtx7mi553m8NdOJu3RJVRvvSDH2Dnf3K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font" Target="fonts/Play-regular.fntdata"/><Relationship Id="rId7" Type="http://schemas.openxmlformats.org/officeDocument/2006/relationships/font" Target="fonts/Play-bold.fntdata"/><Relationship Id="rId8" Type="http://customschemas.google.com/relationships/presentationmetadata" Target="meta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-209550" y="1143000"/>
            <a:ext cx="72771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CA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/>
          <p:nvPr>
            <p:ph idx="2" type="sldImg"/>
          </p:nvPr>
        </p:nvSpPr>
        <p:spPr>
          <a:xfrm>
            <a:off x="-209550" y="1143000"/>
            <a:ext cx="72771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CA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Figure 2. Systematic evaluation of NeST-VNN model generalizability and performance.</a:t>
            </a:r>
            <a:r>
              <a:rPr lang="en-CA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lang="en-CA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a.</a:t>
            </a:r>
            <a:r>
              <a:rPr lang="en-CA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Case study workflow. </a:t>
            </a:r>
            <a:r>
              <a:rPr b="1" lang="en-CA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b.</a:t>
            </a:r>
            <a:r>
              <a:rPr lang="en-CA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Oncoplot illustrating the mutational landscape of the University Health Network (UHN) carboplatin and McGill cisplatin datasets. </a:t>
            </a:r>
            <a:r>
              <a:rPr b="1" lang="en-CA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c.</a:t>
            </a:r>
            <a:r>
              <a:rPr lang="en-CA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Distribution of drug responses across both cohorts based on modified Response Evaluation Criteria in Solid Tumors (mRECIST). CR, complete response; PR, partial response; SD, stable disease; PD, progressive disease. </a:t>
            </a:r>
            <a:r>
              <a:rPr b="1" lang="en-CA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d.</a:t>
            </a:r>
            <a:r>
              <a:rPr lang="en-CA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Density comparison of 718 NeST-VNN features between datasets. Statistical significance was determined using a two-sided Mann–Whitney U test. **** p &lt; 0.0001; *** p &lt; 0.001; ** p &lt; 0.01; * p &lt; 0.05; ns, not significant. </a:t>
            </a:r>
            <a:r>
              <a:rPr b="1" lang="en-CA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</a:t>
            </a:r>
            <a:r>
              <a:rPr lang="en-CA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Model transferability. Bar plot summarizing the mean Area Under the Receiver Operating Characteristic Curve (AUC) across fivefold cross-validation, demonstrating model robustness across institutional cohorts. </a:t>
            </a:r>
            <a:r>
              <a:rPr b="1" lang="en-CA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f. </a:t>
            </a:r>
            <a:r>
              <a:rPr lang="en-CA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NeST-VNN model performance. Receiver Operating Characteristic (ROC) curves and corresponding ensemble AUC values for the UHN carboplatin and McGill cisplatin validation sets. </a:t>
            </a:r>
            <a:endParaRPr/>
          </a:p>
        </p:txBody>
      </p:sp>
      <p:sp>
        <p:nvSpPr>
          <p:cNvPr id="87" name="Google Shape;87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2069902" y="1148863"/>
            <a:ext cx="12419410" cy="24439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142"/>
              <a:buFont typeface="Play"/>
              <a:buNone/>
              <a:defRPr sz="6142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2069902" y="3687086"/>
            <a:ext cx="12419410" cy="16948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2457"/>
              <a:buNone/>
              <a:defRPr sz="2457"/>
            </a:lvl1pPr>
            <a:lvl2pPr lvl="1" algn="ctr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047"/>
              <a:buNone/>
              <a:defRPr sz="2047"/>
            </a:lvl2pPr>
            <a:lvl3pPr lvl="2" algn="ctr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None/>
              <a:defRPr sz="1842"/>
            </a:lvl3pPr>
            <a:lvl4pPr lvl="3" algn="ctr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/>
            </a:lvl4pPr>
            <a:lvl5pPr lvl="4" algn="ctr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/>
            </a:lvl5pPr>
            <a:lvl6pPr lvl="5" algn="ctr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/>
            </a:lvl6pPr>
            <a:lvl7pPr lvl="6" algn="ctr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/>
            </a:lvl7pPr>
            <a:lvl8pPr lvl="7" algn="ctr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/>
            </a:lvl8pPr>
            <a:lvl9pPr lvl="8" algn="ctr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/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1138446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5485240" y="6506431"/>
            <a:ext cx="5588734" cy="373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11694944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1138446" y="373747"/>
            <a:ext cx="14282321" cy="1356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1138446" y="1868730"/>
            <a:ext cx="14282321" cy="44540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1138446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5485240" y="6506431"/>
            <a:ext cx="5588734" cy="373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11694944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1129821" y="1750107"/>
            <a:ext cx="14282321" cy="292009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142"/>
              <a:buFont typeface="Play"/>
              <a:buNone/>
              <a:defRPr sz="6142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1129821" y="4697826"/>
            <a:ext cx="14282321" cy="1535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rgbClr val="757575"/>
              </a:buClr>
              <a:buSzPts val="2457"/>
              <a:buNone/>
              <a:defRPr sz="2457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rgbClr val="757575"/>
              </a:buClr>
              <a:buSzPts val="2047"/>
              <a:buNone/>
              <a:defRPr sz="2047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rgbClr val="757575"/>
              </a:buClr>
              <a:buSzPts val="1842"/>
              <a:buNone/>
              <a:defRPr sz="1842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rgbClr val="757575"/>
              </a:buClr>
              <a:buSzPts val="1638"/>
              <a:buNone/>
              <a:defRPr sz="1638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rgbClr val="757575"/>
              </a:buClr>
              <a:buSzPts val="1638"/>
              <a:buNone/>
              <a:defRPr sz="1638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rgbClr val="757575"/>
              </a:buClr>
              <a:buSzPts val="1638"/>
              <a:buNone/>
              <a:defRPr sz="1638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rgbClr val="757575"/>
              </a:buClr>
              <a:buSzPts val="1638"/>
              <a:buNone/>
              <a:defRPr sz="1638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rgbClr val="757575"/>
              </a:buClr>
              <a:buSzPts val="1638"/>
              <a:buNone/>
              <a:defRPr sz="1638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rgbClr val="757575"/>
              </a:buClr>
              <a:buSzPts val="1638"/>
              <a:buNone/>
              <a:defRPr sz="1638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1138446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5485240" y="6506431"/>
            <a:ext cx="5588734" cy="373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11694944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1138446" y="373747"/>
            <a:ext cx="14282321" cy="1356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1138446" y="1868730"/>
            <a:ext cx="7037666" cy="44540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8383101" y="1868730"/>
            <a:ext cx="7037666" cy="44540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1138446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5485240" y="6506431"/>
            <a:ext cx="5588734" cy="373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11694944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1140603" y="373747"/>
            <a:ext cx="14282321" cy="1356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1140603" y="1720857"/>
            <a:ext cx="7005323" cy="84336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2457"/>
              <a:buNone/>
              <a:defRPr b="1" sz="2457"/>
            </a:lvl1pPr>
            <a:lvl2pPr indent="-228600" lvl="1" marL="9144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047"/>
              <a:buNone/>
              <a:defRPr b="1" sz="2047"/>
            </a:lvl2pPr>
            <a:lvl3pPr indent="-228600" lvl="2" marL="1371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None/>
              <a:defRPr b="1" sz="1842"/>
            </a:lvl3pPr>
            <a:lvl4pPr indent="-228600" lvl="3" marL="18288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b="1" sz="1638"/>
            </a:lvl4pPr>
            <a:lvl5pPr indent="-228600" lvl="4" marL="22860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b="1" sz="1638"/>
            </a:lvl5pPr>
            <a:lvl6pPr indent="-228600" lvl="5" marL="27432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b="1" sz="1638"/>
            </a:lvl6pPr>
            <a:lvl7pPr indent="-228600" lvl="6" marL="32004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b="1" sz="1638"/>
            </a:lvl7pPr>
            <a:lvl8pPr indent="-228600" lvl="7" marL="3657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b="1" sz="1638"/>
            </a:lvl8pPr>
            <a:lvl9pPr indent="-228600" lvl="8" marL="41148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b="1" sz="1638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1140603" y="2564223"/>
            <a:ext cx="7005323" cy="37715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8383102" y="1720857"/>
            <a:ext cx="7039822" cy="84336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2457"/>
              <a:buNone/>
              <a:defRPr b="1" sz="2457"/>
            </a:lvl1pPr>
            <a:lvl2pPr indent="-228600" lvl="1" marL="9144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047"/>
              <a:buNone/>
              <a:defRPr b="1" sz="2047"/>
            </a:lvl2pPr>
            <a:lvl3pPr indent="-228600" lvl="2" marL="1371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None/>
              <a:defRPr b="1" sz="1842"/>
            </a:lvl3pPr>
            <a:lvl4pPr indent="-228600" lvl="3" marL="18288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b="1" sz="1638"/>
            </a:lvl4pPr>
            <a:lvl5pPr indent="-228600" lvl="4" marL="22860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b="1" sz="1638"/>
            </a:lvl5pPr>
            <a:lvl6pPr indent="-228600" lvl="5" marL="27432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b="1" sz="1638"/>
            </a:lvl6pPr>
            <a:lvl7pPr indent="-228600" lvl="6" marL="32004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b="1" sz="1638"/>
            </a:lvl7pPr>
            <a:lvl8pPr indent="-228600" lvl="7" marL="3657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b="1" sz="1638"/>
            </a:lvl8pPr>
            <a:lvl9pPr indent="-228600" lvl="8" marL="41148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b="1" sz="1638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8383102" y="2564223"/>
            <a:ext cx="7039822" cy="37715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1138446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5485240" y="6506431"/>
            <a:ext cx="5588734" cy="373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11694944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1138446" y="373747"/>
            <a:ext cx="14282321" cy="1356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1138446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5485240" y="6506431"/>
            <a:ext cx="5588734" cy="373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11694944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idx="10" type="dt"/>
          </p:nvPr>
        </p:nvSpPr>
        <p:spPr>
          <a:xfrm>
            <a:off x="1138446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1" type="ftr"/>
          </p:nvPr>
        </p:nvSpPr>
        <p:spPr>
          <a:xfrm>
            <a:off x="5485240" y="6506431"/>
            <a:ext cx="5588734" cy="373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9"/>
          <p:cNvSpPr txBox="1"/>
          <p:nvPr>
            <p:ph idx="12" type="sldNum"/>
          </p:nvPr>
        </p:nvSpPr>
        <p:spPr>
          <a:xfrm>
            <a:off x="11694944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/>
          <p:nvPr>
            <p:ph type="title"/>
          </p:nvPr>
        </p:nvSpPr>
        <p:spPr>
          <a:xfrm>
            <a:off x="1140603" y="467995"/>
            <a:ext cx="5340777" cy="163798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76"/>
              <a:buFont typeface="Play"/>
              <a:buNone/>
              <a:defRPr sz="3276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0"/>
          <p:cNvSpPr txBox="1"/>
          <p:nvPr>
            <p:ph idx="1" type="body"/>
          </p:nvPr>
        </p:nvSpPr>
        <p:spPr>
          <a:xfrm>
            <a:off x="7039822" y="1010740"/>
            <a:ext cx="8383102" cy="49886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6626" lvl="0" marL="457200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3276"/>
              <a:buChar char="•"/>
              <a:defRPr sz="3276"/>
            </a:lvl1pPr>
            <a:lvl2pPr indent="-410591" lvl="1" marL="9144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866"/>
              <a:buChar char="•"/>
              <a:defRPr sz="2866"/>
            </a:lvl2pPr>
            <a:lvl3pPr indent="-384620" lvl="2" marL="1371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457"/>
              <a:buChar char="•"/>
              <a:defRPr sz="2457"/>
            </a:lvl3pPr>
            <a:lvl4pPr indent="-358585" lvl="3" marL="18288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047"/>
              <a:buChar char="•"/>
              <a:defRPr sz="2047"/>
            </a:lvl4pPr>
            <a:lvl5pPr indent="-358585" lvl="4" marL="22860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047"/>
              <a:buChar char="•"/>
              <a:defRPr sz="2047"/>
            </a:lvl5pPr>
            <a:lvl6pPr indent="-358585" lvl="5" marL="27432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047"/>
              <a:buChar char="•"/>
              <a:defRPr sz="2047"/>
            </a:lvl6pPr>
            <a:lvl7pPr indent="-358585" lvl="6" marL="32004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047"/>
              <a:buChar char="•"/>
              <a:defRPr sz="2047"/>
            </a:lvl7pPr>
            <a:lvl8pPr indent="-358584" lvl="7" marL="3657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047"/>
              <a:buChar char="•"/>
              <a:defRPr sz="2047"/>
            </a:lvl8pPr>
            <a:lvl9pPr indent="-358584" lvl="8" marL="41148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047"/>
              <a:buChar char="•"/>
              <a:defRPr sz="2047"/>
            </a:lvl9pPr>
          </a:lstStyle>
          <a:p/>
        </p:txBody>
      </p:sp>
      <p:sp>
        <p:nvSpPr>
          <p:cNvPr id="61" name="Google Shape;61;p10"/>
          <p:cNvSpPr txBox="1"/>
          <p:nvPr>
            <p:ph idx="2" type="body"/>
          </p:nvPr>
        </p:nvSpPr>
        <p:spPr>
          <a:xfrm>
            <a:off x="1140603" y="2105977"/>
            <a:ext cx="5340777" cy="39015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/>
            </a:lvl1pPr>
            <a:lvl2pPr indent="-228600" lvl="1" marL="9144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433"/>
              <a:buNone/>
              <a:defRPr sz="1433"/>
            </a:lvl2pPr>
            <a:lvl3pPr indent="-228600" lvl="2" marL="1371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228"/>
              <a:buNone/>
              <a:defRPr sz="1228"/>
            </a:lvl3pPr>
            <a:lvl4pPr indent="-228600" lvl="3" marL="18288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024"/>
            </a:lvl4pPr>
            <a:lvl5pPr indent="-228600" lvl="4" marL="22860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024"/>
            </a:lvl5pPr>
            <a:lvl6pPr indent="-228600" lvl="5" marL="27432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024"/>
            </a:lvl6pPr>
            <a:lvl7pPr indent="-228600" lvl="6" marL="32004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024"/>
            </a:lvl7pPr>
            <a:lvl8pPr indent="-228600" lvl="7" marL="3657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024"/>
            </a:lvl8pPr>
            <a:lvl9pPr indent="-228600" lvl="8" marL="41148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024"/>
            </a:lvl9pPr>
          </a:lstStyle>
          <a:p/>
        </p:txBody>
      </p:sp>
      <p:sp>
        <p:nvSpPr>
          <p:cNvPr id="62" name="Google Shape;62;p10"/>
          <p:cNvSpPr txBox="1"/>
          <p:nvPr>
            <p:ph idx="10" type="dt"/>
          </p:nvPr>
        </p:nvSpPr>
        <p:spPr>
          <a:xfrm>
            <a:off x="1138446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 txBox="1"/>
          <p:nvPr>
            <p:ph idx="11" type="ftr"/>
          </p:nvPr>
        </p:nvSpPr>
        <p:spPr>
          <a:xfrm>
            <a:off x="5485240" y="6506431"/>
            <a:ext cx="5588734" cy="373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0"/>
          <p:cNvSpPr txBox="1"/>
          <p:nvPr>
            <p:ph idx="12" type="sldNum"/>
          </p:nvPr>
        </p:nvSpPr>
        <p:spPr>
          <a:xfrm>
            <a:off x="11694944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/>
          <p:nvPr>
            <p:ph type="title"/>
          </p:nvPr>
        </p:nvSpPr>
        <p:spPr>
          <a:xfrm>
            <a:off x="1140603" y="467995"/>
            <a:ext cx="5340777" cy="163798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76"/>
              <a:buFont typeface="Play"/>
              <a:buNone/>
              <a:defRPr sz="3276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1"/>
          <p:cNvSpPr/>
          <p:nvPr>
            <p:ph idx="2" type="pic"/>
          </p:nvPr>
        </p:nvSpPr>
        <p:spPr>
          <a:xfrm>
            <a:off x="7039822" y="1010740"/>
            <a:ext cx="8383102" cy="4988697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1"/>
          <p:cNvSpPr txBox="1"/>
          <p:nvPr>
            <p:ph idx="1" type="body"/>
          </p:nvPr>
        </p:nvSpPr>
        <p:spPr>
          <a:xfrm>
            <a:off x="1140603" y="2105977"/>
            <a:ext cx="5340777" cy="39015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/>
            </a:lvl1pPr>
            <a:lvl2pPr indent="-228600" lvl="1" marL="9144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433"/>
              <a:buNone/>
              <a:defRPr sz="1433"/>
            </a:lvl2pPr>
            <a:lvl3pPr indent="-228600" lvl="2" marL="1371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228"/>
              <a:buNone/>
              <a:defRPr sz="1228"/>
            </a:lvl3pPr>
            <a:lvl4pPr indent="-228600" lvl="3" marL="18288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024"/>
            </a:lvl4pPr>
            <a:lvl5pPr indent="-228600" lvl="4" marL="22860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024"/>
            </a:lvl5pPr>
            <a:lvl6pPr indent="-228600" lvl="5" marL="27432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024"/>
            </a:lvl6pPr>
            <a:lvl7pPr indent="-228600" lvl="6" marL="32004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024"/>
            </a:lvl7pPr>
            <a:lvl8pPr indent="-228600" lvl="7" marL="3657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024"/>
            </a:lvl8pPr>
            <a:lvl9pPr indent="-228600" lvl="8" marL="41148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024"/>
            </a:lvl9pPr>
          </a:lstStyle>
          <a:p/>
        </p:txBody>
      </p:sp>
      <p:sp>
        <p:nvSpPr>
          <p:cNvPr id="69" name="Google Shape;69;p11"/>
          <p:cNvSpPr txBox="1"/>
          <p:nvPr>
            <p:ph idx="10" type="dt"/>
          </p:nvPr>
        </p:nvSpPr>
        <p:spPr>
          <a:xfrm>
            <a:off x="1138446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1" type="ftr"/>
          </p:nvPr>
        </p:nvSpPr>
        <p:spPr>
          <a:xfrm>
            <a:off x="5485240" y="6506431"/>
            <a:ext cx="5588734" cy="373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2" type="sldNum"/>
          </p:nvPr>
        </p:nvSpPr>
        <p:spPr>
          <a:xfrm>
            <a:off x="11694944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/>
          <p:nvPr>
            <p:ph type="title"/>
          </p:nvPr>
        </p:nvSpPr>
        <p:spPr>
          <a:xfrm>
            <a:off x="1138446" y="373747"/>
            <a:ext cx="14282321" cy="1356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2"/>
          <p:cNvSpPr txBox="1"/>
          <p:nvPr>
            <p:ph idx="1" type="body"/>
          </p:nvPr>
        </p:nvSpPr>
        <p:spPr>
          <a:xfrm rot="5400000">
            <a:off x="6052567" y="-3045391"/>
            <a:ext cx="4454078" cy="142823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2"/>
          <p:cNvSpPr txBox="1"/>
          <p:nvPr>
            <p:ph idx="10" type="dt"/>
          </p:nvPr>
        </p:nvSpPr>
        <p:spPr>
          <a:xfrm>
            <a:off x="1138446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1" type="ftr"/>
          </p:nvPr>
        </p:nvSpPr>
        <p:spPr>
          <a:xfrm>
            <a:off x="5485240" y="6506431"/>
            <a:ext cx="5588734" cy="373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2" type="sldNum"/>
          </p:nvPr>
        </p:nvSpPr>
        <p:spPr>
          <a:xfrm>
            <a:off x="11694944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/>
          <p:nvPr>
            <p:ph type="title"/>
          </p:nvPr>
        </p:nvSpPr>
        <p:spPr>
          <a:xfrm rot="5400000">
            <a:off x="10660946" y="1562987"/>
            <a:ext cx="5949062" cy="35705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3"/>
          <p:cNvSpPr txBox="1"/>
          <p:nvPr>
            <p:ph idx="1" type="body"/>
          </p:nvPr>
        </p:nvSpPr>
        <p:spPr>
          <a:xfrm rot="5400000">
            <a:off x="3416291" y="-1904098"/>
            <a:ext cx="5949062" cy="105047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3"/>
          <p:cNvSpPr txBox="1"/>
          <p:nvPr>
            <p:ph idx="10" type="dt"/>
          </p:nvPr>
        </p:nvSpPr>
        <p:spPr>
          <a:xfrm>
            <a:off x="1138446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3"/>
          <p:cNvSpPr txBox="1"/>
          <p:nvPr>
            <p:ph idx="11" type="ftr"/>
          </p:nvPr>
        </p:nvSpPr>
        <p:spPr>
          <a:xfrm>
            <a:off x="5485240" y="6506431"/>
            <a:ext cx="5588734" cy="373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3"/>
          <p:cNvSpPr txBox="1"/>
          <p:nvPr>
            <p:ph idx="12" type="sldNum"/>
          </p:nvPr>
        </p:nvSpPr>
        <p:spPr>
          <a:xfrm>
            <a:off x="11694944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title"/>
          </p:nvPr>
        </p:nvSpPr>
        <p:spPr>
          <a:xfrm>
            <a:off x="1138446" y="373747"/>
            <a:ext cx="14282321" cy="1356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4"/>
              <a:buFont typeface="Play"/>
              <a:buNone/>
              <a:defRPr b="0" i="0" sz="4504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"/>
          <p:cNvSpPr txBox="1"/>
          <p:nvPr>
            <p:ph idx="1" type="body"/>
          </p:nvPr>
        </p:nvSpPr>
        <p:spPr>
          <a:xfrm>
            <a:off x="1138446" y="1868730"/>
            <a:ext cx="14282321" cy="44540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10591" lvl="0" marL="457200" marR="0" rtl="0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2866"/>
              <a:buFont typeface="Arial"/>
              <a:buChar char="•"/>
              <a:defRPr b="0" i="0" sz="28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4620" lvl="1" marL="914400" marR="0" rtl="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457"/>
              <a:buFont typeface="Arial"/>
              <a:buChar char="•"/>
              <a:defRPr b="0" i="0" sz="2457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8585" lvl="2" marL="1371600" marR="0" rtl="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047"/>
              <a:buFont typeface="Arial"/>
              <a:buChar char="•"/>
              <a:defRPr b="0" i="0" sz="2047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5567" lvl="3" marL="1828800" marR="0" rtl="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Font typeface="Arial"/>
              <a:buChar char="•"/>
              <a:defRPr b="0" i="0" sz="184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5567" lvl="4" marL="2286000" marR="0" rtl="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Font typeface="Arial"/>
              <a:buChar char="•"/>
              <a:defRPr b="0" i="0" sz="184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5567" lvl="5" marL="2743200" marR="0" rtl="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Font typeface="Arial"/>
              <a:buChar char="•"/>
              <a:defRPr b="0" i="0" sz="184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5567" lvl="6" marL="3200400" marR="0" rtl="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Font typeface="Arial"/>
              <a:buChar char="•"/>
              <a:defRPr b="0" i="0" sz="184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5567" lvl="7" marL="3657600" marR="0" rtl="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Font typeface="Arial"/>
              <a:buChar char="•"/>
              <a:defRPr b="0" i="0" sz="184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5567" lvl="8" marL="4114800" marR="0" rtl="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Font typeface="Arial"/>
              <a:buChar char="•"/>
              <a:defRPr b="0" i="0" sz="184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10" type="dt"/>
          </p:nvPr>
        </p:nvSpPr>
        <p:spPr>
          <a:xfrm>
            <a:off x="1138446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28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5485240" y="6506431"/>
            <a:ext cx="5588734" cy="373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28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11694944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28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28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28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28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28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28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28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28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28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9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3.png"/><Relationship Id="rId7" Type="http://schemas.openxmlformats.org/officeDocument/2006/relationships/image" Target="../media/image2.png"/><Relationship Id="rId8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1" title="xevadb_case2_figure_a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2395" y="433470"/>
            <a:ext cx="3155033" cy="4487158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 txBox="1"/>
          <p:nvPr/>
        </p:nvSpPr>
        <p:spPr>
          <a:xfrm>
            <a:off x="3881125" y="2201"/>
            <a:ext cx="815546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CA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b.</a:t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12327022" y="2201"/>
            <a:ext cx="815546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c.</a:t>
            </a:r>
            <a:endParaRPr/>
          </a:p>
        </p:txBody>
      </p:sp>
      <p:sp>
        <p:nvSpPr>
          <p:cNvPr id="92" name="Google Shape;92;p1"/>
          <p:cNvSpPr txBox="1"/>
          <p:nvPr/>
        </p:nvSpPr>
        <p:spPr>
          <a:xfrm>
            <a:off x="30996" y="2201"/>
            <a:ext cx="815546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a.</a:t>
            </a:r>
            <a:endParaRPr/>
          </a:p>
        </p:txBody>
      </p:sp>
      <p:pic>
        <p:nvPicPr>
          <p:cNvPr descr="A diagram of a network&#10;&#10;AI-generated content may be incorrect." id="93" name="Google Shape;93;p1"/>
          <p:cNvPicPr preferRelativeResize="0"/>
          <p:nvPr/>
        </p:nvPicPr>
        <p:blipFill rotWithShape="1">
          <a:blip r:embed="rId4">
            <a:alphaModFix/>
          </a:blip>
          <a:srcRect b="0" l="4866" r="0" t="0"/>
          <a:stretch/>
        </p:blipFill>
        <p:spPr>
          <a:xfrm>
            <a:off x="481267" y="5182917"/>
            <a:ext cx="3010571" cy="135203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4" name="Google Shape;94;p1"/>
          <p:cNvCxnSpPr/>
          <p:nvPr/>
        </p:nvCxnSpPr>
        <p:spPr>
          <a:xfrm rot="10800000">
            <a:off x="162948" y="5829300"/>
            <a:ext cx="216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95" name="Google Shape;95;p1"/>
          <p:cNvCxnSpPr/>
          <p:nvPr/>
        </p:nvCxnSpPr>
        <p:spPr>
          <a:xfrm rot="10800000">
            <a:off x="169617" y="3681969"/>
            <a:ext cx="0" cy="2147331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96" name="Google Shape;96;p1"/>
          <p:cNvCxnSpPr/>
          <p:nvPr/>
        </p:nvCxnSpPr>
        <p:spPr>
          <a:xfrm>
            <a:off x="162948" y="3681969"/>
            <a:ext cx="282088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97" name="Google Shape;97;p1"/>
          <p:cNvSpPr/>
          <p:nvPr/>
        </p:nvSpPr>
        <p:spPr>
          <a:xfrm>
            <a:off x="372196" y="5163490"/>
            <a:ext cx="3131601" cy="1404000"/>
          </a:xfrm>
          <a:prstGeom prst="roundRect">
            <a:avLst>
              <a:gd fmla="val 16667" name="adj"/>
            </a:avLst>
          </a:prstGeom>
          <a:noFill/>
          <a:ln cap="flat" cmpd="sng" w="1905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"/>
          <p:cNvSpPr txBox="1"/>
          <p:nvPr/>
        </p:nvSpPr>
        <p:spPr>
          <a:xfrm>
            <a:off x="1022888" y="6584719"/>
            <a:ext cx="151272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NeST-VNN Model </a:t>
            </a:r>
            <a:endParaRPr/>
          </a:p>
        </p:txBody>
      </p:sp>
      <p:sp>
        <p:nvSpPr>
          <p:cNvPr id="99" name="Google Shape;99;p1"/>
          <p:cNvSpPr txBox="1"/>
          <p:nvPr/>
        </p:nvSpPr>
        <p:spPr>
          <a:xfrm>
            <a:off x="9062738" y="3933474"/>
            <a:ext cx="815546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e.</a:t>
            </a:r>
            <a:endParaRPr/>
          </a:p>
        </p:txBody>
      </p:sp>
      <p:sp>
        <p:nvSpPr>
          <p:cNvPr id="100" name="Google Shape;100;p1"/>
          <p:cNvSpPr txBox="1"/>
          <p:nvPr/>
        </p:nvSpPr>
        <p:spPr>
          <a:xfrm>
            <a:off x="12430166" y="3933474"/>
            <a:ext cx="815546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f.</a:t>
            </a:r>
            <a:endParaRPr/>
          </a:p>
        </p:txBody>
      </p:sp>
      <p:pic>
        <p:nvPicPr>
          <p:cNvPr descr="A graph of a drug response distribution&#10;&#10;AI-generated content may be incorrect." id="101" name="Google Shape;101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2604036" y="371533"/>
            <a:ext cx="3867859" cy="309428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graph of different colored shapes&#10;&#10;AI-generated content may be incorrect." id="102" name="Google Shape;102;p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103091" y="4059323"/>
            <a:ext cx="4141761" cy="2958401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"/>
          <p:cNvSpPr txBox="1"/>
          <p:nvPr/>
        </p:nvSpPr>
        <p:spPr>
          <a:xfrm>
            <a:off x="3881125" y="3933474"/>
            <a:ext cx="815546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d.</a:t>
            </a:r>
            <a:endParaRPr/>
          </a:p>
        </p:txBody>
      </p:sp>
      <p:pic>
        <p:nvPicPr>
          <p:cNvPr id="104" name="Google Shape;104;p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3104813" y="3939402"/>
            <a:ext cx="3454400" cy="304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graph of a number of bars&#10;&#10;AI-generated content may be incorrect." id="105" name="Google Shape;105;p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549067" y="4059322"/>
            <a:ext cx="2928079" cy="29280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4216738" y="228200"/>
            <a:ext cx="7667973" cy="33809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2026-03-16T14:13:34Z</dcterms:created>
  <dc:creator>Feng, Guanqiao</dc:creator>
</cp:coreProperties>
</file>